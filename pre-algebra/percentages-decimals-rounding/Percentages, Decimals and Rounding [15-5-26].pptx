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A2445-C737-28CE-7927-733749F61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AE3E511-2A78-E49A-F88E-136370FD7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49A233-173E-08B7-9E6A-00B6A2BC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983FC2-BCEC-ADEE-AD74-4841D54F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56D15F-BD59-16BC-0C04-BBA760E1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ACF94-E545-9010-240E-F3FADA99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C1912A-F5FA-509B-1A65-5CEBE51C4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FB85B2E-209B-197D-1A91-DCCAAB48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B1E33-70CD-F5B0-267D-E8111C38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29CE6B-F5C1-9100-372B-B2D7E68D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0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0C658-B3EE-B651-4896-0BF6A48B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9613AD-2175-FA1E-25AB-669CD8654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64B6246-50F9-38F5-4CAC-CC9F6452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E51764-86F4-89B4-4ADB-53886CA5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D14C8F-9494-C767-7861-DCDE80AC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382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6AF48-51ED-EDDB-A6D4-ED9DC716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F09F92-4C7A-5AFC-01EB-024274C7A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5CA88E-0A1D-8A3C-CE62-CA27350E7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24B3937-0F8F-645A-F4E9-5B5E46C1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6024E8-8597-D116-28D3-7577A98B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096967-C8A3-E861-451A-88AD65BE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82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959703-A378-3A61-A33E-17641199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D11C19B-3206-F46B-FEA7-FBD599D9E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8A178A-FFDA-EA05-E085-7BF666451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56B1C66-EC97-640E-2E74-964C5A4FC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444727E-2D5B-FB23-D058-0E9DB481C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E68498F-CA3E-9F90-600E-D439DC70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748DBAA-1B90-F4A2-34E2-DADBF516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F0F9B7B-4043-FB1D-0F11-484C4BFE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256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44D08-1CCD-F433-2AFB-B0A64ABF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11B7DF1-EBAF-B974-BE68-C0F99190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E19BF20-4223-E941-FCAD-8460A486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0F627D-0ED9-DE15-94FD-7C0BC080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39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5ECA41B-FCC5-BF67-2DD6-C3AB5999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4349B1C-033A-3DDF-AE3C-518D3B8C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E4A3662-C4E7-ED3F-7002-F1458CC5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041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BD444-3514-2CB8-8519-3DF312AC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FEEA45-8268-0F83-43BF-FE2071F31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342FCA4-408A-A2FC-656A-D5EBF3A21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546CB0A-2E9D-9B31-C71B-3A5F8456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2E36976-63A9-CC89-A993-21120E38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11A4712-CCFD-40FF-1852-7475A88C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426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11B96-5940-9A39-DC16-AF66F6EC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F1A13ED-36D1-68D6-C8D7-B4A9C0D7B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446C53-A107-3664-50F7-06D5E9721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D52D88C-3400-BE22-B162-01734E6B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F48A12F-2FFB-F1AC-FF1D-6DAAF764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81D3E6A-B314-7B49-C903-5AE02790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362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15770-B75E-76B1-CB59-1E3896F2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EF6E5AC-E07B-80F6-823A-02FF27256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F9B3B3-6A5B-24D0-EDC1-FB2099FE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8DB509-D29F-7CDA-D271-801E9FC3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BC9586-69E4-7FBD-10BC-F6F02146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39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7E85E6E-AC78-0D7F-33F8-109CBBDB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814E0F5-FCA7-A07F-E674-B848C2239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607088A-D4A7-A529-EAED-F11A9341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02843F-40DC-198F-26F9-B7EDFD8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7F19E6-A5E7-8282-30A4-E75F0BF5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966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008ACA7-FD22-28AF-DDF1-01DB97E0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17BFC9-D408-CA14-D3DB-AB4D8ACB1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2C2CE5-4F28-D0FB-61D0-F07EF2109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94D12-F1AB-4EC7-9405-E4851B3C84AD}" type="datetimeFigureOut">
              <a:rPr lang="nl-NL" smtClean="0"/>
              <a:t>30-7-2026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B10EC7-1E50-ED44-36B3-C6FBEBC60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6E29BC-3453-D848-74CE-FA1A41F6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9575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A2B0F-8B62-4394-4789-FE6442D9F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Percentages, </a:t>
            </a:r>
            <a:r>
              <a:rPr lang="nl-NL" dirty="0" err="1"/>
              <a:t>Decimals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Rounding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0988985-31F5-7E15-AF60-15188CB2D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846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8)">
            <a:extLst>
              <a:ext uri="{FF2B5EF4-FFF2-40B4-BE49-F238E27FC236}">
                <a16:creationId xmlns:a16="http://schemas.microsoft.com/office/drawing/2014/main" id="{0FBE5A28-BB11-40E6-C657-87BCC87C67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2788"/>
            <a:ext cx="12192000" cy="543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8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9)1">
            <a:extLst>
              <a:ext uri="{FF2B5EF4-FFF2-40B4-BE49-F238E27FC236}">
                <a16:creationId xmlns:a16="http://schemas.microsoft.com/office/drawing/2014/main" id="{95F0D316-D62B-9EE3-B081-3A7AF983F8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2488"/>
            <a:ext cx="121920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9)2">
            <a:extLst>
              <a:ext uri="{FF2B5EF4-FFF2-40B4-BE49-F238E27FC236}">
                <a16:creationId xmlns:a16="http://schemas.microsoft.com/office/drawing/2014/main" id="{44D88F16-0ACB-46A3-FA2F-419CB02DE76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238"/>
            <a:ext cx="121920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5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0)">
            <a:extLst>
              <a:ext uri="{FF2B5EF4-FFF2-40B4-BE49-F238E27FC236}">
                <a16:creationId xmlns:a16="http://schemas.microsoft.com/office/drawing/2014/main" id="{E77DFC11-36CF-9955-8107-3CE3CE9DA9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0"/>
            <a:ext cx="11906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7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1)">
            <a:extLst>
              <a:ext uri="{FF2B5EF4-FFF2-40B4-BE49-F238E27FC236}">
                <a16:creationId xmlns:a16="http://schemas.microsoft.com/office/drawing/2014/main" id="{F7F2464E-F61E-0BF7-5D15-935BB7D7ED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13"/>
            <a:ext cx="12192000" cy="66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2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2)">
            <a:extLst>
              <a:ext uri="{FF2B5EF4-FFF2-40B4-BE49-F238E27FC236}">
                <a16:creationId xmlns:a16="http://schemas.microsoft.com/office/drawing/2014/main" id="{BDF52282-9864-7E2F-39FE-AEF52184AF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5788"/>
            <a:ext cx="12192000" cy="31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4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3)">
            <a:extLst>
              <a:ext uri="{FF2B5EF4-FFF2-40B4-BE49-F238E27FC236}">
                <a16:creationId xmlns:a16="http://schemas.microsoft.com/office/drawing/2014/main" id="{CF90F200-8F00-C5B0-2F8A-0FEB5130E1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488"/>
            <a:ext cx="12192000" cy="61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4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4)">
            <a:extLst>
              <a:ext uri="{FF2B5EF4-FFF2-40B4-BE49-F238E27FC236}">
                <a16:creationId xmlns:a16="http://schemas.microsoft.com/office/drawing/2014/main" id="{ED9A9EAF-E3C2-C1A1-FB4E-C9F7E00269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25"/>
            <a:ext cx="12192000" cy="6253163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B600BE82-A941-3E88-9188-3D21499CDA01}"/>
              </a:ext>
            </a:extLst>
          </p:cNvPr>
          <p:cNvSpPr txBox="1"/>
          <p:nvPr/>
        </p:nvSpPr>
        <p:spPr>
          <a:xfrm>
            <a:off x="5508172" y="2296884"/>
            <a:ext cx="947057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2400" b="1" dirty="0">
                <a:solidFill>
                  <a:schemeClr val="accent2"/>
                </a:solidFill>
              </a:rPr>
              <a:t>first</a:t>
            </a:r>
            <a:endParaRPr lang="nl-NL" b="1" dirty="0">
              <a:solidFill>
                <a:schemeClr val="accent2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88D65D6-A885-18DE-C2B2-2772145BB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155" y="2781974"/>
            <a:ext cx="1048603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1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0DF1E246-B467-3D76-09EC-656AD78FD73C}"/>
              </a:ext>
            </a:extLst>
          </p:cNvPr>
          <p:cNvSpPr txBox="1"/>
          <p:nvPr/>
        </p:nvSpPr>
        <p:spPr>
          <a:xfrm>
            <a:off x="195943" y="195943"/>
            <a:ext cx="1144088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 err="1"/>
              <a:t>Suppose</a:t>
            </a:r>
            <a:r>
              <a:rPr lang="nl-NL" sz="2800" dirty="0"/>
              <a:t> we have </a:t>
            </a:r>
            <a:r>
              <a:rPr lang="nl-NL" sz="2800" dirty="0">
                <a:solidFill>
                  <a:schemeClr val="accent5">
                    <a:lumMod val="75000"/>
                  </a:schemeClr>
                </a:solidFill>
              </a:rPr>
              <a:t>23128555.415002</a:t>
            </a:r>
            <a:r>
              <a:rPr lang="nl-NL" sz="2800" dirty="0"/>
              <a:t> </a:t>
            </a:r>
            <a:r>
              <a:rPr lang="nl-NL" sz="2800" dirty="0" err="1"/>
              <a:t>now</a:t>
            </a:r>
            <a:r>
              <a:rPr lang="nl-NL" sz="2800" dirty="0"/>
              <a:t> (yes big </a:t>
            </a:r>
            <a:r>
              <a:rPr lang="nl-NL" sz="2800" dirty="0" err="1"/>
              <a:t>number</a:t>
            </a:r>
            <a:r>
              <a:rPr lang="nl-NL" sz="2800" dirty="0"/>
              <a:t>) </a:t>
            </a:r>
            <a:r>
              <a:rPr lang="nl-NL" sz="2800" dirty="0" err="1"/>
              <a:t>and</a:t>
            </a:r>
            <a:r>
              <a:rPr lang="nl-NL" sz="2800" dirty="0"/>
              <a:t> we have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round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two</a:t>
            </a:r>
            <a:r>
              <a:rPr lang="nl-NL" sz="2800" dirty="0"/>
              <a:t> </a:t>
            </a:r>
            <a:r>
              <a:rPr lang="nl-NL" sz="2800" dirty="0" err="1"/>
              <a:t>decimals</a:t>
            </a:r>
            <a:r>
              <a:rPr lang="nl-NL" sz="2800" dirty="0"/>
              <a:t> </a:t>
            </a:r>
            <a:r>
              <a:rPr lang="nl-NL" sz="2800" u="sng" dirty="0">
                <a:solidFill>
                  <a:schemeClr val="accent2"/>
                </a:solidFill>
              </a:rPr>
              <a:t>(=</a:t>
            </a:r>
            <a:r>
              <a:rPr lang="nl-NL" sz="2800" u="sng" dirty="0" err="1">
                <a:solidFill>
                  <a:schemeClr val="accent2"/>
                </a:solidFill>
              </a:rPr>
              <a:t>two</a:t>
            </a:r>
            <a:r>
              <a:rPr lang="nl-NL" sz="2800" u="sng" dirty="0">
                <a:solidFill>
                  <a:schemeClr val="accent2"/>
                </a:solidFill>
              </a:rPr>
              <a:t> </a:t>
            </a:r>
            <a:r>
              <a:rPr lang="nl-NL" sz="2800" u="sng" dirty="0" err="1">
                <a:solidFill>
                  <a:schemeClr val="accent2"/>
                </a:solidFill>
              </a:rPr>
              <a:t>numbers</a:t>
            </a:r>
            <a:r>
              <a:rPr lang="nl-NL" sz="2800" u="sng" dirty="0">
                <a:solidFill>
                  <a:schemeClr val="accent2"/>
                </a:solidFill>
              </a:rPr>
              <a:t> </a:t>
            </a:r>
            <a:r>
              <a:rPr lang="nl-NL" sz="2800" u="sng" dirty="0" err="1">
                <a:solidFill>
                  <a:schemeClr val="accent2"/>
                </a:solidFill>
              </a:rPr>
              <a:t>after</a:t>
            </a:r>
            <a:r>
              <a:rPr lang="nl-NL" sz="2800" u="sng" dirty="0">
                <a:solidFill>
                  <a:schemeClr val="accent2"/>
                </a:solidFill>
              </a:rPr>
              <a:t> </a:t>
            </a:r>
            <a:r>
              <a:rPr lang="nl-NL" sz="2800" u="sng" dirty="0" err="1">
                <a:solidFill>
                  <a:schemeClr val="accent2"/>
                </a:solidFill>
              </a:rPr>
              <a:t>comma</a:t>
            </a:r>
            <a:r>
              <a:rPr lang="nl-NL" sz="2800" u="sng" dirty="0">
                <a:solidFill>
                  <a:schemeClr val="accent2"/>
                </a:solidFill>
              </a:rPr>
              <a:t>/full stop)</a:t>
            </a:r>
            <a:br>
              <a:rPr lang="nl-NL" sz="2800" u="sng" dirty="0">
                <a:solidFill>
                  <a:schemeClr val="accent2"/>
                </a:solidFill>
              </a:rPr>
            </a:br>
            <a:br>
              <a:rPr lang="nl-NL" sz="2800" dirty="0"/>
            </a:br>
            <a:r>
              <a:rPr lang="nl-NL" sz="5400" dirty="0" err="1">
                <a:latin typeface="Palace Script MT" panose="030303020206070C0B05" pitchFamily="66" charset="0"/>
              </a:rPr>
              <a:t>Dont</a:t>
            </a:r>
            <a:r>
              <a:rPr lang="nl-NL" sz="5400" dirty="0">
                <a:latin typeface="Palace Script MT" panose="030303020206070C0B05" pitchFamily="66" charset="0"/>
              </a:rPr>
              <a:t> </a:t>
            </a:r>
            <a:r>
              <a:rPr lang="nl-NL" sz="5400" dirty="0" err="1">
                <a:latin typeface="Palace Script MT" panose="030303020206070C0B05" pitchFamily="66" charset="0"/>
              </a:rPr>
              <a:t>worry</a:t>
            </a:r>
            <a:r>
              <a:rPr lang="nl-NL" sz="5400" dirty="0">
                <a:latin typeface="Palace Script MT" panose="030303020206070C0B05" pitchFamily="66" charset="0"/>
              </a:rPr>
              <a:t> </a:t>
            </a:r>
            <a:r>
              <a:rPr lang="nl-NL" sz="5400" dirty="0" err="1">
                <a:latin typeface="Palace Script MT" panose="030303020206070C0B05" pitchFamily="66" charset="0"/>
              </a:rPr>
              <a:t>friend</a:t>
            </a:r>
            <a:r>
              <a:rPr lang="nl-NL" sz="5400" dirty="0">
                <a:latin typeface="Palace Script MT" panose="030303020206070C0B05" pitchFamily="66" charset="0"/>
              </a:rPr>
              <a:t>! Same trick!</a:t>
            </a:r>
            <a:br>
              <a:rPr lang="nl-NL" sz="2800" dirty="0"/>
            </a:br>
            <a:br>
              <a:rPr lang="nl-NL" sz="2800" dirty="0"/>
            </a:br>
            <a:r>
              <a:rPr lang="nl-NL" sz="2800" dirty="0">
                <a:solidFill>
                  <a:srgbClr val="FF0000"/>
                </a:solidFill>
              </a:rPr>
              <a:t>Step 1: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look </a:t>
            </a:r>
            <a:r>
              <a:rPr lang="nl-NL" sz="2800" dirty="0" err="1"/>
              <a:t>again</a:t>
            </a:r>
            <a:r>
              <a:rPr lang="nl-NL" sz="2800" dirty="0"/>
              <a:t> at </a:t>
            </a:r>
            <a:r>
              <a:rPr lang="nl-NL" sz="2800" dirty="0" err="1"/>
              <a:t>the</a:t>
            </a:r>
            <a:r>
              <a:rPr lang="nl-NL" sz="2800" dirty="0"/>
              <a:t> first (2 [</a:t>
            </a:r>
            <a:r>
              <a:rPr lang="nl-NL" sz="2800" dirty="0" err="1"/>
              <a:t>because</a:t>
            </a:r>
            <a:r>
              <a:rPr lang="nl-NL" sz="2800" dirty="0"/>
              <a:t> </a:t>
            </a:r>
            <a:r>
              <a:rPr lang="nl-NL" sz="2800" dirty="0" err="1"/>
              <a:t>round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2 </a:t>
            </a:r>
            <a:r>
              <a:rPr lang="nl-NL" sz="2800" dirty="0" err="1"/>
              <a:t>decimals</a:t>
            </a:r>
            <a:r>
              <a:rPr lang="nl-NL" sz="2800" dirty="0"/>
              <a:t>] +1=) 3 </a:t>
            </a:r>
            <a:r>
              <a:rPr lang="nl-NL" sz="2800" dirty="0" err="1"/>
              <a:t>decimals</a:t>
            </a:r>
            <a:r>
              <a:rPr lang="nl-NL" sz="2800" dirty="0"/>
              <a:t> </a:t>
            </a:r>
            <a:r>
              <a:rPr lang="nl-NL" sz="2800" dirty="0" err="1"/>
              <a:t>which</a:t>
            </a:r>
            <a:r>
              <a:rPr lang="nl-NL" sz="2800" dirty="0"/>
              <a:t> are: </a:t>
            </a:r>
            <a:r>
              <a:rPr lang="nl-NL" sz="2800" dirty="0">
                <a:solidFill>
                  <a:schemeClr val="accent5">
                    <a:lumMod val="75000"/>
                  </a:schemeClr>
                </a:solidFill>
              </a:rPr>
              <a:t>23128555.415</a:t>
            </a:r>
            <a:br>
              <a:rPr lang="nl-NL" sz="2800" dirty="0"/>
            </a:br>
            <a:br>
              <a:rPr lang="nl-NL" sz="2800" dirty="0"/>
            </a:br>
            <a:r>
              <a:rPr lang="nl-NL" sz="2800" dirty="0">
                <a:solidFill>
                  <a:srgbClr val="FF0000"/>
                </a:solidFill>
              </a:rPr>
              <a:t>Step 2:</a:t>
            </a:r>
            <a:r>
              <a:rPr lang="nl-NL" sz="2800" dirty="0"/>
              <a:t> The last </a:t>
            </a:r>
            <a:r>
              <a:rPr lang="nl-NL" sz="2800" dirty="0" err="1"/>
              <a:t>number</a:t>
            </a:r>
            <a:r>
              <a:rPr lang="nl-NL" sz="2800" dirty="0"/>
              <a:t> is at </a:t>
            </a:r>
            <a:r>
              <a:rPr lang="nl-NL" sz="2800" dirty="0" err="1"/>
              <a:t>least</a:t>
            </a:r>
            <a:r>
              <a:rPr lang="nl-NL" sz="2800" dirty="0"/>
              <a:t> 5 (</a:t>
            </a:r>
            <a:r>
              <a:rPr lang="nl-NL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 </a:t>
            </a:r>
            <a:r>
              <a:rPr lang="nl-NL" sz="28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this</a:t>
            </a:r>
            <a:r>
              <a:rPr lang="nl-NL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case </a:t>
            </a:r>
            <a:r>
              <a:rPr lang="nl-NL" sz="28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exactly</a:t>
            </a:r>
            <a:r>
              <a:rPr lang="nl-NL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5</a:t>
            </a:r>
            <a:r>
              <a:rPr lang="nl-NL" sz="2800" dirty="0"/>
              <a:t>), </a:t>
            </a:r>
            <a:r>
              <a:rPr lang="nl-NL" sz="2800" dirty="0" err="1"/>
              <a:t>so</a:t>
            </a:r>
            <a:r>
              <a:rPr lang="nl-NL" sz="2800" dirty="0"/>
              <a:t> we </a:t>
            </a:r>
            <a:r>
              <a:rPr lang="nl-NL" sz="2800" dirty="0" err="1"/>
              <a:t>round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(make </a:t>
            </a:r>
            <a:r>
              <a:rPr lang="nl-NL" sz="2800" dirty="0" err="1"/>
              <a:t>it</a:t>
            </a:r>
            <a:r>
              <a:rPr lang="nl-NL" sz="2800" dirty="0"/>
              <a:t> </a:t>
            </a:r>
            <a:r>
              <a:rPr lang="nl-NL" sz="2800" dirty="0" err="1"/>
              <a:t>two</a:t>
            </a:r>
            <a:r>
              <a:rPr lang="nl-NL" sz="2800" dirty="0"/>
              <a:t> </a:t>
            </a:r>
            <a:r>
              <a:rPr lang="nl-NL" sz="2800" dirty="0" err="1"/>
              <a:t>decimals</a:t>
            </a:r>
            <a:r>
              <a:rPr lang="nl-NL" sz="2800" dirty="0"/>
              <a:t> like </a:t>
            </a:r>
            <a:r>
              <a:rPr lang="nl-NL" sz="2800" dirty="0" err="1"/>
              <a:t>the</a:t>
            </a:r>
            <a:r>
              <a:rPr lang="nl-NL" sz="2800" dirty="0"/>
              <a:t> question </a:t>
            </a:r>
            <a:r>
              <a:rPr lang="nl-NL" sz="2800" dirty="0" err="1"/>
              <a:t>asked</a:t>
            </a:r>
            <a:r>
              <a:rPr lang="nl-NL" sz="2800" dirty="0"/>
              <a:t> </a:t>
            </a:r>
            <a:r>
              <a:rPr lang="nl-NL" sz="2800" dirty="0" err="1"/>
              <a:t>us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)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above</a:t>
            </a:r>
            <a:br>
              <a:rPr lang="nl-NL" sz="2800" dirty="0"/>
            </a:br>
            <a:br>
              <a:rPr lang="nl-NL" sz="2800" dirty="0"/>
            </a:br>
            <a:r>
              <a:rPr lang="nl-NL" sz="2800" dirty="0">
                <a:solidFill>
                  <a:srgbClr val="FF0000"/>
                </a:solidFill>
              </a:rPr>
              <a:t>Step 3:</a:t>
            </a:r>
            <a:r>
              <a:rPr lang="nl-NL" sz="2800" dirty="0"/>
              <a:t> </a:t>
            </a:r>
            <a:r>
              <a:rPr lang="nl-NL" sz="2800" dirty="0" err="1"/>
              <a:t>Therefore</a:t>
            </a:r>
            <a:r>
              <a:rPr lang="nl-NL" sz="2800" dirty="0"/>
              <a:t>, we have as </a:t>
            </a:r>
            <a:r>
              <a:rPr lang="nl-NL" sz="2800" dirty="0" err="1"/>
              <a:t>final</a:t>
            </a:r>
            <a:r>
              <a:rPr lang="nl-NL" sz="2800" dirty="0"/>
              <a:t> </a:t>
            </a:r>
            <a:r>
              <a:rPr lang="nl-NL" sz="2800" dirty="0" err="1"/>
              <a:t>answer</a:t>
            </a:r>
            <a:r>
              <a:rPr lang="nl-NL" sz="2800" dirty="0"/>
              <a:t> </a:t>
            </a:r>
            <a:r>
              <a:rPr lang="nl-NL" sz="2800" dirty="0">
                <a:solidFill>
                  <a:srgbClr val="7030A0"/>
                </a:solidFill>
              </a:rPr>
              <a:t>23128555.42</a:t>
            </a:r>
            <a:r>
              <a:rPr lang="nl-NL" sz="2800" dirty="0"/>
              <a:t> </a:t>
            </a:r>
            <a:r>
              <a:rPr lang="nl-NL" sz="2800" strike="sngStrike" dirty="0" err="1"/>
              <a:t>instead</a:t>
            </a:r>
            <a:r>
              <a:rPr lang="nl-NL" sz="2800" strike="sngStrike" dirty="0"/>
              <a:t> of 23128555.41 (</a:t>
            </a:r>
            <a:r>
              <a:rPr lang="nl-NL" sz="2800" strike="sngStrike" dirty="0" err="1"/>
              <a:t>which</a:t>
            </a:r>
            <a:r>
              <a:rPr lang="nl-NL" sz="2800" strike="sngStrike" dirty="0"/>
              <a:t> is </a:t>
            </a:r>
            <a:r>
              <a:rPr lang="nl-NL" sz="2800" strike="sngStrike" dirty="0" err="1"/>
              <a:t>if</a:t>
            </a:r>
            <a:r>
              <a:rPr lang="nl-NL" sz="2800" strike="sngStrike" dirty="0"/>
              <a:t> </a:t>
            </a:r>
            <a:r>
              <a:rPr lang="nl-NL" sz="2800" strike="sngStrike" dirty="0" err="1"/>
              <a:t>you</a:t>
            </a:r>
            <a:r>
              <a:rPr lang="nl-NL" sz="2800" strike="sngStrike" dirty="0"/>
              <a:t> </a:t>
            </a:r>
            <a:r>
              <a:rPr lang="nl-NL" sz="2800" strike="sngStrike" dirty="0" err="1"/>
              <a:t>round</a:t>
            </a:r>
            <a:r>
              <a:rPr lang="nl-NL" sz="2800" strike="sngStrike" dirty="0"/>
              <a:t> down)</a:t>
            </a:r>
          </a:p>
        </p:txBody>
      </p:sp>
    </p:spTree>
    <p:extLst>
      <p:ext uri="{BB962C8B-B14F-4D97-AF65-F5344CB8AC3E}">
        <p14:creationId xmlns:p14="http://schemas.microsoft.com/office/powerpoint/2010/main" val="292506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5)">
            <a:extLst>
              <a:ext uri="{FF2B5EF4-FFF2-40B4-BE49-F238E27FC236}">
                <a16:creationId xmlns:a16="http://schemas.microsoft.com/office/drawing/2014/main" id="{AAA921EF-43A5-69AD-2134-88BF5340E8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"/>
            <a:ext cx="12192000" cy="67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2945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135</Words>
  <Application>Microsoft Office PowerPoint</Application>
  <PresentationFormat>Breedbeeld</PresentationFormat>
  <Paragraphs>4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Palace Script MT</vt:lpstr>
      <vt:lpstr>Kantoorthema</vt:lpstr>
      <vt:lpstr>Percentages, Decimals and Rounding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</cp:revision>
  <dcterms:created xsi:type="dcterms:W3CDTF">2026-05-15T16:48:14Z</dcterms:created>
  <dcterms:modified xsi:type="dcterms:W3CDTF">2026-07-30T09:05:40Z</dcterms:modified>
</cp:coreProperties>
</file>