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7" r:id="rId19"/>
    <p:sldId id="298" r:id="rId20"/>
    <p:sldId id="273" r:id="rId21"/>
    <p:sldId id="274" r:id="rId22"/>
    <p:sldId id="275" r:id="rId23"/>
    <p:sldId id="276" r:id="rId24"/>
    <p:sldId id="299" r:id="rId25"/>
    <p:sldId id="300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3B964B-E4CB-2D6E-449D-ECD31DBAF8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5A6EB2-4045-156E-6BFA-A748F3204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03DE23-0BAC-D2E5-2FB2-192ABD745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ECB82AA-CCB1-53E1-ED2A-74516C480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F515B5-D474-13E9-6923-5A299DEB3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2312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A637E-8E79-CEB6-4CD1-CA5975D24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3BDAA73-7C81-9B8F-D71A-B96235DFC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0B91D1F-50EB-C068-117B-98FCE1CEC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E05313E-36C0-C679-2D86-82B74B24E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B95B7BD-98FC-20A5-F8C1-F035D93B1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762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337B67-DA4E-E421-D60E-3F761CE86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7BECF57-2346-999F-6AA2-626664702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F4A6814-2002-E6B6-42E7-3612C7B90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50B598-6656-A70D-129F-E1DE33D0C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4723665-8A87-3320-93A6-E0F530DBB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711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2351FF-92DB-3B7C-97BA-B0B1010BC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1767A4E-8CDC-4694-7839-A1082DA60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6F0DC85-08B2-99D8-C379-36AB7EAB16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4060B1F-0BB9-1CAB-4BC7-59C189AA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19D4654-9E02-57D2-99D5-8A334A6E6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EE8E90D-F3F3-3170-B049-66CFC2FC2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602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647F2F-CACF-841C-2E63-6F5E96E8B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94FCE6C-83AC-64C4-AE93-4F300107AA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566E48A-A7DF-2A0F-7F06-D01E8BF74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BC2CD37-1253-109E-BF6A-C69C5DAA0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46561C4-EE95-C485-60F1-906BC815F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4C7DB61-A1F1-8BF0-0385-5378B9249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933F72B-C3DD-0A76-E7A8-FCB7E265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5080BCD-3C23-7305-93F0-4AE21A4A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5911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496068-33D0-45E1-0812-0E6B1A85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8628714-575F-80BB-A927-14D105228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A564DE7-9949-A841-3D2D-CF3F2BBA7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A77B6A5-DB07-B0EF-C7EB-AC7C52EEB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5946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28A2D57-18E7-D899-0B7B-DD31D932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FC11608-9DA6-ED18-4C27-475E29B2F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A4260D5-FD17-D8F1-096C-DF9B3878F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776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785F2F-18EF-DEAE-C823-0CC2FA997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A23A2C0-1220-D667-897D-D80FE885E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69F53EF-3EBA-85FF-6873-93294D16AF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CA205D9-DD41-F01C-AA53-AD11B9C1B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0A155D2-1075-BB43-631B-62846D3D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D931E6F-3B0D-7EF9-9C27-F154FB618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3275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101112-D303-EA65-9969-BFB214F75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D546A6FA-2B19-2336-CEAE-B9ADDB0DAC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D5D4E1F-9359-8FB3-B40D-3AE677C333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9B8F9BD-2491-B251-D7E9-27B91B84B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C57D2A0-0369-BCD4-7019-94709069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6D9817C-93CD-0427-0853-8461D6DF8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2906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8E96C6-BA92-2ADC-8B70-48161AFC6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09C85E3-2B8A-1912-C3AB-927EE9AEE1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FE3A76A-9B3E-0E83-119A-698D2C755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BB2C7D-A2CD-02DA-3649-2CEE2E05B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AD3892F-9E83-B60F-4922-A9CC97676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02938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753EAB6-AD96-96C1-3724-6D7EC308E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D348931-3835-0EB3-AC0D-C662DD5D97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BDA5887-92E4-ECDD-7EDC-AD11D350F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8-8-2026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7975E8-5E5B-F8F3-4C02-2C514155A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8ADBE9F-9DC2-AD8A-9C39-CC5916203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6236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CCA231CF-41DF-FC17-DF96-A0C6D6555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8AA82F5-B161-C89F-78A1-53C76225A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07C16A1-F5FF-0926-9526-4E9988AF5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AB221D-113D-46B3-A0C5-C06C4D6C4819}" type="datetimeFigureOut">
              <a:rPr lang="nl-NL" smtClean="0"/>
              <a:t>8-8-2026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301D363-EAA2-8DC6-624E-12A9B79083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C3BA8D-C2F3-7D2B-433F-DBCCB8BA0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653428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0421A-53EB-967E-6478-7DD30733A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Powers, </a:t>
            </a:r>
            <a:r>
              <a:rPr lang="nl-NL" dirty="0" err="1"/>
              <a:t>roots</a:t>
            </a:r>
            <a:r>
              <a:rPr lang="nl-NL" dirty="0"/>
              <a:t>, </a:t>
            </a:r>
            <a:r>
              <a:rPr lang="nl-NL" dirty="0" err="1"/>
              <a:t>scientific</a:t>
            </a:r>
            <a:r>
              <a:rPr lang="nl-NL" dirty="0"/>
              <a:t> </a:t>
            </a:r>
            <a:r>
              <a:rPr lang="nl-NL" dirty="0" err="1"/>
              <a:t>notation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BIDMAS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A09DCD8-D696-4CBA-3A2B-8043B27F04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08727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4)">
            <a:extLst>
              <a:ext uri="{FF2B5EF4-FFF2-40B4-BE49-F238E27FC236}">
                <a16:creationId xmlns:a16="http://schemas.microsoft.com/office/drawing/2014/main" id="{41FDBDE6-6915-ABC5-9237-803ED899BCF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313"/>
            <a:ext cx="12192000" cy="668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90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5)">
            <a:extLst>
              <a:ext uri="{FF2B5EF4-FFF2-40B4-BE49-F238E27FC236}">
                <a16:creationId xmlns:a16="http://schemas.microsoft.com/office/drawing/2014/main" id="{01A92AAD-9A07-1CA1-0FCB-417658FED2D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63" y="0"/>
            <a:ext cx="120046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296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6)">
            <a:extLst>
              <a:ext uri="{FF2B5EF4-FFF2-40B4-BE49-F238E27FC236}">
                <a16:creationId xmlns:a16="http://schemas.microsoft.com/office/drawing/2014/main" id="{290FCE56-728C-8043-09C2-EDA5009A3D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7063"/>
            <a:ext cx="12192000" cy="560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241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6)">
            <a:extLst>
              <a:ext uri="{FF2B5EF4-FFF2-40B4-BE49-F238E27FC236}">
                <a16:creationId xmlns:a16="http://schemas.microsoft.com/office/drawing/2014/main" id="{319D7354-8CBB-FCBE-8970-F6A3084CD8F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175" y="0"/>
            <a:ext cx="11930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788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7)">
            <a:extLst>
              <a:ext uri="{FF2B5EF4-FFF2-40B4-BE49-F238E27FC236}">
                <a16:creationId xmlns:a16="http://schemas.microsoft.com/office/drawing/2014/main" id="{332FAE49-96F9-14B6-7222-C20DE22105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13" y="0"/>
            <a:ext cx="115855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5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8)">
            <a:extLst>
              <a:ext uri="{FF2B5EF4-FFF2-40B4-BE49-F238E27FC236}">
                <a16:creationId xmlns:a16="http://schemas.microsoft.com/office/drawing/2014/main" id="{A7B97060-DE6C-A244-AAA0-E00AAAE4D4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"/>
            <a:ext cx="12192000" cy="685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235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9)">
            <a:extLst>
              <a:ext uri="{FF2B5EF4-FFF2-40B4-BE49-F238E27FC236}">
                <a16:creationId xmlns:a16="http://schemas.microsoft.com/office/drawing/2014/main" id="{66504807-15E0-2375-1E4F-2230095AD7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0"/>
            <a:ext cx="11617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811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0)">
            <a:extLst>
              <a:ext uri="{FF2B5EF4-FFF2-40B4-BE49-F238E27FC236}">
                <a16:creationId xmlns:a16="http://schemas.microsoft.com/office/drawing/2014/main" id="{78D693A7-0403-5D2B-4255-8F08359D4BD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50" y="0"/>
            <a:ext cx="114157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560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a">
            <a:extLst>
              <a:ext uri="{FF2B5EF4-FFF2-40B4-BE49-F238E27FC236}">
                <a16:creationId xmlns:a16="http://schemas.microsoft.com/office/drawing/2014/main" id="{C4337383-9E21-460E-EF5B-492DE2201F9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8" y="0"/>
            <a:ext cx="113109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554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b">
            <a:extLst>
              <a:ext uri="{FF2B5EF4-FFF2-40B4-BE49-F238E27FC236}">
                <a16:creationId xmlns:a16="http://schemas.microsoft.com/office/drawing/2014/main" id="{3DBE3591-878D-8842-3610-E3C4D1ED946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4013"/>
            <a:ext cx="12192000" cy="360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72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3)">
            <a:extLst>
              <a:ext uri="{FF2B5EF4-FFF2-40B4-BE49-F238E27FC236}">
                <a16:creationId xmlns:a16="http://schemas.microsoft.com/office/drawing/2014/main" id="{B1FB1DC8-D5D2-63B3-8F64-35F982F14D3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663"/>
            <a:ext cx="12192000" cy="666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51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8)">
            <a:extLst>
              <a:ext uri="{FF2B5EF4-FFF2-40B4-BE49-F238E27FC236}">
                <a16:creationId xmlns:a16="http://schemas.microsoft.com/office/drawing/2014/main" id="{6966A9A9-60B3-359D-61C4-283C9F66181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6525"/>
            <a:ext cx="12192000" cy="658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89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)">
            <a:extLst>
              <a:ext uri="{FF2B5EF4-FFF2-40B4-BE49-F238E27FC236}">
                <a16:creationId xmlns:a16="http://schemas.microsoft.com/office/drawing/2014/main" id="{C0ADE00D-7E7A-B717-47B9-DB881ACD80C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750"/>
            <a:ext cx="12192000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06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a)">
            <a:extLst>
              <a:ext uri="{FF2B5EF4-FFF2-40B4-BE49-F238E27FC236}">
                <a16:creationId xmlns:a16="http://schemas.microsoft.com/office/drawing/2014/main" id="{BC7F97A5-7D62-C578-5755-4CC2D9F6276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1887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0538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b)">
            <a:extLst>
              <a:ext uri="{FF2B5EF4-FFF2-40B4-BE49-F238E27FC236}">
                <a16:creationId xmlns:a16="http://schemas.microsoft.com/office/drawing/2014/main" id="{6D14491D-193D-1676-283B-617099AEB2E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5013"/>
            <a:ext cx="12192000" cy="538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32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2)">
            <a:extLst>
              <a:ext uri="{FF2B5EF4-FFF2-40B4-BE49-F238E27FC236}">
                <a16:creationId xmlns:a16="http://schemas.microsoft.com/office/drawing/2014/main" id="{E55A5A13-86C3-E0EF-1FA2-5718B068CC7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625"/>
            <a:ext cx="12192000" cy="650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775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A05A34F4-4923-08D0-E6D6-FB6A06867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5017"/>
            <a:ext cx="12192000" cy="5327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774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4502-6884-6B88-D40C-4C2B536E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CAB66F9F-92E8-5827-09EB-0ECBEC37F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356"/>
            <a:ext cx="12192000" cy="5749287"/>
          </a:xfrm>
          <a:prstGeom prst="rect">
            <a:avLst/>
          </a:prstGeom>
        </p:spPr>
      </p:pic>
      <p:pic>
        <p:nvPicPr>
          <p:cNvPr id="3" name="Afbeelding 2">
            <a:extLst>
              <a:ext uri="{FF2B5EF4-FFF2-40B4-BE49-F238E27FC236}">
                <a16:creationId xmlns:a16="http://schemas.microsoft.com/office/drawing/2014/main" id="{4C9B7309-46C6-E41B-F23C-2C073CCBF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34" y="1883229"/>
            <a:ext cx="11840409" cy="3189514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46308E76-EE90-79E3-281D-6151E418C376}"/>
              </a:ext>
            </a:extLst>
          </p:cNvPr>
          <p:cNvSpPr txBox="1"/>
          <p:nvPr/>
        </p:nvSpPr>
        <p:spPr>
          <a:xfrm>
            <a:off x="6193971" y="3244333"/>
            <a:ext cx="6302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ORDER DOESNT MATTER AS YOU CAN SEE!</a:t>
            </a:r>
          </a:p>
        </p:txBody>
      </p:sp>
    </p:spTree>
    <p:extLst>
      <p:ext uri="{BB962C8B-B14F-4D97-AF65-F5344CB8AC3E}">
        <p14:creationId xmlns:p14="http://schemas.microsoft.com/office/powerpoint/2010/main" val="940639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2)">
            <a:extLst>
              <a:ext uri="{FF2B5EF4-FFF2-40B4-BE49-F238E27FC236}">
                <a16:creationId xmlns:a16="http://schemas.microsoft.com/office/drawing/2014/main" id="{1B3FDC34-D67B-09C9-BD92-9DF75FBB967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75" y="0"/>
            <a:ext cx="110156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8218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3)">
            <a:extLst>
              <a:ext uri="{FF2B5EF4-FFF2-40B4-BE49-F238E27FC236}">
                <a16:creationId xmlns:a16="http://schemas.microsoft.com/office/drawing/2014/main" id="{9E173807-A86C-D1E2-D67E-813636CF42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5275"/>
            <a:ext cx="12192000" cy="6267450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5DA62314-D99E-E99C-2D23-B3278CAD5E59}"/>
              </a:ext>
            </a:extLst>
          </p:cNvPr>
          <p:cNvCxnSpPr/>
          <p:nvPr/>
        </p:nvCxnSpPr>
        <p:spPr>
          <a:xfrm>
            <a:off x="4834467" y="4216400"/>
            <a:ext cx="1354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4969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5)">
            <a:extLst>
              <a:ext uri="{FF2B5EF4-FFF2-40B4-BE49-F238E27FC236}">
                <a16:creationId xmlns:a16="http://schemas.microsoft.com/office/drawing/2014/main" id="{6211D816-F220-4D62-5E9D-D8BAF566D8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38"/>
            <a:ext cx="12192000" cy="674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4441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6)">
            <a:extLst>
              <a:ext uri="{FF2B5EF4-FFF2-40B4-BE49-F238E27FC236}">
                <a16:creationId xmlns:a16="http://schemas.microsoft.com/office/drawing/2014/main" id="{42074C80-5A2F-F6BE-20EF-8A7E49F359C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963" y="0"/>
            <a:ext cx="117760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376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4B33-17E6-2FA1-F247-CEE57BE58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090D247-ACB4-6A85-AE73-382CA864AC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1054"/>
            <a:ext cx="12192000" cy="595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6227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02C67D53-F010-4C82-0DD4-8AAF5A06C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386"/>
            <a:ext cx="12192000" cy="5721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7865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1)">
            <a:extLst>
              <a:ext uri="{FF2B5EF4-FFF2-40B4-BE49-F238E27FC236}">
                <a16:creationId xmlns:a16="http://schemas.microsoft.com/office/drawing/2014/main" id="{BF3BF1A8-75D8-1939-C69E-20C5112E69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50" y="0"/>
            <a:ext cx="11747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4021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2)">
            <a:extLst>
              <a:ext uri="{FF2B5EF4-FFF2-40B4-BE49-F238E27FC236}">
                <a16:creationId xmlns:a16="http://schemas.microsoft.com/office/drawing/2014/main" id="{681C4D2B-4C06-01A6-B1E5-C69928DD9A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38" y="0"/>
            <a:ext cx="118443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207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3)">
            <a:extLst>
              <a:ext uri="{FF2B5EF4-FFF2-40B4-BE49-F238E27FC236}">
                <a16:creationId xmlns:a16="http://schemas.microsoft.com/office/drawing/2014/main" id="{35707146-4EF7-F229-D725-91C912A6613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4200"/>
            <a:ext cx="12192000" cy="5688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076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4)">
            <a:extLst>
              <a:ext uri="{FF2B5EF4-FFF2-40B4-BE49-F238E27FC236}">
                <a16:creationId xmlns:a16="http://schemas.microsoft.com/office/drawing/2014/main" id="{90B505DD-3E55-F5EC-9E0F-A54BC3B6F49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0"/>
            <a:ext cx="12026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1147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0)">
            <a:extLst>
              <a:ext uri="{FF2B5EF4-FFF2-40B4-BE49-F238E27FC236}">
                <a16:creationId xmlns:a16="http://schemas.microsoft.com/office/drawing/2014/main" id="{3FFC0B00-2D47-DEC2-07DC-7728BFF1AEF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175"/>
            <a:ext cx="12192000" cy="659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924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4)">
            <a:extLst>
              <a:ext uri="{FF2B5EF4-FFF2-40B4-BE49-F238E27FC236}">
                <a16:creationId xmlns:a16="http://schemas.microsoft.com/office/drawing/2014/main" id="{15266592-2889-3CAD-9D88-C4EB56B7B34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6813"/>
            <a:ext cx="12192000" cy="45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4003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5)">
            <a:extLst>
              <a:ext uri="{FF2B5EF4-FFF2-40B4-BE49-F238E27FC236}">
                <a16:creationId xmlns:a16="http://schemas.microsoft.com/office/drawing/2014/main" id="{D8164B3E-7929-5873-F0B1-5DFD313FC1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976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6)">
            <a:extLst>
              <a:ext uri="{FF2B5EF4-FFF2-40B4-BE49-F238E27FC236}">
                <a16:creationId xmlns:a16="http://schemas.microsoft.com/office/drawing/2014/main" id="{FB8D5FC9-4D01-8ADC-EF62-82C0ADDC884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69963"/>
            <a:ext cx="12192000" cy="491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2244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7)">
            <a:extLst>
              <a:ext uri="{FF2B5EF4-FFF2-40B4-BE49-F238E27FC236}">
                <a16:creationId xmlns:a16="http://schemas.microsoft.com/office/drawing/2014/main" id="{A7627B1B-1965-F86E-2473-FD104B53AF8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2275"/>
            <a:ext cx="12192000" cy="6011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4066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8)">
            <a:extLst>
              <a:ext uri="{FF2B5EF4-FFF2-40B4-BE49-F238E27FC236}">
                <a16:creationId xmlns:a16="http://schemas.microsoft.com/office/drawing/2014/main" id="{3FC73616-5B97-2976-6817-0947E02DD0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288"/>
            <a:ext cx="12192000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4452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9)">
            <a:extLst>
              <a:ext uri="{FF2B5EF4-FFF2-40B4-BE49-F238E27FC236}">
                <a16:creationId xmlns:a16="http://schemas.microsoft.com/office/drawing/2014/main" id="{4D2857CB-607B-554A-0EE0-5756F65ADB0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3575"/>
            <a:ext cx="12192000" cy="5529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195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60)">
            <a:extLst>
              <a:ext uri="{FF2B5EF4-FFF2-40B4-BE49-F238E27FC236}">
                <a16:creationId xmlns:a16="http://schemas.microsoft.com/office/drawing/2014/main" id="{C8ED4FBD-7FD5-507E-EC72-948FCA5C902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163"/>
            <a:ext cx="12192000" cy="679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8139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446A72-2DC6-D88D-53CC-54B2F5815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nl-NL" dirty="0"/>
              <a:t>BIDMAS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E8A8988-FE57-63E6-D814-6A36AD08D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6911"/>
            <a:ext cx="10515600" cy="5141232"/>
          </a:xfrm>
        </p:spPr>
        <p:txBody>
          <a:bodyPr/>
          <a:lstStyle/>
          <a:p>
            <a:r>
              <a:rPr lang="nl-NL" dirty="0"/>
              <a:t>In </a:t>
            </a:r>
            <a:r>
              <a:rPr lang="nl-NL" dirty="0" err="1"/>
              <a:t>maths</a:t>
            </a:r>
            <a:r>
              <a:rPr lang="nl-NL" dirty="0"/>
              <a:t>, </a:t>
            </a:r>
            <a:r>
              <a:rPr lang="nl-NL" dirty="0" err="1"/>
              <a:t>you</a:t>
            </a:r>
            <a:r>
              <a:rPr lang="nl-NL" dirty="0"/>
              <a:t> have </a:t>
            </a:r>
            <a:r>
              <a:rPr lang="nl-NL" dirty="0" err="1"/>
              <a:t>an</a:t>
            </a:r>
            <a:r>
              <a:rPr lang="nl-NL" dirty="0"/>
              <a:t> order of </a:t>
            </a:r>
            <a:r>
              <a:rPr lang="nl-NL" dirty="0" err="1"/>
              <a:t>operation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we </a:t>
            </a:r>
            <a:r>
              <a:rPr lang="nl-NL" dirty="0" err="1"/>
              <a:t>adhere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order is </a:t>
            </a:r>
            <a:r>
              <a:rPr lang="nl-NL" dirty="0" err="1"/>
              <a:t>called</a:t>
            </a:r>
            <a:r>
              <a:rPr lang="nl-NL" dirty="0"/>
              <a:t> </a:t>
            </a:r>
            <a:r>
              <a:rPr lang="nl-NL" dirty="0">
                <a:solidFill>
                  <a:srgbClr val="FF0000"/>
                </a:solidFill>
              </a:rPr>
              <a:t>BIDMAS</a:t>
            </a:r>
          </a:p>
          <a:p>
            <a:r>
              <a:rPr lang="nl-NL" dirty="0"/>
              <a:t>It </a:t>
            </a:r>
            <a:r>
              <a:rPr lang="nl-NL" dirty="0" err="1"/>
              <a:t>works</a:t>
            </a:r>
            <a:r>
              <a:rPr lang="nl-NL" dirty="0"/>
              <a:t> as </a:t>
            </a:r>
            <a:r>
              <a:rPr lang="nl-NL" dirty="0" err="1"/>
              <a:t>follows</a:t>
            </a:r>
            <a:r>
              <a:rPr lang="nl-NL" dirty="0"/>
              <a:t>:</a:t>
            </a:r>
            <a:br>
              <a:rPr lang="nl-NL" dirty="0"/>
            </a:br>
            <a:r>
              <a:rPr lang="nl-NL" dirty="0"/>
              <a:t>1. </a:t>
            </a:r>
            <a:r>
              <a:rPr lang="nl-NL" u="sng" dirty="0" err="1">
                <a:solidFill>
                  <a:srgbClr val="FF0000"/>
                </a:solidFill>
              </a:rPr>
              <a:t>B</a:t>
            </a:r>
            <a:r>
              <a:rPr lang="nl-NL" u="sng" dirty="0" err="1"/>
              <a:t>rackets</a:t>
            </a:r>
            <a:r>
              <a:rPr lang="nl-NL" dirty="0"/>
              <a:t> i.e. ()</a:t>
            </a:r>
            <a:br>
              <a:rPr lang="nl-NL" dirty="0"/>
            </a:br>
            <a:r>
              <a:rPr lang="nl-NL" dirty="0"/>
              <a:t>2. </a:t>
            </a:r>
            <a:r>
              <a:rPr lang="nl-NL" u="sng" dirty="0">
                <a:solidFill>
                  <a:srgbClr val="FF0000"/>
                </a:solidFill>
              </a:rPr>
              <a:t>I</a:t>
            </a:r>
            <a:r>
              <a:rPr lang="nl-NL" u="sng" dirty="0"/>
              <a:t>ndices</a:t>
            </a:r>
            <a:r>
              <a:rPr lang="nl-NL" dirty="0"/>
              <a:t> (</a:t>
            </a:r>
            <a:r>
              <a:rPr lang="nl-NL" dirty="0" err="1"/>
              <a:t>powers</a:t>
            </a:r>
            <a:r>
              <a:rPr lang="nl-NL" dirty="0"/>
              <a:t> ^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roots</a:t>
            </a:r>
            <a:r>
              <a:rPr lang="nl-NL" dirty="0"/>
              <a:t> √)</a:t>
            </a:r>
            <a:br>
              <a:rPr lang="nl-NL" dirty="0"/>
            </a:br>
            <a:r>
              <a:rPr lang="nl-NL" dirty="0"/>
              <a:t>3. </a:t>
            </a:r>
            <a:r>
              <a:rPr lang="nl-NL" u="sng" dirty="0" err="1">
                <a:solidFill>
                  <a:srgbClr val="FF0000"/>
                </a:solidFill>
              </a:rPr>
              <a:t>D</a:t>
            </a:r>
            <a:r>
              <a:rPr lang="nl-NL" u="sng" dirty="0" err="1"/>
              <a:t>ivision</a:t>
            </a:r>
            <a:r>
              <a:rPr lang="nl-NL" dirty="0"/>
              <a:t> (÷) </a:t>
            </a:r>
            <a:r>
              <a:rPr lang="nl-NL" dirty="0" err="1"/>
              <a:t>and</a:t>
            </a:r>
            <a:r>
              <a:rPr lang="nl-NL" dirty="0"/>
              <a:t> 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M</a:t>
            </a:r>
            <a:r>
              <a:rPr lang="nl-NL" u="sng" dirty="0" err="1"/>
              <a:t>ultiplication</a:t>
            </a:r>
            <a:r>
              <a:rPr lang="nl-NL" dirty="0"/>
              <a:t> (×)</a:t>
            </a:r>
            <a:br>
              <a:rPr lang="nl-NL" dirty="0"/>
            </a:br>
            <a:r>
              <a:rPr lang="nl-NL" dirty="0"/>
              <a:t>4. </a:t>
            </a:r>
            <a:r>
              <a:rPr lang="nl-NL" u="sng" dirty="0" err="1">
                <a:solidFill>
                  <a:srgbClr val="FF0000"/>
                </a:solidFill>
              </a:rPr>
              <a:t>A</a:t>
            </a:r>
            <a:r>
              <a:rPr lang="nl-NL" u="sng" dirty="0" err="1"/>
              <a:t>ddition</a:t>
            </a:r>
            <a:r>
              <a:rPr lang="nl-NL" dirty="0"/>
              <a:t> (+) </a:t>
            </a:r>
            <a:r>
              <a:rPr lang="nl-NL" dirty="0" err="1"/>
              <a:t>and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S</a:t>
            </a:r>
            <a:r>
              <a:rPr lang="nl-NL" u="sng" dirty="0" err="1"/>
              <a:t>ubtraction</a:t>
            </a:r>
            <a:r>
              <a:rPr lang="nl-NL" dirty="0"/>
              <a:t> (-)</a:t>
            </a:r>
          </a:p>
          <a:p>
            <a:r>
              <a:rPr lang="nl-NL" dirty="0"/>
              <a:t>In here,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seen</a:t>
            </a:r>
            <a:r>
              <a:rPr lang="nl-NL" dirty="0"/>
              <a:t> as </a:t>
            </a:r>
            <a:r>
              <a:rPr lang="nl-NL" dirty="0" err="1"/>
              <a:t>equal</a:t>
            </a:r>
            <a:r>
              <a:rPr lang="nl-NL" dirty="0"/>
              <a:t> (no </a:t>
            </a:r>
            <a:r>
              <a:rPr lang="nl-NL" dirty="0" err="1"/>
              <a:t>preference</a:t>
            </a:r>
            <a:r>
              <a:rPr lang="nl-NL" dirty="0"/>
              <a:t> </a:t>
            </a:r>
            <a:r>
              <a:rPr lang="nl-NL" dirty="0" err="1"/>
              <a:t>among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)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 </a:t>
            </a:r>
            <a:r>
              <a:rPr lang="nl-NL" dirty="0" err="1"/>
              <a:t>likewise</a:t>
            </a:r>
            <a:endParaRPr lang="nl-NL" dirty="0"/>
          </a:p>
          <a:p>
            <a:r>
              <a:rPr lang="nl-NL" dirty="0"/>
              <a:t>In case of no </a:t>
            </a:r>
            <a:r>
              <a:rPr lang="nl-NL" dirty="0" err="1"/>
              <a:t>preference</a:t>
            </a:r>
            <a:r>
              <a:rPr lang="nl-NL" dirty="0"/>
              <a:t>, we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>
                <a:solidFill>
                  <a:srgbClr val="FF0000"/>
                </a:solidFill>
              </a:rPr>
              <a:t>left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to</a:t>
            </a:r>
            <a:r>
              <a:rPr lang="nl-NL" dirty="0">
                <a:solidFill>
                  <a:srgbClr val="FF0000"/>
                </a:solidFill>
              </a:rPr>
              <a:t> right </a:t>
            </a:r>
            <a:r>
              <a:rPr lang="nl-NL" dirty="0"/>
              <a:t>in </a:t>
            </a:r>
            <a:r>
              <a:rPr lang="nl-NL" dirty="0" err="1"/>
              <a:t>maths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984606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7312A0-95AA-1520-82D6-EE9D6C2F8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</p:spPr>
            <p:txBody>
              <a:bodyPr>
                <a:normAutofit/>
              </a:bodyPr>
              <a:lstStyle/>
              <a:p>
                <a:r>
                  <a:rPr lang="nl-NL" dirty="0"/>
                  <a:t>Lets go over </a:t>
                </a:r>
                <a:r>
                  <a:rPr lang="nl-NL" dirty="0" err="1"/>
                  <a:t>an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:</a:t>
                </a: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endParaRPr lang="nl-NL" dirty="0"/>
              </a:p>
              <a:p>
                <a:r>
                  <a:rPr lang="nl-NL" dirty="0" err="1"/>
                  <a:t>Note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 </a:t>
                </a:r>
                <a:r>
                  <a:rPr lang="nl-NL" dirty="0" err="1"/>
                  <a:t>rarely</a:t>
                </a:r>
                <a:r>
                  <a:rPr lang="nl-NL" dirty="0"/>
                  <a:t> </a:t>
                </a:r>
                <a:r>
                  <a:rPr lang="nl-NL" dirty="0" err="1"/>
                  <a:t>use</a:t>
                </a:r>
                <a:r>
                  <a:rPr lang="nl-NL" dirty="0"/>
                  <a:t> 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because</a:t>
                </a:r>
                <a:r>
                  <a:rPr lang="nl-NL" dirty="0"/>
                  <a:t> </a:t>
                </a:r>
                <a:r>
                  <a:rPr lang="nl-NL" dirty="0" err="1"/>
                  <a:t>its</a:t>
                </a:r>
                <a:r>
                  <a:rPr lang="nl-NL" dirty="0"/>
                  <a:t> </a:t>
                </a:r>
                <a:r>
                  <a:rPr lang="nl-NL" dirty="0" err="1"/>
                  <a:t>considered</a:t>
                </a:r>
                <a:r>
                  <a:rPr lang="nl-NL" dirty="0"/>
                  <a:t> </a:t>
                </a:r>
                <a:r>
                  <a:rPr lang="nl-NL" dirty="0" err="1"/>
                  <a:t>wonky</a:t>
                </a:r>
                <a:r>
                  <a:rPr lang="nl-NL" dirty="0"/>
                  <a:t> </a:t>
                </a:r>
                <a:r>
                  <a:rPr lang="nl-NL" dirty="0" err="1"/>
                  <a:t>notation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, but </a:t>
                </a:r>
                <a:r>
                  <a:rPr lang="nl-NL" dirty="0" err="1"/>
                  <a:t>it</a:t>
                </a:r>
                <a:r>
                  <a:rPr lang="nl-NL" dirty="0"/>
                  <a:t> </a:t>
                </a:r>
                <a:r>
                  <a:rPr lang="nl-NL" dirty="0" err="1"/>
                  <a:t>works</a:t>
                </a:r>
                <a:r>
                  <a:rPr lang="nl-NL" dirty="0"/>
                  <a:t> well </a:t>
                </a:r>
                <a:r>
                  <a:rPr lang="nl-NL" dirty="0" err="1"/>
                  <a:t>to</a:t>
                </a:r>
                <a:r>
                  <a:rPr lang="nl-NL" dirty="0"/>
                  <a:t> </a:t>
                </a:r>
                <a:r>
                  <a:rPr lang="nl-NL" dirty="0" err="1"/>
                  <a:t>demonstrate</a:t>
                </a:r>
                <a:r>
                  <a:rPr lang="nl-NL" dirty="0"/>
                  <a:t> BIDMAS in </a:t>
                </a:r>
                <a:r>
                  <a:rPr lang="nl-NL" dirty="0" err="1"/>
                  <a:t>practice</a:t>
                </a:r>
                <a:r>
                  <a:rPr lang="nl-NL" dirty="0"/>
                  <a:t>. In </a:t>
                </a:r>
                <a:r>
                  <a:rPr lang="nl-NL" dirty="0" err="1"/>
                  <a:t>this</a:t>
                </a:r>
                <a:r>
                  <a:rPr lang="nl-NL" dirty="0"/>
                  <a:t> case I </a:t>
                </a:r>
                <a:r>
                  <a:rPr lang="nl-NL" dirty="0" err="1"/>
                  <a:t>mean</a:t>
                </a:r>
                <a:r>
                  <a:rPr lang="nl-NL" dirty="0"/>
                  <a:t> “… (5+4)/3 …” </a:t>
                </a:r>
                <a:r>
                  <a:rPr lang="nl-NL" dirty="0" err="1"/>
                  <a:t>with</a:t>
                </a:r>
                <a:r>
                  <a:rPr lang="nl-NL" dirty="0"/>
                  <a:t> it.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dot (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nl-NL" dirty="0"/>
                  <a:t>) is of course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commonly</a:t>
                </a:r>
                <a:r>
                  <a:rPr lang="nl-NL" dirty="0"/>
                  <a:t> </a:t>
                </a:r>
                <a:r>
                  <a:rPr lang="nl-NL" dirty="0" err="1"/>
                  <a:t>used</a:t>
                </a:r>
                <a:r>
                  <a:rPr lang="nl-NL" dirty="0"/>
                  <a:t> </a:t>
                </a:r>
                <a:r>
                  <a:rPr lang="nl-NL" dirty="0" err="1"/>
                  <a:t>multiplication</a:t>
                </a:r>
                <a:r>
                  <a:rPr lang="nl-NL" dirty="0"/>
                  <a:t> </a:t>
                </a:r>
                <a:r>
                  <a:rPr lang="nl-NL" dirty="0" err="1"/>
                  <a:t>sign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 </a:t>
                </a:r>
                <a:r>
                  <a:rPr lang="nl-NL" dirty="0" err="1"/>
                  <a:t>and</a:t>
                </a:r>
                <a:r>
                  <a:rPr lang="nl-NL" dirty="0"/>
                  <a:t> is </a:t>
                </a:r>
                <a:r>
                  <a:rPr lang="nl-NL" dirty="0" err="1"/>
                  <a:t>often</a:t>
                </a:r>
                <a:r>
                  <a:rPr lang="nl-NL" dirty="0"/>
                  <a:t> </a:t>
                </a:r>
                <a:r>
                  <a:rPr lang="nl-NL" dirty="0" err="1"/>
                  <a:t>preferred</a:t>
                </a:r>
                <a:r>
                  <a:rPr lang="nl-NL" dirty="0"/>
                  <a:t> over </a:t>
                </a:r>
                <a:r>
                  <a:rPr lang="nl-NL" dirty="0" err="1"/>
                  <a:t>the</a:t>
                </a:r>
                <a:r>
                  <a:rPr lang="nl-NL" dirty="0"/>
                  <a:t> ×.</a:t>
                </a:r>
                <a:br>
                  <a:rPr lang="nl-NL" dirty="0"/>
                </a:br>
                <a:endParaRPr lang="nl-NL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  <a:blipFill>
                <a:blip r:embed="rId2"/>
                <a:stretch>
                  <a:fillRect l="-1043" t="-230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/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876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C9BD-A2FD-6F11-ED04-8B831E67E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D2DDB-BC2E-B91E-5F93-748ED11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>
                <a:solidFill>
                  <a:srgbClr val="FF0000"/>
                </a:solidFill>
              </a:rPr>
              <a:t>B</a:t>
            </a:r>
            <a:r>
              <a:rPr lang="nl-NL" dirty="0"/>
              <a:t>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nl-NL" dirty="0"/>
                  <a:t>- Step 1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be</a:t>
                </a:r>
                <a:r>
                  <a:rPr lang="nl-NL" dirty="0"/>
                  <a:t> </a:t>
                </a:r>
                <a:r>
                  <a:rPr lang="nl-NL" dirty="0" err="1"/>
                  <a:t>looking</a:t>
                </a:r>
                <a:r>
                  <a:rPr lang="nl-NL" dirty="0"/>
                  <a:t> at </a:t>
                </a:r>
                <a:r>
                  <a:rPr lang="nl-NL" dirty="0" err="1">
                    <a:solidFill>
                      <a:srgbClr val="FF0000"/>
                    </a:solidFill>
                  </a:rPr>
                  <a:t>B</a:t>
                </a:r>
                <a:r>
                  <a:rPr lang="nl-NL" dirty="0" err="1"/>
                  <a:t>rackets</a:t>
                </a:r>
                <a:r>
                  <a:rPr lang="nl-NL" dirty="0"/>
                  <a:t>. We </a:t>
                </a:r>
                <a:r>
                  <a:rPr lang="nl-NL" dirty="0" err="1"/>
                  <a:t>see</a:t>
                </a:r>
                <a:r>
                  <a:rPr lang="nl-NL" dirty="0"/>
                  <a:t> </a:t>
                </a:r>
                <a:r>
                  <a:rPr lang="nl-NL" dirty="0" err="1"/>
                  <a:t>this</a:t>
                </a:r>
                <a:r>
                  <a:rPr lang="nl-NL" dirty="0"/>
                  <a:t> part in </a:t>
                </a:r>
                <a:r>
                  <a:rPr lang="nl-NL" dirty="0" err="1"/>
                  <a:t>particular</a:t>
                </a:r>
                <a:r>
                  <a:rPr lang="nl-NL" dirty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5+4</m:t>
                        </m:r>
                      </m:e>
                    </m:d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which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have </a:t>
                </a:r>
                <a:r>
                  <a:rPr lang="nl-NL" dirty="0" err="1"/>
                  <a:t>to</a:t>
                </a:r>
                <a:r>
                  <a:rPr lang="nl-NL" dirty="0"/>
                  <a:t> focus on first. Well (5+4)=(9) </a:t>
                </a:r>
                <a:r>
                  <a:rPr lang="nl-NL" dirty="0" err="1"/>
                  <a:t>so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place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in here </a:t>
                </a:r>
                <a:r>
                  <a:rPr lang="nl-NL" dirty="0">
                    <a:solidFill>
                      <a:srgbClr val="FFFF00"/>
                    </a:solidFill>
                  </a:rPr>
                  <a:t>[we </a:t>
                </a:r>
                <a:r>
                  <a:rPr lang="nl-NL" dirty="0" err="1">
                    <a:solidFill>
                      <a:srgbClr val="FFFF00"/>
                    </a:solidFill>
                  </a:rPr>
                  <a:t>also</a:t>
                </a:r>
                <a:r>
                  <a:rPr lang="nl-NL" dirty="0">
                    <a:solidFill>
                      <a:srgbClr val="FFFF00"/>
                    </a:solidFill>
                  </a:rPr>
                  <a:t> get </a:t>
                </a:r>
                <a:r>
                  <a:rPr lang="nl-NL" dirty="0" err="1">
                    <a:solidFill>
                      <a:srgbClr val="FFFF00"/>
                    </a:solidFill>
                  </a:rPr>
                  <a:t>rid</a:t>
                </a:r>
                <a:r>
                  <a:rPr lang="nl-NL" dirty="0">
                    <a:solidFill>
                      <a:srgbClr val="FFFF00"/>
                    </a:solidFill>
                  </a:rPr>
                  <a:t> of </a:t>
                </a:r>
                <a:r>
                  <a:rPr lang="nl-NL" dirty="0" err="1">
                    <a:solidFill>
                      <a:srgbClr val="FFFF00"/>
                    </a:solidFill>
                  </a:rPr>
                  <a:t>the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brackets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around</a:t>
                </a:r>
                <a:r>
                  <a:rPr lang="nl-NL" dirty="0">
                    <a:solidFill>
                      <a:srgbClr val="FFFF00"/>
                    </a:solidFill>
                  </a:rPr>
                  <a:t> 9 </a:t>
                </a:r>
                <a:r>
                  <a:rPr lang="nl-NL" dirty="0" err="1">
                    <a:solidFill>
                      <a:srgbClr val="FFFF00"/>
                    </a:solidFill>
                  </a:rPr>
                  <a:t>because</a:t>
                </a:r>
                <a:r>
                  <a:rPr lang="nl-NL" dirty="0">
                    <a:solidFill>
                      <a:srgbClr val="FFFF00"/>
                    </a:solidFill>
                  </a:rPr>
                  <a:t> we </a:t>
                </a:r>
                <a:r>
                  <a:rPr lang="nl-NL" dirty="0" err="1">
                    <a:solidFill>
                      <a:srgbClr val="FFFF00"/>
                    </a:solidFill>
                  </a:rPr>
                  <a:t>simplified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what</a:t>
                </a:r>
                <a:r>
                  <a:rPr lang="nl-NL" dirty="0">
                    <a:solidFill>
                      <a:srgbClr val="FFFF00"/>
                    </a:solidFill>
                  </a:rPr>
                  <a:t> is in </a:t>
                </a:r>
                <a:r>
                  <a:rPr lang="nl-NL" dirty="0" err="1">
                    <a:solidFill>
                      <a:srgbClr val="FFFF00"/>
                    </a:solidFill>
                  </a:rPr>
                  <a:t>it</a:t>
                </a:r>
                <a:r>
                  <a:rPr lang="nl-NL" dirty="0">
                    <a:solidFill>
                      <a:srgbClr val="FFFF00"/>
                    </a:solidFill>
                  </a:rPr>
                  <a:t>]</a:t>
                </a:r>
                <a:r>
                  <a:rPr lang="nl-NL" dirty="0"/>
                  <a:t>: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  <a:blipFill>
                <a:blip r:embed="rId2"/>
                <a:stretch>
                  <a:fillRect l="-1217" t="-2439" r="-87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/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/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748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515AC-9429-FD43-4A3D-7BC737E57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604C5D-A47E-94B2-21C0-3CD3056E5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02CF88E-B5AB-25F5-E96C-DE1929B2B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br>
              <a:rPr lang="nl-NL" dirty="0"/>
            </a:br>
            <a:r>
              <a:rPr lang="nl-NL" dirty="0"/>
              <a:t>- Step 2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looking</a:t>
            </a:r>
            <a:r>
              <a:rPr lang="nl-NL" dirty="0"/>
              <a:t> at 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ndices. We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of </a:t>
            </a:r>
            <a:r>
              <a:rPr lang="nl-NL" dirty="0" err="1"/>
              <a:t>them</a:t>
            </a:r>
            <a:r>
              <a:rPr lang="nl-NL" dirty="0"/>
              <a:t>: 2^4 </a:t>
            </a:r>
            <a:r>
              <a:rPr lang="nl-NL" dirty="0" err="1"/>
              <a:t>and</a:t>
            </a:r>
            <a:r>
              <a:rPr lang="nl-NL" dirty="0"/>
              <a:t> 27^(1/3) </a:t>
            </a:r>
            <a:r>
              <a:rPr lang="nl-NL" dirty="0" err="1"/>
              <a:t>which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simplify</a:t>
            </a:r>
            <a:r>
              <a:rPr lang="nl-NL" dirty="0"/>
              <a:t>. We </a:t>
            </a:r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2^4=16  </a:t>
            </a:r>
            <a:r>
              <a:rPr lang="nl-NL" dirty="0" err="1"/>
              <a:t>and</a:t>
            </a:r>
            <a:r>
              <a:rPr lang="nl-NL" dirty="0"/>
              <a:t> 27^(1/3)=3,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substitute</a:t>
            </a:r>
            <a:r>
              <a:rPr lang="nl-NL" dirty="0"/>
              <a:t> </a:t>
            </a:r>
            <a:r>
              <a:rPr lang="nl-NL" dirty="0" err="1"/>
              <a:t>those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equation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/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/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16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31592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B4BB2-2D6F-0B25-7EAF-8AA08697A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64B7BA-85C8-B653-64B1-424247DFC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33FD931-0901-2A4C-DD1B-B84E2DF73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r>
              <a:rPr lang="nl-NL" dirty="0"/>
              <a:t>- Step 3 concerns </a:t>
            </a:r>
            <a:r>
              <a:rPr lang="nl-NL" dirty="0" err="1">
                <a:solidFill>
                  <a:schemeClr val="accent1"/>
                </a:solidFill>
              </a:rPr>
              <a:t>D</a:t>
            </a:r>
            <a:r>
              <a:rPr lang="nl-NL" dirty="0" err="1"/>
              <a:t>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>
                <a:solidFill>
                  <a:schemeClr val="accent1"/>
                </a:solidFill>
              </a:rPr>
              <a:t>M</a:t>
            </a:r>
            <a:r>
              <a:rPr lang="nl-NL" dirty="0" err="1"/>
              <a:t>ultiplication</a:t>
            </a:r>
            <a:r>
              <a:rPr lang="nl-NL" dirty="0"/>
              <a:t>.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is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elements</a:t>
            </a:r>
            <a:r>
              <a:rPr lang="nl-NL" dirty="0"/>
              <a:t> 6*9 </a:t>
            </a:r>
            <a:r>
              <a:rPr lang="nl-NL" dirty="0" err="1"/>
              <a:t>and</a:t>
            </a:r>
            <a:r>
              <a:rPr lang="nl-NL" dirty="0"/>
              <a:t> 9/3. </a:t>
            </a:r>
            <a:r>
              <a:rPr lang="nl-NL" dirty="0" err="1"/>
              <a:t>However</a:t>
            </a:r>
            <a:r>
              <a:rPr lang="nl-NL" dirty="0"/>
              <a:t> these </a:t>
            </a:r>
            <a:r>
              <a:rPr lang="nl-NL" dirty="0" err="1"/>
              <a:t>elements</a:t>
            </a:r>
            <a:r>
              <a:rPr lang="nl-NL" dirty="0"/>
              <a:t> are next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looped</a:t>
            </a:r>
            <a:r>
              <a:rPr lang="nl-NL" dirty="0"/>
              <a:t>: 6*9/3. But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equal</a:t>
            </a:r>
            <a:r>
              <a:rPr lang="nl-NL" dirty="0"/>
              <a:t> right? Yes. Okay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?</a:t>
            </a:r>
          </a:p>
          <a:p>
            <a:pPr marL="0" indent="0">
              <a:buNone/>
            </a:pPr>
            <a:br>
              <a:rPr lang="nl-NL" dirty="0"/>
            </a:br>
            <a:r>
              <a:rPr lang="nl-NL" dirty="0"/>
              <a:t>- </a:t>
            </a:r>
            <a:r>
              <a:rPr lang="nl-NL" dirty="0" err="1"/>
              <a:t>Remember</a:t>
            </a:r>
            <a:r>
              <a:rPr lang="nl-NL" dirty="0"/>
              <a:t>!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first </a:t>
            </a:r>
            <a:r>
              <a:rPr lang="nl-NL" dirty="0" err="1"/>
              <a:t>solve</a:t>
            </a:r>
            <a:r>
              <a:rPr lang="nl-NL" dirty="0"/>
              <a:t> 6*9=</a:t>
            </a:r>
            <a:r>
              <a:rPr lang="nl-NL" dirty="0">
                <a:solidFill>
                  <a:schemeClr val="accent4"/>
                </a:solidFill>
              </a:rPr>
              <a:t>54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/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/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50385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B8CDE-033A-0A73-2840-70338EDFD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480726-8B9E-A98E-D2FC-2E93CEE53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3C61FD-948B-7F89-FA29-AD67BF1A1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Subsequently</a:t>
            </a:r>
            <a:r>
              <a:rPr lang="nl-NL" dirty="0"/>
              <a:t>, we </a:t>
            </a:r>
            <a:r>
              <a:rPr lang="nl-NL" dirty="0" err="1"/>
              <a:t>solve</a:t>
            </a:r>
            <a:r>
              <a:rPr lang="nl-NL" dirty="0"/>
              <a:t> 54/3 = </a:t>
            </a:r>
            <a:r>
              <a:rPr lang="nl-NL" dirty="0">
                <a:solidFill>
                  <a:schemeClr val="accent4"/>
                </a:solidFill>
              </a:rPr>
              <a:t>18</a:t>
            </a:r>
            <a:r>
              <a:rPr lang="nl-NL" dirty="0"/>
              <a:t> </a:t>
            </a:r>
            <a:r>
              <a:rPr lang="nl-NL" dirty="0">
                <a:solidFill>
                  <a:srgbClr val="FFFF00"/>
                </a:solidFill>
              </a:rPr>
              <a:t>[</a:t>
            </a:r>
            <a:r>
              <a:rPr lang="nl-NL" dirty="0" err="1">
                <a:solidFill>
                  <a:srgbClr val="FFFF00"/>
                </a:solidFill>
              </a:rPr>
              <a:t>one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could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use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tail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division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for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this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if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you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didnt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know</a:t>
            </a:r>
            <a:r>
              <a:rPr lang="nl-NL" dirty="0">
                <a:solidFill>
                  <a:srgbClr val="FFFF00"/>
                </a:solidFill>
              </a:rPr>
              <a:t> or </a:t>
            </a:r>
            <a:r>
              <a:rPr lang="nl-NL" dirty="0" err="1">
                <a:solidFill>
                  <a:srgbClr val="FFFF00"/>
                </a:solidFill>
              </a:rPr>
              <a:t>the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fact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that</a:t>
            </a:r>
            <a:r>
              <a:rPr lang="nl-NL" dirty="0">
                <a:solidFill>
                  <a:srgbClr val="FFFF00"/>
                </a:solidFill>
              </a:rPr>
              <a:t> 27/3 = 9 </a:t>
            </a:r>
            <a:r>
              <a:rPr lang="nl-NL" dirty="0" err="1">
                <a:solidFill>
                  <a:srgbClr val="FFFF00"/>
                </a:solidFill>
              </a:rPr>
              <a:t>and</a:t>
            </a:r>
            <a:r>
              <a:rPr lang="nl-NL" dirty="0">
                <a:solidFill>
                  <a:srgbClr val="FFFF00"/>
                </a:solidFill>
              </a:rPr>
              <a:t> 54/3 = 2 * 27/3 = 2*9=18; </a:t>
            </a:r>
            <a:r>
              <a:rPr lang="nl-NL" dirty="0" err="1">
                <a:solidFill>
                  <a:srgbClr val="FFFF00"/>
                </a:solidFill>
              </a:rPr>
              <a:t>thats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how</a:t>
            </a:r>
            <a:r>
              <a:rPr lang="nl-NL" dirty="0">
                <a:solidFill>
                  <a:srgbClr val="FFFF00"/>
                </a:solidFill>
              </a:rPr>
              <a:t> I </a:t>
            </a:r>
            <a:r>
              <a:rPr lang="nl-NL" dirty="0" err="1">
                <a:solidFill>
                  <a:srgbClr val="FFFF00"/>
                </a:solidFill>
              </a:rPr>
              <a:t>did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anyway</a:t>
            </a:r>
            <a:r>
              <a:rPr lang="nl-NL" dirty="0">
                <a:solidFill>
                  <a:srgbClr val="FFFF00"/>
                </a:solidFill>
              </a:rPr>
              <a:t>]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/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/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2712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1BCA4-AC19-77F7-DF62-9C68D0B3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2A4A8-A2BA-0E80-19E8-F6B3BC6F4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</a:t>
            </a:r>
            <a:r>
              <a:rPr lang="nl-NL" dirty="0">
                <a:solidFill>
                  <a:schemeClr val="accent2"/>
                </a:solidFill>
              </a:rPr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D9B1A8-D3D8-4470-638D-0E60030C5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640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>
              <a:buFontTx/>
              <a:buChar char="-"/>
            </a:pPr>
            <a:r>
              <a:rPr lang="nl-NL" dirty="0"/>
              <a:t>We have </a:t>
            </a:r>
            <a:r>
              <a:rPr lang="nl-NL" dirty="0" err="1"/>
              <a:t>arrived</a:t>
            </a:r>
            <a:r>
              <a:rPr lang="nl-NL" dirty="0"/>
              <a:t> at </a:t>
            </a:r>
            <a:r>
              <a:rPr lang="nl-NL" dirty="0" err="1"/>
              <a:t>the</a:t>
            </a:r>
            <a:r>
              <a:rPr lang="nl-NL" dirty="0"/>
              <a:t> last stage: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. We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solve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 here,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like </a:t>
            </a:r>
            <a:r>
              <a:rPr lang="nl-NL" dirty="0" err="1"/>
              <a:t>this</a:t>
            </a:r>
            <a:r>
              <a:rPr lang="nl-NL" dirty="0"/>
              <a:t>: (((3+18)-16)+3). [but </a:t>
            </a:r>
            <a:r>
              <a:rPr lang="nl-NL" dirty="0" err="1"/>
              <a:t>dont</a:t>
            </a:r>
            <a:r>
              <a:rPr lang="nl-NL" dirty="0"/>
              <a:t> </a:t>
            </a:r>
            <a:r>
              <a:rPr lang="nl-NL" dirty="0" err="1"/>
              <a:t>please</a:t>
            </a:r>
            <a:r>
              <a:rPr lang="nl-NL" dirty="0"/>
              <a:t>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remember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right].</a:t>
            </a:r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Anyhow</a:t>
            </a:r>
            <a:r>
              <a:rPr lang="nl-NL" dirty="0"/>
              <a:t>, 3+18=21, </a:t>
            </a:r>
            <a:r>
              <a:rPr lang="nl-NL" dirty="0" err="1"/>
              <a:t>then</a:t>
            </a:r>
            <a:r>
              <a:rPr lang="nl-NL" dirty="0"/>
              <a:t> 21-16=5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lastly</a:t>
            </a:r>
            <a:r>
              <a:rPr lang="nl-NL" dirty="0"/>
              <a:t> 5+3=8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voila</a:t>
            </a:r>
            <a:r>
              <a:rPr lang="nl-NL" dirty="0"/>
              <a:t> we are have found </a:t>
            </a:r>
            <a:r>
              <a:rPr lang="nl-NL" dirty="0" err="1"/>
              <a:t>our</a:t>
            </a:r>
            <a:r>
              <a:rPr lang="nl-NL" dirty="0"/>
              <a:t> </a:t>
            </a:r>
            <a:r>
              <a:rPr lang="nl-NL" dirty="0" err="1"/>
              <a:t>final</a:t>
            </a:r>
            <a:r>
              <a:rPr lang="nl-NL" dirty="0"/>
              <a:t> </a:t>
            </a:r>
            <a:r>
              <a:rPr lang="nl-NL" dirty="0" err="1"/>
              <a:t>answer</a:t>
            </a:r>
            <a:r>
              <a:rPr lang="nl-NL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/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3+18</m:t>
                      </m:r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/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39242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D66247-46F5-2BA8-AABC-E917A4280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Notes</a:t>
            </a:r>
            <a:r>
              <a:rPr lang="nl-NL" dirty="0"/>
              <a:t> on 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NL" dirty="0"/>
                  <a:t>Inside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, </a:t>
                </a:r>
                <a:r>
                  <a:rPr lang="nl-NL" dirty="0" err="1"/>
                  <a:t>the</a:t>
                </a:r>
                <a:r>
                  <a:rPr lang="nl-NL" dirty="0"/>
                  <a:t> BIDMAS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holds</a:t>
                </a:r>
                <a:r>
                  <a:rPr lang="nl-NL" dirty="0"/>
                  <a:t> like </a:t>
                </a:r>
                <a:r>
                  <a:rPr lang="nl-NL" dirty="0" err="1"/>
                  <a:t>for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 in: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(5−</m:t>
                    </m:r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nl-NL" dirty="0"/>
                  <a:t>, </a:t>
                </a:r>
                <a:r>
                  <a:rPr lang="nl-NL" dirty="0" err="1"/>
                  <a:t>you</a:t>
                </a:r>
                <a:r>
                  <a:rPr lang="nl-NL" dirty="0"/>
                  <a:t> first </a:t>
                </a:r>
                <a:r>
                  <a:rPr lang="nl-NL" dirty="0" err="1"/>
                  <a:t>simplify</a:t>
                </a:r>
                <a:r>
                  <a:rPr lang="nl-NL" dirty="0"/>
                  <a:t> 6^2=36, </a:t>
                </a:r>
                <a:r>
                  <a:rPr lang="nl-NL" dirty="0" err="1"/>
                  <a:t>then</a:t>
                </a:r>
                <a:r>
                  <a:rPr lang="nl-NL" dirty="0"/>
                  <a:t> do 5-36=-29, </a:t>
                </a:r>
                <a:r>
                  <a:rPr lang="nl-NL" dirty="0" err="1"/>
                  <a:t>afterwards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do 3^3=27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do 27 (3^3) * -29 (</a:t>
                </a:r>
                <a:r>
                  <a:rPr lang="nl-NL" dirty="0" err="1"/>
                  <a:t>result</a:t>
                </a:r>
                <a:r>
                  <a:rPr lang="nl-NL" dirty="0"/>
                  <a:t> </a:t>
                </a:r>
                <a:r>
                  <a:rPr lang="nl-NL" dirty="0" err="1"/>
                  <a:t>from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).</a:t>
                </a:r>
              </a:p>
              <a:p>
                <a:r>
                  <a:rPr lang="nl-NL" dirty="0"/>
                  <a:t>A </a:t>
                </a:r>
                <a:r>
                  <a:rPr lang="nl-NL" dirty="0" err="1"/>
                  <a:t>fraction</a:t>
                </a:r>
                <a:r>
                  <a:rPr lang="nl-NL" dirty="0"/>
                  <a:t> like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nl-NL" dirty="0"/>
                  <a:t> is </a:t>
                </a:r>
                <a:r>
                  <a:rPr lang="nl-NL" dirty="0" err="1"/>
                  <a:t>mathematically</a:t>
                </a:r>
                <a:r>
                  <a:rPr lang="nl-NL" dirty="0"/>
                  <a:t> </a:t>
                </a:r>
                <a:r>
                  <a:rPr lang="nl-NL" dirty="0" err="1"/>
                  <a:t>similar</a:t>
                </a:r>
                <a:r>
                  <a:rPr lang="nl-NL" dirty="0"/>
                  <a:t> </a:t>
                </a:r>
                <a:r>
                  <a:rPr lang="nl-NL" dirty="0" err="1"/>
                  <a:t>to</a:t>
                </a:r>
                <a:r>
                  <a:rPr lang="nl-NL" dirty="0"/>
                  <a:t> 1÷3 </a:t>
                </a:r>
                <a:r>
                  <a:rPr lang="nl-NL" dirty="0" err="1"/>
                  <a:t>so</a:t>
                </a:r>
                <a:r>
                  <a:rPr lang="nl-NL" dirty="0"/>
                  <a:t> take </a:t>
                </a:r>
                <a:r>
                  <a:rPr lang="nl-NL" dirty="0" err="1"/>
                  <a:t>this</a:t>
                </a:r>
                <a:r>
                  <a:rPr lang="nl-NL" dirty="0"/>
                  <a:t> </a:t>
                </a:r>
                <a:r>
                  <a:rPr lang="nl-NL" dirty="0" err="1"/>
                  <a:t>into</a:t>
                </a:r>
                <a:r>
                  <a:rPr lang="nl-NL" dirty="0"/>
                  <a:t> account </a:t>
                </a:r>
                <a:r>
                  <a:rPr lang="nl-NL" dirty="0" err="1"/>
                  <a:t>when</a:t>
                </a:r>
                <a:r>
                  <a:rPr lang="nl-NL" dirty="0"/>
                  <a:t> </a:t>
                </a:r>
                <a:r>
                  <a:rPr lang="nl-NL" dirty="0" err="1"/>
                  <a:t>doing</a:t>
                </a:r>
                <a:r>
                  <a:rPr lang="nl-NL" dirty="0"/>
                  <a:t> BIDMAS!</a:t>
                </a:r>
              </a:p>
              <a:p>
                <a:r>
                  <a:rPr lang="nl-NL" dirty="0"/>
                  <a:t>In case of </a:t>
                </a:r>
                <a:r>
                  <a:rPr lang="nl-NL" dirty="0">
                    <a:solidFill>
                      <a:srgbClr val="FF0000"/>
                    </a:solidFill>
                  </a:rPr>
                  <a:t>multiple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/>
                  <a:t> like 2+(3-(5+7)), </a:t>
                </a:r>
                <a:r>
                  <a:rPr lang="nl-NL" dirty="0">
                    <a:solidFill>
                      <a:srgbClr val="FF0000"/>
                    </a:solidFill>
                  </a:rPr>
                  <a:t>do </a:t>
                </a:r>
                <a:r>
                  <a:rPr lang="nl-NL" dirty="0" err="1">
                    <a:solidFill>
                      <a:srgbClr val="FF0000"/>
                    </a:solidFill>
                  </a:rPr>
                  <a:t>the</a:t>
                </a:r>
                <a:r>
                  <a:rPr lang="nl-NL" dirty="0">
                    <a:solidFill>
                      <a:srgbClr val="FF0000"/>
                    </a:solidFill>
                  </a:rPr>
                  <a:t> (most) </a:t>
                </a:r>
                <a:r>
                  <a:rPr lang="nl-NL" dirty="0" err="1">
                    <a:solidFill>
                      <a:srgbClr val="FF0000"/>
                    </a:solidFill>
                  </a:rPr>
                  <a:t>inner</a:t>
                </a:r>
                <a:r>
                  <a:rPr lang="nl-NL" dirty="0">
                    <a:solidFill>
                      <a:srgbClr val="FF0000"/>
                    </a:solidFill>
                  </a:rPr>
                  <a:t>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>
                    <a:solidFill>
                      <a:srgbClr val="FF0000"/>
                    </a:solidFill>
                  </a:rPr>
                  <a:t> first</a:t>
                </a:r>
                <a:r>
                  <a:rPr lang="nl-NL" dirty="0"/>
                  <a:t>! </a:t>
                </a:r>
                <a:r>
                  <a:rPr lang="nl-NL" dirty="0" err="1"/>
                  <a:t>So</a:t>
                </a:r>
                <a:r>
                  <a:rPr lang="nl-NL" dirty="0"/>
                  <a:t> first do (5+7)=12 </a:t>
                </a:r>
                <a:r>
                  <a:rPr lang="nl-NL" dirty="0" err="1"/>
                  <a:t>such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get 2+(3-12)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outer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 (or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one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is </a:t>
                </a:r>
                <a:r>
                  <a:rPr lang="nl-NL" dirty="0" err="1"/>
                  <a:t>the</a:t>
                </a:r>
                <a:r>
                  <a:rPr lang="nl-NL" dirty="0"/>
                  <a:t> most </a:t>
                </a:r>
                <a:r>
                  <a:rPr lang="nl-NL" dirty="0" err="1"/>
                  <a:t>inner</a:t>
                </a:r>
                <a:r>
                  <a:rPr lang="nl-NL" dirty="0"/>
                  <a:t> </a:t>
                </a:r>
                <a:r>
                  <a:rPr lang="nl-NL" dirty="0" err="1"/>
                  <a:t>now</a:t>
                </a:r>
                <a:r>
                  <a:rPr lang="nl-NL" dirty="0"/>
                  <a:t>)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630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666</Words>
  <Application>Microsoft Office PowerPoint</Application>
  <PresentationFormat>Breedbeeld</PresentationFormat>
  <Paragraphs>40</Paragraphs>
  <Slides>45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45</vt:i4>
      </vt:variant>
    </vt:vector>
  </HeadingPairs>
  <TitlesOfParts>
    <vt:vector size="50" baseType="lpstr">
      <vt:lpstr>Aptos</vt:lpstr>
      <vt:lpstr>Aptos Display</vt:lpstr>
      <vt:lpstr>Arial</vt:lpstr>
      <vt:lpstr>Cambria Math</vt:lpstr>
      <vt:lpstr>Kantoorthema</vt:lpstr>
      <vt:lpstr>Powers, roots, scientific notation and BIDMAS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BIDMAS</vt:lpstr>
      <vt:lpstr>BIDMAS</vt:lpstr>
      <vt:lpstr>BIDMAS</vt:lpstr>
      <vt:lpstr>BIDMAS</vt:lpstr>
      <vt:lpstr>BIDMAS</vt:lpstr>
      <vt:lpstr>BIDMAS</vt:lpstr>
      <vt:lpstr>BIDMAS</vt:lpstr>
      <vt:lpstr>Notes on BIDMAS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24</cp:revision>
  <dcterms:created xsi:type="dcterms:W3CDTF">2026-07-15T18:23:39Z</dcterms:created>
  <dcterms:modified xsi:type="dcterms:W3CDTF">2026-08-08T13:31:44Z</dcterms:modified>
</cp:coreProperties>
</file>