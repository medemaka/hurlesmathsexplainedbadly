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7" r:id="rId19"/>
    <p:sldId id="298" r:id="rId20"/>
    <p:sldId id="273" r:id="rId21"/>
    <p:sldId id="274" r:id="rId22"/>
    <p:sldId id="301" r:id="rId23"/>
    <p:sldId id="275" r:id="rId24"/>
    <p:sldId id="276" r:id="rId25"/>
    <p:sldId id="299" r:id="rId26"/>
    <p:sldId id="300" r:id="rId27"/>
    <p:sldId id="302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3B964B-E4CB-2D6E-449D-ECD31DBAF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45A6EB2-4045-156E-6BFA-A748F3204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F03DE23-0BAC-D2E5-2FB2-192ABD745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221D-113D-46B3-A0C5-C06C4D6C4819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ECB82AA-CCB1-53E1-ED2A-74516C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AF515B5-D474-13E9-6923-5A299DEB3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50F1-0CD2-4D55-9D85-A07EA00EF5A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2312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BA637E-8E79-CEB6-4CD1-CA5975D24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3BDAA73-7C81-9B8F-D71A-B96235DFC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0B91D1F-50EB-C068-117B-98FCE1CEC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221D-113D-46B3-A0C5-C06C4D6C4819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E05313E-36C0-C679-2D86-82B74B24E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B95B7BD-98FC-20A5-F8C1-F035D93B1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50F1-0CD2-4D55-9D85-A07EA00EF5A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476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337B67-DA4E-E421-D60E-3F761CE86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7BECF57-2346-999F-6AA2-626664702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F4A6814-2002-E6B6-42E7-3612C7B90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221D-113D-46B3-A0C5-C06C4D6C4819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B50B598-6656-A70D-129F-E1DE33D0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4723665-8A87-3320-93A6-E0F530DBB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50F1-0CD2-4D55-9D85-A07EA00EF5A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711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2351FF-92DB-3B7C-97BA-B0B1010BC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1767A4E-8CDC-4694-7839-A1082DA60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6F0DC85-08B2-99D8-C379-36AB7EAB1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4060B1F-0BB9-1CAB-4BC7-59C189AA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221D-113D-46B3-A0C5-C06C4D6C4819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19D4654-9E02-57D2-99D5-8A334A6E6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EE8E90D-F3F3-3170-B049-66CFC2FC2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50F1-0CD2-4D55-9D85-A07EA00EF5A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602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647F2F-CACF-841C-2E63-6F5E96E8B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94FCE6C-83AC-64C4-AE93-4F300107A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566E48A-A7DF-2A0F-7F06-D01E8BF74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C2CD37-1253-109E-BF6A-C69C5DAA0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46561C4-EE95-C485-60F1-906BC815F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4C7DB61-A1F1-8BF0-0385-5378B924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221D-113D-46B3-A0C5-C06C4D6C4819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933F72B-C3DD-0A76-E7A8-FCB7E265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5080BCD-3C23-7305-93F0-4AE21A4A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50F1-0CD2-4D55-9D85-A07EA00EF5A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5911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496068-33D0-45E1-0812-0E6B1A85B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8628714-575F-80BB-A927-14D105228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221D-113D-46B3-A0C5-C06C4D6C4819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A564DE7-9949-A841-3D2D-CF3F2BBA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A77B6A5-DB07-B0EF-C7EB-AC7C52EE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50F1-0CD2-4D55-9D85-A07EA00EF5A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594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28A2D57-18E7-D899-0B7B-DD31D932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221D-113D-46B3-A0C5-C06C4D6C4819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FC11608-9DA6-ED18-4C27-475E29B2F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A4260D5-FD17-D8F1-096C-DF9B3878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50F1-0CD2-4D55-9D85-A07EA00EF5A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776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785F2F-18EF-DEAE-C823-0CC2FA99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A23A2C0-1220-D667-897D-D80FE885E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69F53EF-3EBA-85FF-6873-93294D16A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CA205D9-DD41-F01C-AA53-AD11B9C1B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221D-113D-46B3-A0C5-C06C4D6C4819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0A155D2-1075-BB43-631B-62846D3D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D931E6F-3B0D-7EF9-9C27-F154FB61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50F1-0CD2-4D55-9D85-A07EA00EF5A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3275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01112-D303-EA65-9969-BFB214F7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546A6FA-2B19-2336-CEAE-B9ADDB0DA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D5D4E1F-9359-8FB3-B40D-3AE677C33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9B8F9BD-2491-B251-D7E9-27B91B84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221D-113D-46B3-A0C5-C06C4D6C4819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C57D2A0-0369-BCD4-7019-94709069A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6D9817C-93CD-0427-0853-8461D6DF8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50F1-0CD2-4D55-9D85-A07EA00EF5A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2906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8E96C6-BA92-2ADC-8B70-48161AFC6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09C85E3-2B8A-1912-C3AB-927EE9AEE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FE3A76A-9B3E-0E83-119A-698D2C755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221D-113D-46B3-A0C5-C06C4D6C4819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BB2C7D-A2CD-02DA-3649-2CEE2E05B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AD3892F-9E83-B60F-4922-A9CC9767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50F1-0CD2-4D55-9D85-A07EA00EF5A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2938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0753EAB6-AD96-96C1-3724-6D7EC308E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D348931-3835-0EB3-AC0D-C662DD5D9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BDA5887-92E4-ECDD-7EDC-AD11D350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221D-113D-46B3-A0C5-C06C4D6C4819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7975E8-5E5B-F8F3-4C02-2C514155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8ADBE9F-9DC2-AD8A-9C39-CC591620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50F1-0CD2-4D55-9D85-A07EA00EF5A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23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CA231CF-41DF-FC17-DF96-A0C6D6555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8AA82F5-B161-C89F-78A1-53C76225A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07C16A1-F5FF-0926-9526-4E9988AF5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B221D-113D-46B3-A0C5-C06C4D6C4819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301D363-EAA2-8DC6-624E-12A9B7908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8C3BA8D-C2F3-7D2B-433F-DBCCB8BA0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950F1-0CD2-4D55-9D85-A07EA00EF5A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53428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10421A-53EB-967E-6478-7DD30733A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Powers, </a:t>
            </a:r>
            <a:r>
              <a:rPr lang="nl-NL" dirty="0" err="1"/>
              <a:t>roots</a:t>
            </a:r>
            <a:r>
              <a:rPr lang="nl-NL" dirty="0"/>
              <a:t>, </a:t>
            </a:r>
            <a:r>
              <a:rPr lang="nl-NL" dirty="0" err="1"/>
              <a:t>scientific</a:t>
            </a:r>
            <a:r>
              <a:rPr lang="nl-NL" dirty="0"/>
              <a:t> </a:t>
            </a:r>
            <a:r>
              <a:rPr lang="nl-NL" dirty="0" err="1"/>
              <a:t>notation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BIDMAS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A09DCD8-D696-4CBA-3A2B-8043B27F04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8727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24)">
            <a:extLst>
              <a:ext uri="{FF2B5EF4-FFF2-40B4-BE49-F238E27FC236}">
                <a16:creationId xmlns:a16="http://schemas.microsoft.com/office/drawing/2014/main" id="{41FDBDE6-6915-ABC5-9237-803ED899BCF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313"/>
            <a:ext cx="12192000" cy="668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90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25)">
            <a:extLst>
              <a:ext uri="{FF2B5EF4-FFF2-40B4-BE49-F238E27FC236}">
                <a16:creationId xmlns:a16="http://schemas.microsoft.com/office/drawing/2014/main" id="{01A92AAD-9A07-1CA1-0FCB-417658FED2D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3" y="0"/>
            <a:ext cx="12004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96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26)">
            <a:extLst>
              <a:ext uri="{FF2B5EF4-FFF2-40B4-BE49-F238E27FC236}">
                <a16:creationId xmlns:a16="http://schemas.microsoft.com/office/drawing/2014/main" id="{290FCE56-728C-8043-09C2-EDA5009A3DE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63"/>
            <a:ext cx="12192000" cy="560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41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46)">
            <a:extLst>
              <a:ext uri="{FF2B5EF4-FFF2-40B4-BE49-F238E27FC236}">
                <a16:creationId xmlns:a16="http://schemas.microsoft.com/office/drawing/2014/main" id="{319D7354-8CBB-FCBE-8970-F6A3084CD8F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5" y="0"/>
            <a:ext cx="11930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788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47)">
            <a:extLst>
              <a:ext uri="{FF2B5EF4-FFF2-40B4-BE49-F238E27FC236}">
                <a16:creationId xmlns:a16="http://schemas.microsoft.com/office/drawing/2014/main" id="{332FAE49-96F9-14B6-7222-C20DE221052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13" y="0"/>
            <a:ext cx="11585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951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48)">
            <a:extLst>
              <a:ext uri="{FF2B5EF4-FFF2-40B4-BE49-F238E27FC236}">
                <a16:creationId xmlns:a16="http://schemas.microsoft.com/office/drawing/2014/main" id="{A7B97060-DE6C-A244-AAA0-E00AAAE4D4E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"/>
            <a:ext cx="12192000" cy="685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235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49)">
            <a:extLst>
              <a:ext uri="{FF2B5EF4-FFF2-40B4-BE49-F238E27FC236}">
                <a16:creationId xmlns:a16="http://schemas.microsoft.com/office/drawing/2014/main" id="{66504807-15E0-2375-1E4F-2230095AD7E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38" y="0"/>
            <a:ext cx="11617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11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50)">
            <a:extLst>
              <a:ext uri="{FF2B5EF4-FFF2-40B4-BE49-F238E27FC236}">
                <a16:creationId xmlns:a16="http://schemas.microsoft.com/office/drawing/2014/main" id="{78D693A7-0403-5D2B-4255-8F08359D4BD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50" y="0"/>
            <a:ext cx="11415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60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51)a">
            <a:extLst>
              <a:ext uri="{FF2B5EF4-FFF2-40B4-BE49-F238E27FC236}">
                <a16:creationId xmlns:a16="http://schemas.microsoft.com/office/drawing/2014/main" id="{C4337383-9E21-460E-EF5B-492DE2201F9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38" y="0"/>
            <a:ext cx="11310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554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51)b">
            <a:extLst>
              <a:ext uri="{FF2B5EF4-FFF2-40B4-BE49-F238E27FC236}">
                <a16:creationId xmlns:a16="http://schemas.microsoft.com/office/drawing/2014/main" id="{3DBE3591-878D-8842-3610-E3C4D1ED946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4013"/>
            <a:ext cx="12192000" cy="360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72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53)">
            <a:extLst>
              <a:ext uri="{FF2B5EF4-FFF2-40B4-BE49-F238E27FC236}">
                <a16:creationId xmlns:a16="http://schemas.microsoft.com/office/drawing/2014/main" id="{B1FB1DC8-D5D2-63B3-8F64-35F982F14D3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663"/>
            <a:ext cx="12192000" cy="666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51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28)">
            <a:extLst>
              <a:ext uri="{FF2B5EF4-FFF2-40B4-BE49-F238E27FC236}">
                <a16:creationId xmlns:a16="http://schemas.microsoft.com/office/drawing/2014/main" id="{6966A9A9-60B3-359D-61C4-283C9F66181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525"/>
            <a:ext cx="12192000" cy="658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9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31)">
            <a:extLst>
              <a:ext uri="{FF2B5EF4-FFF2-40B4-BE49-F238E27FC236}">
                <a16:creationId xmlns:a16="http://schemas.microsoft.com/office/drawing/2014/main" id="{C0ADE00D-7E7A-B717-47B9-DB881ACD80C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750"/>
            <a:ext cx="12192000" cy="5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069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31a)">
            <a:extLst>
              <a:ext uri="{FF2B5EF4-FFF2-40B4-BE49-F238E27FC236}">
                <a16:creationId xmlns:a16="http://schemas.microsoft.com/office/drawing/2014/main" id="{BC7F97A5-7D62-C578-5755-4CC2D9F6276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0"/>
            <a:ext cx="1188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053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31b)">
            <a:extLst>
              <a:ext uri="{FF2B5EF4-FFF2-40B4-BE49-F238E27FC236}">
                <a16:creationId xmlns:a16="http://schemas.microsoft.com/office/drawing/2014/main" id="{6D14491D-193D-1676-283B-617099AEB2E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5013"/>
            <a:ext cx="12192000" cy="538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32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52)">
            <a:extLst>
              <a:ext uri="{FF2B5EF4-FFF2-40B4-BE49-F238E27FC236}">
                <a16:creationId xmlns:a16="http://schemas.microsoft.com/office/drawing/2014/main" id="{E55A5A13-86C3-E0EF-1FA2-5718B068CC7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625"/>
            <a:ext cx="12192000" cy="650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75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A05A34F4-4923-08D0-E6D6-FB6A06867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5017"/>
            <a:ext cx="12192000" cy="532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774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4502-6884-6B88-D40C-4C2B536EE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CAB66F9F-92E8-5827-09EB-0ECBEC37F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356"/>
            <a:ext cx="12192000" cy="5749287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4C9B7309-46C6-E41B-F23C-2C073CCBF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34" y="1883229"/>
            <a:ext cx="11840409" cy="3189514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46308E76-EE90-79E3-281D-6151E418C376}"/>
              </a:ext>
            </a:extLst>
          </p:cNvPr>
          <p:cNvSpPr txBox="1"/>
          <p:nvPr/>
        </p:nvSpPr>
        <p:spPr>
          <a:xfrm>
            <a:off x="6193971" y="3244333"/>
            <a:ext cx="6302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ORDER DOESNT MATTER AS YOU CAN SEE!</a:t>
            </a:r>
          </a:p>
        </p:txBody>
      </p:sp>
    </p:spTree>
    <p:extLst>
      <p:ext uri="{BB962C8B-B14F-4D97-AF65-F5344CB8AC3E}">
        <p14:creationId xmlns:p14="http://schemas.microsoft.com/office/powerpoint/2010/main" val="940639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32)">
            <a:extLst>
              <a:ext uri="{FF2B5EF4-FFF2-40B4-BE49-F238E27FC236}">
                <a16:creationId xmlns:a16="http://schemas.microsoft.com/office/drawing/2014/main" id="{1B3FDC34-D67B-09C9-BD92-9DF75FBB967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75" y="0"/>
            <a:ext cx="110156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821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33)">
            <a:extLst>
              <a:ext uri="{FF2B5EF4-FFF2-40B4-BE49-F238E27FC236}">
                <a16:creationId xmlns:a16="http://schemas.microsoft.com/office/drawing/2014/main" id="{9E173807-A86C-D1E2-D67E-813636CF420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275"/>
            <a:ext cx="12192000" cy="6267450"/>
          </a:xfrm>
          <a:prstGeom prst="rect">
            <a:avLst/>
          </a:prstGeom>
        </p:spPr>
      </p:pic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5DA62314-D99E-E99C-2D23-B3278CAD5E59}"/>
              </a:ext>
            </a:extLst>
          </p:cNvPr>
          <p:cNvCxnSpPr/>
          <p:nvPr/>
        </p:nvCxnSpPr>
        <p:spPr>
          <a:xfrm>
            <a:off x="4834467" y="4216400"/>
            <a:ext cx="1354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969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8F0177F3-2F9F-80C6-D758-C20D83394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0114"/>
            <a:ext cx="12192000" cy="611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15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35)">
            <a:extLst>
              <a:ext uri="{FF2B5EF4-FFF2-40B4-BE49-F238E27FC236}">
                <a16:creationId xmlns:a16="http://schemas.microsoft.com/office/drawing/2014/main" id="{6211D816-F220-4D62-5E9D-D8BAF566D80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738"/>
            <a:ext cx="12192000" cy="674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444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36)">
            <a:extLst>
              <a:ext uri="{FF2B5EF4-FFF2-40B4-BE49-F238E27FC236}">
                <a16:creationId xmlns:a16="http://schemas.microsoft.com/office/drawing/2014/main" id="{42074C80-5A2F-F6BE-20EF-8A7E49F359C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63" y="0"/>
            <a:ext cx="11776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376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34B33-17E6-2FA1-F247-CEE57BE58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0090D247-ACB4-6A85-AE73-382CA864A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054"/>
            <a:ext cx="12192000" cy="595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622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02C67D53-F010-4C82-0DD4-8AAF5A06C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8386"/>
            <a:ext cx="12192000" cy="572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86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F9553-2CDF-B388-748E-099C0A4B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7560B28E-CC6B-0454-7A7A-809CF9FD2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8386"/>
            <a:ext cx="12192000" cy="5721227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E2AEA5C3-C623-C998-C88E-203369923980}"/>
              </a:ext>
            </a:extLst>
          </p:cNvPr>
          <p:cNvSpPr/>
          <p:nvPr/>
        </p:nvSpPr>
        <p:spPr>
          <a:xfrm>
            <a:off x="0" y="1121228"/>
            <a:ext cx="12115800" cy="57367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F6A4122A-98FD-18C0-66C2-AAE9558EBE02}"/>
              </a:ext>
            </a:extLst>
          </p:cNvPr>
          <p:cNvSpPr txBox="1"/>
          <p:nvPr/>
        </p:nvSpPr>
        <p:spPr>
          <a:xfrm>
            <a:off x="3951514" y="598009"/>
            <a:ext cx="3156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 dirty="0">
                <a:solidFill>
                  <a:srgbClr val="FF0000"/>
                </a:solidFill>
              </a:rPr>
              <a:t>- REVISION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F1D5486E-6217-5A46-B46D-BF6DD927ADF2}"/>
              </a:ext>
            </a:extLst>
          </p:cNvPr>
          <p:cNvSpPr txBox="1"/>
          <p:nvPr/>
        </p:nvSpPr>
        <p:spPr>
          <a:xfrm>
            <a:off x="315685" y="1056256"/>
            <a:ext cx="1180011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FF0000"/>
                </a:solidFill>
              </a:rPr>
              <a:t>- IMPORTANT: </a:t>
            </a:r>
            <a:r>
              <a:rPr lang="nl-NL" dirty="0">
                <a:solidFill>
                  <a:srgbClr val="FF0000"/>
                </a:solidFill>
              </a:rPr>
              <a:t>The </a:t>
            </a:r>
            <a:r>
              <a:rPr lang="nl-NL" dirty="0" err="1">
                <a:solidFill>
                  <a:srgbClr val="FF0000"/>
                </a:solidFill>
              </a:rPr>
              <a:t>nested</a:t>
            </a:r>
            <a:r>
              <a:rPr lang="nl-NL" dirty="0">
                <a:solidFill>
                  <a:srgbClr val="FF0000"/>
                </a:solidFill>
              </a:rPr>
              <a:t> power </a:t>
            </a:r>
            <a:r>
              <a:rPr lang="nl-NL" dirty="0" err="1">
                <a:solidFill>
                  <a:srgbClr val="FF0000"/>
                </a:solidFill>
              </a:rPr>
              <a:t>rule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only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seem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to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work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for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u="sng" dirty="0" err="1">
                <a:solidFill>
                  <a:srgbClr val="FF0000"/>
                </a:solidFill>
              </a:rPr>
              <a:t>positive</a:t>
            </a:r>
            <a:r>
              <a:rPr lang="nl-NL" u="sng" dirty="0">
                <a:solidFill>
                  <a:srgbClr val="FF0000"/>
                </a:solidFill>
              </a:rPr>
              <a:t> </a:t>
            </a:r>
            <a:r>
              <a:rPr lang="nl-NL" u="sng" dirty="0">
                <a:solidFill>
                  <a:schemeClr val="accent3"/>
                </a:solidFill>
              </a:rPr>
              <a:t>bases</a:t>
            </a:r>
            <a:r>
              <a:rPr lang="nl-NL" dirty="0">
                <a:solidFill>
                  <a:srgbClr val="FF0000"/>
                </a:solidFill>
              </a:rPr>
              <a:t>! </a:t>
            </a:r>
            <a:br>
              <a:rPr lang="nl-NL" dirty="0">
                <a:solidFill>
                  <a:srgbClr val="FF0000"/>
                </a:solidFill>
              </a:rPr>
            </a:br>
            <a:br>
              <a:rPr lang="nl-NL" dirty="0">
                <a:solidFill>
                  <a:srgbClr val="FF0000"/>
                </a:solidFill>
              </a:rPr>
            </a:br>
            <a:r>
              <a:rPr lang="nl-NL" dirty="0">
                <a:solidFill>
                  <a:srgbClr val="FF0000"/>
                </a:solidFill>
              </a:rPr>
              <a:t>- </a:t>
            </a:r>
            <a:r>
              <a:rPr lang="nl-NL" dirty="0" err="1">
                <a:solidFill>
                  <a:srgbClr val="FF0000"/>
                </a:solidFill>
              </a:rPr>
              <a:t>So</a:t>
            </a:r>
            <a:r>
              <a:rPr lang="nl-NL" dirty="0">
                <a:solidFill>
                  <a:srgbClr val="FF0000"/>
                </a:solidFill>
              </a:rPr>
              <a:t> (</a:t>
            </a:r>
            <a:r>
              <a:rPr lang="nl-NL" dirty="0">
                <a:solidFill>
                  <a:schemeClr val="accent3"/>
                </a:solidFill>
              </a:rPr>
              <a:t>3</a:t>
            </a:r>
            <a:r>
              <a:rPr lang="nl-NL" dirty="0">
                <a:solidFill>
                  <a:srgbClr val="FF0000"/>
                </a:solidFill>
              </a:rPr>
              <a:t>^2)^(-5/2) </a:t>
            </a:r>
            <a:r>
              <a:rPr lang="nl-NL" dirty="0" err="1">
                <a:solidFill>
                  <a:srgbClr val="FF0000"/>
                </a:solidFill>
              </a:rPr>
              <a:t>works</a:t>
            </a:r>
            <a:r>
              <a:rPr lang="nl-NL" dirty="0">
                <a:solidFill>
                  <a:srgbClr val="FF0000"/>
                </a:solidFill>
              </a:rPr>
              <a:t> fine as </a:t>
            </a:r>
            <a:r>
              <a:rPr lang="nl-NL" dirty="0">
                <a:solidFill>
                  <a:schemeClr val="accent5"/>
                </a:solidFill>
              </a:rPr>
              <a:t>without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the</a:t>
            </a:r>
            <a:r>
              <a:rPr lang="nl-NL" dirty="0">
                <a:solidFill>
                  <a:srgbClr val="FF0000"/>
                </a:solidFill>
              </a:rPr>
              <a:t> power </a:t>
            </a:r>
            <a:r>
              <a:rPr lang="nl-NL" dirty="0" err="1">
                <a:solidFill>
                  <a:srgbClr val="FF0000"/>
                </a:solidFill>
              </a:rPr>
              <a:t>rule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>
                <a:solidFill>
                  <a:schemeClr val="accent3"/>
                </a:solidFill>
              </a:rPr>
              <a:t>[green 3 is </a:t>
            </a:r>
            <a:r>
              <a:rPr lang="nl-NL" dirty="0" err="1">
                <a:solidFill>
                  <a:schemeClr val="accent3"/>
                </a:solidFill>
              </a:rPr>
              <a:t>the</a:t>
            </a:r>
            <a:r>
              <a:rPr lang="nl-NL" dirty="0">
                <a:solidFill>
                  <a:schemeClr val="accent3"/>
                </a:solidFill>
              </a:rPr>
              <a:t> base here]</a:t>
            </a:r>
            <a:r>
              <a:rPr lang="nl-NL" dirty="0">
                <a:solidFill>
                  <a:srgbClr val="FF0000"/>
                </a:solidFill>
              </a:rPr>
              <a:t>, </a:t>
            </a:r>
            <a:r>
              <a:rPr lang="nl-NL" dirty="0" err="1">
                <a:solidFill>
                  <a:srgbClr val="FF0000"/>
                </a:solidFill>
              </a:rPr>
              <a:t>you</a:t>
            </a:r>
            <a:r>
              <a:rPr lang="nl-NL" dirty="0">
                <a:solidFill>
                  <a:srgbClr val="FF0000"/>
                </a:solidFill>
              </a:rPr>
              <a:t> get (</a:t>
            </a:r>
            <a:r>
              <a:rPr lang="nl-NL" dirty="0" err="1">
                <a:solidFill>
                  <a:srgbClr val="FF0000"/>
                </a:solidFill>
              </a:rPr>
              <a:t>using</a:t>
            </a:r>
            <a:r>
              <a:rPr lang="nl-NL" dirty="0">
                <a:solidFill>
                  <a:srgbClr val="FF0000"/>
                </a:solidFill>
              </a:rPr>
              <a:t> BIDMAS):</a:t>
            </a:r>
            <a:br>
              <a:rPr lang="nl-NL" dirty="0">
                <a:solidFill>
                  <a:srgbClr val="FF0000"/>
                </a:solidFill>
              </a:rPr>
            </a:br>
            <a:r>
              <a:rPr lang="nl-NL" dirty="0">
                <a:solidFill>
                  <a:schemeClr val="accent5"/>
                </a:solidFill>
              </a:rPr>
              <a:t>  (3^2)^(-5/2) = 9^(-5/2) = (1/9)^(5/2) = (</a:t>
            </a:r>
            <a:r>
              <a:rPr lang="nl-NL" dirty="0" err="1">
                <a:solidFill>
                  <a:schemeClr val="accent5"/>
                </a:solidFill>
              </a:rPr>
              <a:t>sqrt</a:t>
            </a:r>
            <a:r>
              <a:rPr lang="nl-NL" dirty="0">
                <a:solidFill>
                  <a:schemeClr val="accent5"/>
                </a:solidFill>
              </a:rPr>
              <a:t>(1)/</a:t>
            </a:r>
            <a:r>
              <a:rPr lang="nl-NL" dirty="0" err="1">
                <a:solidFill>
                  <a:schemeClr val="accent5"/>
                </a:solidFill>
              </a:rPr>
              <a:t>sqrt</a:t>
            </a:r>
            <a:r>
              <a:rPr lang="nl-NL" dirty="0">
                <a:solidFill>
                  <a:schemeClr val="accent5"/>
                </a:solidFill>
              </a:rPr>
              <a:t>(9))^5 = (1/3)^5 = [(1^5)/(3^5)] = 1/243</a:t>
            </a:r>
            <a:br>
              <a:rPr lang="nl-NL" dirty="0">
                <a:solidFill>
                  <a:srgbClr val="FF0000"/>
                </a:solidFill>
              </a:rPr>
            </a:br>
            <a:r>
              <a:rPr lang="nl-NL" dirty="0">
                <a:solidFill>
                  <a:srgbClr val="FF0000"/>
                </a:solidFill>
              </a:rPr>
              <a:t>  </a:t>
            </a:r>
            <a:r>
              <a:rPr lang="nl-NL" dirty="0" err="1">
                <a:solidFill>
                  <a:srgbClr val="FF0000"/>
                </a:solidFill>
              </a:rPr>
              <a:t>and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with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the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nested</a:t>
            </a:r>
            <a:r>
              <a:rPr lang="nl-NL" dirty="0">
                <a:solidFill>
                  <a:srgbClr val="FF0000"/>
                </a:solidFill>
              </a:rPr>
              <a:t> power </a:t>
            </a:r>
            <a:r>
              <a:rPr lang="nl-NL" dirty="0" err="1">
                <a:solidFill>
                  <a:srgbClr val="FF0000"/>
                </a:solidFill>
              </a:rPr>
              <a:t>rule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you</a:t>
            </a:r>
            <a:r>
              <a:rPr lang="nl-NL" dirty="0">
                <a:solidFill>
                  <a:srgbClr val="FF0000"/>
                </a:solidFill>
              </a:rPr>
              <a:t> get:</a:t>
            </a:r>
            <a:br>
              <a:rPr lang="nl-NL" dirty="0">
                <a:solidFill>
                  <a:srgbClr val="FF0000"/>
                </a:solidFill>
              </a:rPr>
            </a:br>
            <a:r>
              <a:rPr lang="nl-NL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 (3^2)^(-5/2) = 3^(2 * -5/2) = 3^(-10/2) = 3^(-5) = (1/3)^5 = [(1^5)/(3^5)] = 1/243</a:t>
            </a:r>
            <a:br>
              <a:rPr lang="nl-NL" dirty="0">
                <a:solidFill>
                  <a:srgbClr val="FF0000"/>
                </a:solidFill>
              </a:rPr>
            </a:br>
            <a:r>
              <a:rPr lang="nl-NL" dirty="0">
                <a:solidFill>
                  <a:srgbClr val="FF0000"/>
                </a:solidFill>
              </a:rPr>
              <a:t>  </a:t>
            </a:r>
            <a:r>
              <a:rPr lang="nl-NL" dirty="0" err="1">
                <a:solidFill>
                  <a:srgbClr val="FF0000"/>
                </a:solidFill>
              </a:rPr>
              <a:t>so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those</a:t>
            </a:r>
            <a:r>
              <a:rPr lang="nl-NL" dirty="0">
                <a:solidFill>
                  <a:srgbClr val="FF0000"/>
                </a:solidFill>
              </a:rPr>
              <a:t> are </a:t>
            </a:r>
            <a:r>
              <a:rPr lang="nl-NL" dirty="0" err="1">
                <a:solidFill>
                  <a:srgbClr val="FF0000"/>
                </a:solidFill>
              </a:rPr>
              <a:t>the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same</a:t>
            </a:r>
            <a:r>
              <a:rPr lang="nl-NL" dirty="0">
                <a:solidFill>
                  <a:srgbClr val="FF0000"/>
                </a:solidFill>
              </a:rPr>
              <a:t> indeed</a:t>
            </a:r>
          </a:p>
          <a:p>
            <a:endParaRPr lang="nl-NL" b="1" dirty="0">
              <a:solidFill>
                <a:srgbClr val="FF0000"/>
              </a:solidFill>
            </a:endParaRPr>
          </a:p>
          <a:p>
            <a:r>
              <a:rPr lang="nl-NL" dirty="0">
                <a:solidFill>
                  <a:srgbClr val="FF0000"/>
                </a:solidFill>
              </a:rPr>
              <a:t>- But </a:t>
            </a:r>
            <a:r>
              <a:rPr lang="nl-NL" dirty="0" err="1">
                <a:solidFill>
                  <a:srgbClr val="FF0000"/>
                </a:solidFill>
              </a:rPr>
              <a:t>with</a:t>
            </a:r>
            <a:r>
              <a:rPr lang="nl-NL" dirty="0">
                <a:solidFill>
                  <a:srgbClr val="FF0000"/>
                </a:solidFill>
              </a:rPr>
              <a:t> a </a:t>
            </a:r>
            <a:r>
              <a:rPr lang="nl-NL" u="sng" dirty="0" err="1">
                <a:solidFill>
                  <a:srgbClr val="FF0000"/>
                </a:solidFill>
              </a:rPr>
              <a:t>negative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>
                <a:solidFill>
                  <a:schemeClr val="accent3"/>
                </a:solidFill>
              </a:rPr>
              <a:t>base</a:t>
            </a:r>
            <a:r>
              <a:rPr lang="nl-NL" dirty="0">
                <a:solidFill>
                  <a:srgbClr val="FF0000"/>
                </a:solidFill>
              </a:rPr>
              <a:t> like </a:t>
            </a:r>
            <a:r>
              <a:rPr lang="nl-NL" dirty="0">
                <a:solidFill>
                  <a:schemeClr val="accent3"/>
                </a:solidFill>
              </a:rPr>
              <a:t>-2</a:t>
            </a:r>
            <a:r>
              <a:rPr lang="nl-NL" dirty="0">
                <a:solidFill>
                  <a:srgbClr val="FF0000"/>
                </a:solidFill>
              </a:rPr>
              <a:t>, </a:t>
            </a:r>
            <a:r>
              <a:rPr lang="nl-NL" dirty="0" err="1">
                <a:solidFill>
                  <a:srgbClr val="FF0000"/>
                </a:solidFill>
              </a:rPr>
              <a:t>this</a:t>
            </a:r>
            <a:r>
              <a:rPr lang="nl-NL" dirty="0">
                <a:solidFill>
                  <a:srgbClr val="FF0000"/>
                </a:solidFill>
              </a:rPr>
              <a:t> trick </a:t>
            </a:r>
            <a:r>
              <a:rPr lang="nl-NL" dirty="0" err="1">
                <a:solidFill>
                  <a:srgbClr val="FF0000"/>
                </a:solidFill>
              </a:rPr>
              <a:t>doesnt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work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anymore</a:t>
            </a:r>
            <a:r>
              <a:rPr lang="nl-NL" dirty="0">
                <a:solidFill>
                  <a:srgbClr val="FF0000"/>
                </a:solidFill>
              </a:rPr>
              <a:t> (</a:t>
            </a:r>
            <a:r>
              <a:rPr lang="nl-NL" dirty="0" err="1">
                <a:solidFill>
                  <a:srgbClr val="FF0000"/>
                </a:solidFill>
              </a:rPr>
              <a:t>so</a:t>
            </a:r>
            <a:r>
              <a:rPr lang="nl-NL" dirty="0">
                <a:solidFill>
                  <a:srgbClr val="FF0000"/>
                </a:solidFill>
              </a:rPr>
              <a:t> sorry </a:t>
            </a:r>
            <a:r>
              <a:rPr lang="nl-NL" dirty="0" err="1">
                <a:solidFill>
                  <a:srgbClr val="FF0000"/>
                </a:solidFill>
              </a:rPr>
              <a:t>for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not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saying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that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earlier</a:t>
            </a:r>
            <a:r>
              <a:rPr lang="nl-NL" dirty="0">
                <a:solidFill>
                  <a:srgbClr val="FF0000"/>
                </a:solidFill>
              </a:rPr>
              <a:t>). I </a:t>
            </a:r>
            <a:r>
              <a:rPr lang="nl-NL" dirty="0" err="1">
                <a:solidFill>
                  <a:srgbClr val="FF0000"/>
                </a:solidFill>
              </a:rPr>
              <a:t>will</a:t>
            </a:r>
            <a:r>
              <a:rPr lang="nl-NL" dirty="0">
                <a:solidFill>
                  <a:srgbClr val="FF0000"/>
                </a:solidFill>
              </a:rPr>
              <a:t> show          </a:t>
            </a:r>
            <a:br>
              <a:rPr lang="nl-NL" dirty="0">
                <a:solidFill>
                  <a:srgbClr val="FF0000"/>
                </a:solidFill>
              </a:rPr>
            </a:br>
            <a:r>
              <a:rPr lang="nl-NL" dirty="0">
                <a:solidFill>
                  <a:srgbClr val="FF0000"/>
                </a:solidFill>
              </a:rPr>
              <a:t>   </a:t>
            </a:r>
            <a:r>
              <a:rPr lang="nl-NL" dirty="0" err="1">
                <a:solidFill>
                  <a:srgbClr val="FF0000"/>
                </a:solidFill>
              </a:rPr>
              <a:t>you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with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the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example</a:t>
            </a:r>
            <a:r>
              <a:rPr lang="nl-NL" dirty="0">
                <a:solidFill>
                  <a:srgbClr val="FF0000"/>
                </a:solidFill>
              </a:rPr>
              <a:t>: (</a:t>
            </a:r>
            <a:r>
              <a:rPr lang="nl-NL" dirty="0">
                <a:solidFill>
                  <a:schemeClr val="accent3"/>
                </a:solidFill>
              </a:rPr>
              <a:t>(-2)</a:t>
            </a:r>
            <a:r>
              <a:rPr lang="nl-NL" dirty="0">
                <a:solidFill>
                  <a:srgbClr val="FF0000"/>
                </a:solidFill>
              </a:rPr>
              <a:t>^2)^(-3/2), </a:t>
            </a:r>
            <a:r>
              <a:rPr lang="nl-NL" dirty="0" err="1">
                <a:solidFill>
                  <a:srgbClr val="FF0000"/>
                </a:solidFill>
              </a:rPr>
              <a:t>where</a:t>
            </a:r>
            <a:r>
              <a:rPr lang="nl-NL" dirty="0">
                <a:solidFill>
                  <a:srgbClr val="FF0000"/>
                </a:solidFill>
              </a:rPr>
              <a:t> I </a:t>
            </a:r>
            <a:r>
              <a:rPr lang="nl-NL" dirty="0" err="1">
                <a:solidFill>
                  <a:srgbClr val="FF0000"/>
                </a:solidFill>
              </a:rPr>
              <a:t>will</a:t>
            </a:r>
            <a:r>
              <a:rPr lang="nl-NL" dirty="0">
                <a:solidFill>
                  <a:srgbClr val="FF0000"/>
                </a:solidFill>
              </a:rPr>
              <a:t> first do </a:t>
            </a:r>
            <a:r>
              <a:rPr lang="nl-NL" dirty="0" err="1">
                <a:solidFill>
                  <a:srgbClr val="FF0000"/>
                </a:solidFill>
              </a:rPr>
              <a:t>it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>
                <a:solidFill>
                  <a:schemeClr val="accent5"/>
                </a:solidFill>
              </a:rPr>
              <a:t>without</a:t>
            </a:r>
            <a:r>
              <a:rPr lang="nl-NL" dirty="0">
                <a:solidFill>
                  <a:srgbClr val="FF0000"/>
                </a:solidFill>
              </a:rPr>
              <a:t>:</a:t>
            </a:r>
            <a:br>
              <a:rPr lang="nl-NL" dirty="0">
                <a:solidFill>
                  <a:srgbClr val="FF0000"/>
                </a:solidFill>
              </a:rPr>
            </a:br>
            <a:r>
              <a:rPr lang="nl-NL" dirty="0">
                <a:solidFill>
                  <a:srgbClr val="FF0000"/>
                </a:solidFill>
              </a:rPr>
              <a:t>   </a:t>
            </a:r>
            <a:r>
              <a:rPr lang="nl-NL" dirty="0">
                <a:solidFill>
                  <a:schemeClr val="accent5"/>
                </a:solidFill>
              </a:rPr>
              <a:t>((-2)^2)^(-3/2) = 4^(-3/2) = (</a:t>
            </a:r>
            <a:r>
              <a:rPr lang="nl-NL" dirty="0" err="1">
                <a:solidFill>
                  <a:schemeClr val="accent5"/>
                </a:solidFill>
              </a:rPr>
              <a:t>sqrt</a:t>
            </a:r>
            <a:r>
              <a:rPr lang="nl-NL" dirty="0">
                <a:solidFill>
                  <a:schemeClr val="accent5"/>
                </a:solidFill>
              </a:rPr>
              <a:t>(4))^(-3) = 2^(-3) = (1/2)^3 = [(1^3)/(2^3)] = 1/8 </a:t>
            </a:r>
            <a:r>
              <a:rPr lang="nl-NL" dirty="0">
                <a:solidFill>
                  <a:srgbClr val="C00000"/>
                </a:solidFill>
              </a:rPr>
              <a:t>-&gt;</a:t>
            </a:r>
            <a:r>
              <a:rPr lang="nl-NL" dirty="0">
                <a:solidFill>
                  <a:schemeClr val="accent5"/>
                </a:solidFill>
              </a:rPr>
              <a:t> </a:t>
            </a:r>
            <a:r>
              <a:rPr lang="nl-NL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CORRECT ANSWER</a:t>
            </a:r>
            <a:br>
              <a:rPr lang="nl-NL" dirty="0">
                <a:solidFill>
                  <a:srgbClr val="FF0000"/>
                </a:solidFill>
              </a:rPr>
            </a:br>
            <a:r>
              <a:rPr lang="nl-NL" dirty="0">
                <a:solidFill>
                  <a:srgbClr val="FF0000"/>
                </a:solidFill>
              </a:rPr>
              <a:t>   </a:t>
            </a:r>
            <a:r>
              <a:rPr lang="nl-NL" dirty="0" err="1">
                <a:solidFill>
                  <a:srgbClr val="FF0000"/>
                </a:solidFill>
              </a:rPr>
              <a:t>and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with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the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nested</a:t>
            </a:r>
            <a:r>
              <a:rPr lang="nl-NL" dirty="0">
                <a:solidFill>
                  <a:srgbClr val="FF0000"/>
                </a:solidFill>
              </a:rPr>
              <a:t> power </a:t>
            </a:r>
            <a:r>
              <a:rPr lang="nl-NL" dirty="0" err="1">
                <a:solidFill>
                  <a:srgbClr val="FF0000"/>
                </a:solidFill>
              </a:rPr>
              <a:t>rule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now</a:t>
            </a:r>
            <a:r>
              <a:rPr lang="nl-NL" dirty="0">
                <a:solidFill>
                  <a:srgbClr val="FF0000"/>
                </a:solidFill>
              </a:rPr>
              <a:t>:</a:t>
            </a:r>
            <a:br>
              <a:rPr lang="nl-NL" dirty="0">
                <a:solidFill>
                  <a:srgbClr val="FF0000"/>
                </a:solidFill>
              </a:rPr>
            </a:br>
            <a:r>
              <a:rPr lang="nl-NL" dirty="0">
                <a:solidFill>
                  <a:schemeClr val="accent1"/>
                </a:solidFill>
              </a:rPr>
              <a:t>   ((-2)^2)^(-3/2) = (-2)^(2 * -3/2) = (-2)^(-3) = (1/-2)^3 = [(1^3)/((-2)^3)] = 1/-8 = -1/8 !! </a:t>
            </a:r>
            <a:r>
              <a:rPr lang="nl-NL" dirty="0">
                <a:solidFill>
                  <a:srgbClr val="C00000"/>
                </a:solidFill>
              </a:rPr>
              <a:t>-&gt;</a:t>
            </a:r>
            <a:r>
              <a:rPr lang="nl-NL" dirty="0">
                <a:solidFill>
                  <a:srgbClr val="C00000"/>
                </a:solidFill>
                <a:sym typeface="Wingdings" panose="05000000000000000000" pitchFamily="2" charset="2"/>
              </a:rPr>
              <a:t> WRONG ANSWER</a:t>
            </a:r>
            <a:br>
              <a:rPr lang="nl-NL" dirty="0">
                <a:solidFill>
                  <a:srgbClr val="C00000"/>
                </a:solidFill>
                <a:sym typeface="Wingdings" panose="05000000000000000000" pitchFamily="2" charset="2"/>
              </a:rPr>
            </a:br>
            <a:r>
              <a:rPr lang="nl-NL" dirty="0">
                <a:solidFill>
                  <a:srgbClr val="C00000"/>
                </a:solidFill>
                <a:sym typeface="Wingdings" panose="05000000000000000000" pitchFamily="2" charset="2"/>
              </a:rPr>
              <a:t>   (YOU CAN CHECK  WITH YOUR CALCULATOR!!!)</a:t>
            </a:r>
          </a:p>
          <a:p>
            <a:b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- </a:t>
            </a:r>
            <a:r>
              <a:rPr lang="nl-NL" b="1" dirty="0" err="1">
                <a:solidFill>
                  <a:srgbClr val="FF0000"/>
                </a:solidFill>
                <a:sym typeface="Wingdings" panose="05000000000000000000" pitchFamily="2" charset="2"/>
              </a:rPr>
              <a:t>Why</a:t>
            </a:r>
            <a:r>
              <a:rPr lang="nl-NL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b="1" dirty="0" err="1">
                <a:solidFill>
                  <a:srgbClr val="FF0000"/>
                </a:solidFill>
                <a:sym typeface="Wingdings" panose="05000000000000000000" pitchFamily="2" charset="2"/>
              </a:rPr>
              <a:t>its</a:t>
            </a:r>
            <a:r>
              <a:rPr lang="nl-NL" b="1" dirty="0">
                <a:solidFill>
                  <a:srgbClr val="FF0000"/>
                </a:solidFill>
                <a:sym typeface="Wingdings" panose="05000000000000000000" pitchFamily="2" charset="2"/>
              </a:rPr>
              <a:t> wrong?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Probably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because</a:t>
            </a:r>
            <a:r>
              <a:rPr lang="nl-NL" u="sng" dirty="0">
                <a:solidFill>
                  <a:srgbClr val="FF0000"/>
                </a:solidFill>
                <a:sym typeface="Wingdings" panose="05000000000000000000" pitchFamily="2" charset="2"/>
              </a:rPr>
              <a:t> of </a:t>
            </a:r>
            <a:r>
              <a:rPr lang="nl-NL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the</a:t>
            </a:r>
            <a:r>
              <a:rPr lang="nl-NL" u="sng" dirty="0">
                <a:solidFill>
                  <a:srgbClr val="FF0000"/>
                </a:solidFill>
                <a:sym typeface="Wingdings" panose="05000000000000000000" pitchFamily="2" charset="2"/>
              </a:rPr>
              <a:t> root </a:t>
            </a:r>
            <a:r>
              <a:rPr lang="nl-NL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function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: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sqrt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or ^(1/2) or ^(1/4)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etc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only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displaying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positive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results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: like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both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3^2 = (-3)^2 = 9 but in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your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calculator, check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for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yourself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that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sqrt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(9) = 3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and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not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-3! </a:t>
            </a:r>
            <a:r>
              <a:rPr lang="nl-NL" b="1" dirty="0">
                <a:solidFill>
                  <a:srgbClr val="FF0000"/>
                </a:solidFill>
                <a:sym typeface="Wingdings" panose="05000000000000000000" pitchFamily="2" charset="2"/>
              </a:rPr>
              <a:t>REMEMBER THIS!!!</a:t>
            </a:r>
          </a:p>
          <a:p>
            <a:endParaRPr lang="nl-NL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-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So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if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you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see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a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negative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base,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solve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it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without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the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nested 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power </a:t>
            </a:r>
            <a:r>
              <a:rPr lang="nl-NL" dirty="0" err="1">
                <a:solidFill>
                  <a:srgbClr val="FF0000"/>
                </a:solidFill>
                <a:sym typeface="Wingdings" panose="05000000000000000000" pitchFamily="2" charset="2"/>
              </a:rPr>
              <a:t>rule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145059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54)">
            <a:extLst>
              <a:ext uri="{FF2B5EF4-FFF2-40B4-BE49-F238E27FC236}">
                <a16:creationId xmlns:a16="http://schemas.microsoft.com/office/drawing/2014/main" id="{15266592-2889-3CAD-9D88-C4EB56B7B34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6813"/>
            <a:ext cx="12192000" cy="452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00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55)">
            <a:extLst>
              <a:ext uri="{FF2B5EF4-FFF2-40B4-BE49-F238E27FC236}">
                <a16:creationId xmlns:a16="http://schemas.microsoft.com/office/drawing/2014/main" id="{D8164B3E-7929-5873-F0B1-5DFD313FC1C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5988"/>
            <a:ext cx="12192000" cy="502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97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56)">
            <a:extLst>
              <a:ext uri="{FF2B5EF4-FFF2-40B4-BE49-F238E27FC236}">
                <a16:creationId xmlns:a16="http://schemas.microsoft.com/office/drawing/2014/main" id="{FB8D5FC9-4D01-8ADC-EF62-82C0ADDC884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9963"/>
            <a:ext cx="12192000" cy="491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224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57)">
            <a:extLst>
              <a:ext uri="{FF2B5EF4-FFF2-40B4-BE49-F238E27FC236}">
                <a16:creationId xmlns:a16="http://schemas.microsoft.com/office/drawing/2014/main" id="{A7627B1B-1965-F86E-2473-FD104B53AF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2275"/>
            <a:ext cx="12192000" cy="601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06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58)">
            <a:extLst>
              <a:ext uri="{FF2B5EF4-FFF2-40B4-BE49-F238E27FC236}">
                <a16:creationId xmlns:a16="http://schemas.microsoft.com/office/drawing/2014/main" id="{3FC73616-5B97-2976-6817-0947E02DD05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8"/>
            <a:ext cx="1219200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45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59)">
            <a:extLst>
              <a:ext uri="{FF2B5EF4-FFF2-40B4-BE49-F238E27FC236}">
                <a16:creationId xmlns:a16="http://schemas.microsoft.com/office/drawing/2014/main" id="{4D2857CB-607B-554A-0EE0-5756F65ADB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3575"/>
            <a:ext cx="12192000" cy="552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9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60)">
            <a:extLst>
              <a:ext uri="{FF2B5EF4-FFF2-40B4-BE49-F238E27FC236}">
                <a16:creationId xmlns:a16="http://schemas.microsoft.com/office/drawing/2014/main" id="{C8ED4FBD-7FD5-507E-EC72-948FCA5C902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63"/>
            <a:ext cx="12192000" cy="6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139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446A72-2DC6-D88D-53CC-54B2F5815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nl-NL" dirty="0"/>
              <a:t>BIDMAS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E8A8988-FE57-63E6-D814-6A36AD08D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6911"/>
            <a:ext cx="10515600" cy="5141232"/>
          </a:xfrm>
        </p:spPr>
        <p:txBody>
          <a:bodyPr/>
          <a:lstStyle/>
          <a:p>
            <a:r>
              <a:rPr lang="nl-NL" dirty="0"/>
              <a:t>In </a:t>
            </a:r>
            <a:r>
              <a:rPr lang="nl-NL" dirty="0" err="1"/>
              <a:t>maths</a:t>
            </a:r>
            <a:r>
              <a:rPr lang="nl-NL" dirty="0"/>
              <a:t>, </a:t>
            </a:r>
            <a:r>
              <a:rPr lang="nl-NL" dirty="0" err="1"/>
              <a:t>you</a:t>
            </a:r>
            <a:r>
              <a:rPr lang="nl-NL" dirty="0"/>
              <a:t> have </a:t>
            </a:r>
            <a:r>
              <a:rPr lang="nl-NL" dirty="0" err="1"/>
              <a:t>an</a:t>
            </a:r>
            <a:r>
              <a:rPr lang="nl-NL" dirty="0"/>
              <a:t> order of </a:t>
            </a:r>
            <a:r>
              <a:rPr lang="nl-NL" dirty="0" err="1"/>
              <a:t>operation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we </a:t>
            </a:r>
            <a:r>
              <a:rPr lang="nl-NL" dirty="0" err="1"/>
              <a:t>adhere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order is </a:t>
            </a:r>
            <a:r>
              <a:rPr lang="nl-NL" dirty="0" err="1"/>
              <a:t>called</a:t>
            </a:r>
            <a:r>
              <a:rPr lang="nl-NL" dirty="0"/>
              <a:t> </a:t>
            </a:r>
            <a:r>
              <a:rPr lang="nl-NL" dirty="0">
                <a:solidFill>
                  <a:srgbClr val="FF0000"/>
                </a:solidFill>
              </a:rPr>
              <a:t>BIDMAS</a:t>
            </a:r>
          </a:p>
          <a:p>
            <a:r>
              <a:rPr lang="nl-NL" dirty="0"/>
              <a:t>It </a:t>
            </a:r>
            <a:r>
              <a:rPr lang="nl-NL" dirty="0" err="1"/>
              <a:t>works</a:t>
            </a:r>
            <a:r>
              <a:rPr lang="nl-NL" dirty="0"/>
              <a:t> as </a:t>
            </a:r>
            <a:r>
              <a:rPr lang="nl-NL" dirty="0" err="1"/>
              <a:t>follows</a:t>
            </a:r>
            <a:r>
              <a:rPr lang="nl-NL" dirty="0"/>
              <a:t>:</a:t>
            </a:r>
            <a:br>
              <a:rPr lang="nl-NL" dirty="0"/>
            </a:br>
            <a:r>
              <a:rPr lang="nl-NL" dirty="0"/>
              <a:t>1. </a:t>
            </a:r>
            <a:r>
              <a:rPr lang="nl-NL" u="sng" dirty="0" err="1">
                <a:solidFill>
                  <a:srgbClr val="FF0000"/>
                </a:solidFill>
              </a:rPr>
              <a:t>B</a:t>
            </a:r>
            <a:r>
              <a:rPr lang="nl-NL" u="sng" dirty="0" err="1"/>
              <a:t>rackets</a:t>
            </a:r>
            <a:r>
              <a:rPr lang="nl-NL" dirty="0"/>
              <a:t> i.e. ()</a:t>
            </a:r>
            <a:br>
              <a:rPr lang="nl-NL" dirty="0"/>
            </a:br>
            <a:r>
              <a:rPr lang="nl-NL" dirty="0"/>
              <a:t>2. </a:t>
            </a:r>
            <a:r>
              <a:rPr lang="nl-NL" u="sng" dirty="0">
                <a:solidFill>
                  <a:srgbClr val="FF0000"/>
                </a:solidFill>
              </a:rPr>
              <a:t>I</a:t>
            </a:r>
            <a:r>
              <a:rPr lang="nl-NL" u="sng" dirty="0"/>
              <a:t>ndices</a:t>
            </a:r>
            <a:r>
              <a:rPr lang="nl-NL" dirty="0"/>
              <a:t> (</a:t>
            </a:r>
            <a:r>
              <a:rPr lang="nl-NL" dirty="0" err="1"/>
              <a:t>powers</a:t>
            </a:r>
            <a:r>
              <a:rPr lang="nl-NL" dirty="0"/>
              <a:t> ^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roots</a:t>
            </a:r>
            <a:r>
              <a:rPr lang="nl-NL" dirty="0"/>
              <a:t> √)</a:t>
            </a:r>
            <a:br>
              <a:rPr lang="nl-NL" dirty="0"/>
            </a:br>
            <a:r>
              <a:rPr lang="nl-NL" dirty="0"/>
              <a:t>3. </a:t>
            </a:r>
            <a:r>
              <a:rPr lang="nl-NL" u="sng" dirty="0" err="1">
                <a:solidFill>
                  <a:srgbClr val="FF0000"/>
                </a:solidFill>
              </a:rPr>
              <a:t>D</a:t>
            </a:r>
            <a:r>
              <a:rPr lang="nl-NL" u="sng" dirty="0" err="1"/>
              <a:t>ivision</a:t>
            </a:r>
            <a:r>
              <a:rPr lang="nl-NL" dirty="0"/>
              <a:t> (÷) </a:t>
            </a:r>
            <a:r>
              <a:rPr lang="nl-NL" dirty="0" err="1"/>
              <a:t>and</a:t>
            </a:r>
            <a:r>
              <a:rPr lang="nl-NL" dirty="0"/>
              <a:t> </a:t>
            </a:r>
            <a:br>
              <a:rPr lang="nl-NL" dirty="0"/>
            </a:br>
            <a:r>
              <a:rPr lang="nl-NL" dirty="0"/>
              <a:t>     </a:t>
            </a:r>
            <a:r>
              <a:rPr lang="nl-NL" u="sng" dirty="0" err="1">
                <a:solidFill>
                  <a:srgbClr val="FF0000"/>
                </a:solidFill>
              </a:rPr>
              <a:t>M</a:t>
            </a:r>
            <a:r>
              <a:rPr lang="nl-NL" u="sng" dirty="0" err="1"/>
              <a:t>ultiplication</a:t>
            </a:r>
            <a:r>
              <a:rPr lang="nl-NL" dirty="0"/>
              <a:t> (×)</a:t>
            </a:r>
            <a:br>
              <a:rPr lang="nl-NL" dirty="0"/>
            </a:br>
            <a:r>
              <a:rPr lang="nl-NL" dirty="0"/>
              <a:t>4. </a:t>
            </a:r>
            <a:r>
              <a:rPr lang="nl-NL" u="sng" dirty="0" err="1">
                <a:solidFill>
                  <a:srgbClr val="FF0000"/>
                </a:solidFill>
              </a:rPr>
              <a:t>A</a:t>
            </a:r>
            <a:r>
              <a:rPr lang="nl-NL" u="sng" dirty="0" err="1"/>
              <a:t>ddition</a:t>
            </a:r>
            <a:r>
              <a:rPr lang="nl-NL" dirty="0"/>
              <a:t> (+) </a:t>
            </a:r>
            <a:r>
              <a:rPr lang="nl-NL" dirty="0" err="1"/>
              <a:t>and</a:t>
            </a:r>
            <a:br>
              <a:rPr lang="nl-NL" dirty="0"/>
            </a:br>
            <a:r>
              <a:rPr lang="nl-NL" dirty="0"/>
              <a:t>     </a:t>
            </a:r>
            <a:r>
              <a:rPr lang="nl-NL" u="sng" dirty="0" err="1">
                <a:solidFill>
                  <a:srgbClr val="FF0000"/>
                </a:solidFill>
              </a:rPr>
              <a:t>S</a:t>
            </a:r>
            <a:r>
              <a:rPr lang="nl-NL" u="sng" dirty="0" err="1"/>
              <a:t>ubtraction</a:t>
            </a:r>
            <a:r>
              <a:rPr lang="nl-NL" dirty="0"/>
              <a:t> (-)</a:t>
            </a:r>
          </a:p>
          <a:p>
            <a:r>
              <a:rPr lang="nl-NL" dirty="0"/>
              <a:t>In here, </a:t>
            </a:r>
            <a:r>
              <a:rPr lang="nl-NL" dirty="0" err="1"/>
              <a:t>division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multiplication</a:t>
            </a:r>
            <a:r>
              <a:rPr lang="nl-NL" dirty="0"/>
              <a:t> are </a:t>
            </a:r>
            <a:r>
              <a:rPr lang="nl-NL" dirty="0" err="1"/>
              <a:t>seen</a:t>
            </a:r>
            <a:r>
              <a:rPr lang="nl-NL" dirty="0"/>
              <a:t> as </a:t>
            </a:r>
            <a:r>
              <a:rPr lang="nl-NL" dirty="0" err="1"/>
              <a:t>equal</a:t>
            </a:r>
            <a:r>
              <a:rPr lang="nl-NL" dirty="0"/>
              <a:t> (no </a:t>
            </a:r>
            <a:r>
              <a:rPr lang="nl-NL" dirty="0" err="1"/>
              <a:t>preference</a:t>
            </a:r>
            <a:r>
              <a:rPr lang="nl-NL" dirty="0"/>
              <a:t> </a:t>
            </a:r>
            <a:r>
              <a:rPr lang="nl-NL" dirty="0" err="1"/>
              <a:t>among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)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addition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subtraction</a:t>
            </a:r>
            <a:r>
              <a:rPr lang="nl-NL" dirty="0"/>
              <a:t> </a:t>
            </a:r>
            <a:r>
              <a:rPr lang="nl-NL" dirty="0" err="1"/>
              <a:t>likewise</a:t>
            </a:r>
            <a:endParaRPr lang="nl-NL" dirty="0"/>
          </a:p>
          <a:p>
            <a:r>
              <a:rPr lang="nl-NL" dirty="0"/>
              <a:t>In case of no </a:t>
            </a:r>
            <a:r>
              <a:rPr lang="nl-NL" dirty="0" err="1"/>
              <a:t>preference</a:t>
            </a:r>
            <a:r>
              <a:rPr lang="nl-NL" dirty="0"/>
              <a:t>, we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>
                <a:solidFill>
                  <a:srgbClr val="FF0000"/>
                </a:solidFill>
              </a:rPr>
              <a:t>left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to</a:t>
            </a:r>
            <a:r>
              <a:rPr lang="nl-NL" dirty="0">
                <a:solidFill>
                  <a:srgbClr val="FF0000"/>
                </a:solidFill>
              </a:rPr>
              <a:t> right </a:t>
            </a:r>
            <a:r>
              <a:rPr lang="nl-NL" dirty="0"/>
              <a:t>in </a:t>
            </a:r>
            <a:r>
              <a:rPr lang="nl-NL" dirty="0" err="1"/>
              <a:t>maths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984606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7312A0-95AA-1520-82D6-EE9D6C2F8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BIDMAS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C5C2619-E0C1-EA3F-A760-41A21A04B2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98975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Lets go over </a:t>
                </a:r>
                <a:r>
                  <a:rPr lang="nl-NL" dirty="0" err="1"/>
                  <a:t>an</a:t>
                </a:r>
                <a:r>
                  <a:rPr lang="nl-NL" dirty="0"/>
                  <a:t> </a:t>
                </a:r>
                <a:r>
                  <a:rPr lang="nl-NL" dirty="0" err="1"/>
                  <a:t>example</a:t>
                </a:r>
                <a:r>
                  <a:rPr lang="nl-NL" dirty="0"/>
                  <a:t>:</a:t>
                </a:r>
                <a:br>
                  <a:rPr lang="nl-NL" dirty="0"/>
                </a:br>
                <a:br>
                  <a:rPr lang="nl-NL" dirty="0"/>
                </a:br>
                <a:br>
                  <a:rPr lang="nl-NL" dirty="0"/>
                </a:br>
                <a:br>
                  <a:rPr lang="nl-NL" dirty="0"/>
                </a:br>
                <a:endParaRPr lang="nl-NL" dirty="0"/>
              </a:p>
              <a:p>
                <a:r>
                  <a:rPr lang="nl-NL" dirty="0" err="1"/>
                  <a:t>Note</a:t>
                </a:r>
                <a:r>
                  <a:rPr lang="nl-NL" dirty="0"/>
                  <a:t> </a:t>
                </a:r>
                <a:r>
                  <a:rPr lang="nl-NL" dirty="0" err="1"/>
                  <a:t>that</a:t>
                </a:r>
                <a:r>
                  <a:rPr lang="nl-NL" dirty="0"/>
                  <a:t> I </a:t>
                </a:r>
                <a:r>
                  <a:rPr lang="nl-NL" dirty="0" err="1"/>
                  <a:t>rarely</a:t>
                </a:r>
                <a:r>
                  <a:rPr lang="nl-NL" dirty="0"/>
                  <a:t> </a:t>
                </a:r>
                <a:r>
                  <a:rPr lang="nl-NL" dirty="0" err="1"/>
                  <a:t>use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because</a:t>
                </a:r>
                <a:r>
                  <a:rPr lang="nl-NL" dirty="0"/>
                  <a:t> </a:t>
                </a:r>
                <a:r>
                  <a:rPr lang="nl-NL" dirty="0" err="1"/>
                  <a:t>its</a:t>
                </a:r>
                <a:r>
                  <a:rPr lang="nl-NL" dirty="0"/>
                  <a:t> </a:t>
                </a:r>
                <a:r>
                  <a:rPr lang="nl-NL" dirty="0" err="1"/>
                  <a:t>considered</a:t>
                </a:r>
                <a:r>
                  <a:rPr lang="nl-NL" dirty="0"/>
                  <a:t> </a:t>
                </a:r>
                <a:r>
                  <a:rPr lang="nl-NL" dirty="0" err="1"/>
                  <a:t>wonky</a:t>
                </a:r>
                <a:r>
                  <a:rPr lang="nl-NL" dirty="0"/>
                  <a:t> </a:t>
                </a:r>
                <a:r>
                  <a:rPr lang="nl-NL" dirty="0" err="1"/>
                  <a:t>notation</a:t>
                </a:r>
                <a:r>
                  <a:rPr lang="nl-NL" dirty="0"/>
                  <a:t> in </a:t>
                </a:r>
                <a:r>
                  <a:rPr lang="nl-NL" dirty="0" err="1"/>
                  <a:t>maths</a:t>
                </a:r>
                <a:r>
                  <a:rPr lang="nl-NL" dirty="0"/>
                  <a:t>, but </a:t>
                </a:r>
                <a:r>
                  <a:rPr lang="nl-NL" dirty="0" err="1"/>
                  <a:t>it</a:t>
                </a:r>
                <a:r>
                  <a:rPr lang="nl-NL" dirty="0"/>
                  <a:t> </a:t>
                </a:r>
                <a:r>
                  <a:rPr lang="nl-NL" dirty="0" err="1"/>
                  <a:t>works</a:t>
                </a:r>
                <a:r>
                  <a:rPr lang="nl-NL" dirty="0"/>
                  <a:t> well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demonstrate</a:t>
                </a:r>
                <a:r>
                  <a:rPr lang="nl-NL" dirty="0"/>
                  <a:t> BIDMAS in </a:t>
                </a:r>
                <a:r>
                  <a:rPr lang="nl-NL" dirty="0" err="1"/>
                  <a:t>practice</a:t>
                </a:r>
                <a:r>
                  <a:rPr lang="nl-NL" dirty="0"/>
                  <a:t>. In </a:t>
                </a:r>
                <a:r>
                  <a:rPr lang="nl-NL" dirty="0" err="1"/>
                  <a:t>this</a:t>
                </a:r>
                <a:r>
                  <a:rPr lang="nl-NL" dirty="0"/>
                  <a:t> case I </a:t>
                </a:r>
                <a:r>
                  <a:rPr lang="nl-NL" dirty="0" err="1"/>
                  <a:t>mean</a:t>
                </a:r>
                <a:r>
                  <a:rPr lang="nl-NL" dirty="0"/>
                  <a:t> “… (5+4)/3 …” </a:t>
                </a:r>
                <a:r>
                  <a:rPr lang="nl-NL" dirty="0" err="1"/>
                  <a:t>with</a:t>
                </a:r>
                <a:r>
                  <a:rPr lang="nl-NL" dirty="0"/>
                  <a:t> it. </a:t>
                </a:r>
                <a:r>
                  <a:rPr lang="nl-NL" dirty="0" err="1"/>
                  <a:t>Also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dot (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nl-NL" dirty="0"/>
                  <a:t>) is of course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commonly</a:t>
                </a:r>
                <a:r>
                  <a:rPr lang="nl-NL" dirty="0"/>
                  <a:t> </a:t>
                </a:r>
                <a:r>
                  <a:rPr lang="nl-NL" dirty="0" err="1"/>
                  <a:t>used</a:t>
                </a:r>
                <a:r>
                  <a:rPr lang="nl-NL" dirty="0"/>
                  <a:t> </a:t>
                </a:r>
                <a:r>
                  <a:rPr lang="nl-NL" dirty="0" err="1"/>
                  <a:t>multiplication</a:t>
                </a:r>
                <a:r>
                  <a:rPr lang="nl-NL" dirty="0"/>
                  <a:t> </a:t>
                </a:r>
                <a:r>
                  <a:rPr lang="nl-NL" dirty="0" err="1"/>
                  <a:t>sign</a:t>
                </a:r>
                <a:r>
                  <a:rPr lang="nl-NL" dirty="0"/>
                  <a:t> in </a:t>
                </a:r>
                <a:r>
                  <a:rPr lang="nl-NL" dirty="0" err="1"/>
                  <a:t>maths</a:t>
                </a:r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is </a:t>
                </a:r>
                <a:r>
                  <a:rPr lang="nl-NL" dirty="0" err="1"/>
                  <a:t>often</a:t>
                </a:r>
                <a:r>
                  <a:rPr lang="nl-NL" dirty="0"/>
                  <a:t> </a:t>
                </a:r>
                <a:r>
                  <a:rPr lang="nl-NL" dirty="0" err="1"/>
                  <a:t>preferred</a:t>
                </a:r>
                <a:r>
                  <a:rPr lang="nl-NL" dirty="0"/>
                  <a:t> over </a:t>
                </a:r>
                <a:r>
                  <a:rPr lang="nl-NL" dirty="0" err="1"/>
                  <a:t>the</a:t>
                </a:r>
                <a:r>
                  <a:rPr lang="nl-NL" dirty="0"/>
                  <a:t> ×.</a:t>
                </a:r>
                <a:br>
                  <a:rPr lang="nl-NL" dirty="0"/>
                </a:br>
                <a:endParaRPr lang="nl-NL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C5C2619-E0C1-EA3F-A760-41A21A04B2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98975"/>
              </a:xfrm>
              <a:blipFill>
                <a:blip r:embed="rId2"/>
                <a:stretch>
                  <a:fillRect l="-1043" t="-230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382B2BFD-3BE1-101F-546F-AB299D816172}"/>
                  </a:ext>
                </a:extLst>
              </p:cNvPr>
              <p:cNvSpPr txBox="1"/>
              <p:nvPr/>
            </p:nvSpPr>
            <p:spPr>
              <a:xfrm>
                <a:off x="0" y="2416628"/>
                <a:ext cx="9720943" cy="7567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4400" b="0" i="1" smtClean="0">
                          <a:latin typeface="Cambria Math" panose="02040503050406030204" pitchFamily="18" charset="0"/>
                        </a:rPr>
                        <m:t>3+6</m:t>
                      </m:r>
                      <m:r>
                        <a:rPr lang="nl-NL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5+4</m:t>
                          </m:r>
                        </m:e>
                      </m:d>
                      <m:r>
                        <a:rPr lang="nl-NL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nl-NL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</m:t>
                      </m:r>
                      <m:sSup>
                        <m:sSupPr>
                          <m:ctrlP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nl-NL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ctrlP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27</m:t>
                          </m:r>
                        </m:e>
                      </m:rad>
                    </m:oMath>
                  </m:oMathPara>
                </a14:m>
                <a:endParaRPr lang="nl-NL" sz="4400" dirty="0"/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382B2BFD-3BE1-101F-546F-AB299D816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16628"/>
                <a:ext cx="9720943" cy="7567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3876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C9BD-A2FD-6F11-ED04-8B831E67E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D2DDB-BC2E-B91E-5F93-748ED118F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srgbClr val="FF0000"/>
                </a:solidFill>
              </a:rPr>
              <a:t>B</a:t>
            </a:r>
            <a:r>
              <a:rPr lang="nl-NL" dirty="0"/>
              <a:t>IDMAS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F3EB3CCA-E62C-DD97-78E6-A908E70B6B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5286" y="2359025"/>
                <a:ext cx="10515600" cy="4498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nl-NL" dirty="0"/>
                  <a:t>- Step 1 </a:t>
                </a:r>
                <a:r>
                  <a:rPr lang="nl-NL" dirty="0" err="1"/>
                  <a:t>will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looking</a:t>
                </a:r>
                <a:r>
                  <a:rPr lang="nl-NL" dirty="0"/>
                  <a:t> at </a:t>
                </a:r>
                <a:r>
                  <a:rPr lang="nl-NL" dirty="0" err="1">
                    <a:solidFill>
                      <a:srgbClr val="FF0000"/>
                    </a:solidFill>
                  </a:rPr>
                  <a:t>B</a:t>
                </a:r>
                <a:r>
                  <a:rPr lang="nl-NL" dirty="0" err="1"/>
                  <a:t>rackets</a:t>
                </a:r>
                <a:r>
                  <a:rPr lang="nl-NL" dirty="0"/>
                  <a:t>. We </a:t>
                </a:r>
                <a:r>
                  <a:rPr lang="nl-NL" dirty="0" err="1"/>
                  <a:t>see</a:t>
                </a:r>
                <a:r>
                  <a:rPr lang="nl-NL" dirty="0"/>
                  <a:t> </a:t>
                </a:r>
                <a:r>
                  <a:rPr lang="nl-NL" dirty="0" err="1"/>
                  <a:t>this</a:t>
                </a:r>
                <a:r>
                  <a:rPr lang="nl-NL" dirty="0"/>
                  <a:t> part in </a:t>
                </a:r>
                <a:r>
                  <a:rPr lang="nl-NL" dirty="0" err="1"/>
                  <a:t>particular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5+4</m:t>
                        </m:r>
                      </m:e>
                    </m:d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which</a:t>
                </a:r>
                <a:r>
                  <a:rPr lang="nl-NL" dirty="0"/>
                  <a:t> we </a:t>
                </a:r>
                <a:r>
                  <a:rPr lang="nl-NL" dirty="0" err="1"/>
                  <a:t>will</a:t>
                </a:r>
                <a:r>
                  <a:rPr lang="nl-NL" dirty="0"/>
                  <a:t> have </a:t>
                </a:r>
                <a:r>
                  <a:rPr lang="nl-NL" dirty="0" err="1"/>
                  <a:t>to</a:t>
                </a:r>
                <a:r>
                  <a:rPr lang="nl-NL" dirty="0"/>
                  <a:t> focus on first. Well (5+4)=(9) </a:t>
                </a:r>
                <a:r>
                  <a:rPr lang="nl-NL" dirty="0" err="1"/>
                  <a:t>so</a:t>
                </a:r>
                <a:r>
                  <a:rPr lang="nl-NL" dirty="0"/>
                  <a:t> we </a:t>
                </a:r>
                <a:r>
                  <a:rPr lang="nl-NL" dirty="0" err="1"/>
                  <a:t>will</a:t>
                </a:r>
                <a:r>
                  <a:rPr lang="nl-NL" dirty="0"/>
                  <a:t> </a:t>
                </a:r>
                <a:r>
                  <a:rPr lang="nl-NL" dirty="0" err="1"/>
                  <a:t>place</a:t>
                </a:r>
                <a:r>
                  <a:rPr lang="nl-NL" dirty="0"/>
                  <a:t> </a:t>
                </a:r>
                <a:r>
                  <a:rPr lang="nl-NL" dirty="0" err="1"/>
                  <a:t>that</a:t>
                </a:r>
                <a:r>
                  <a:rPr lang="nl-NL" dirty="0"/>
                  <a:t> in here </a:t>
                </a:r>
                <a:r>
                  <a:rPr lang="nl-NL" dirty="0">
                    <a:solidFill>
                      <a:srgbClr val="FFFF00"/>
                    </a:solidFill>
                  </a:rPr>
                  <a:t>[we </a:t>
                </a:r>
                <a:r>
                  <a:rPr lang="nl-NL" dirty="0" err="1">
                    <a:solidFill>
                      <a:srgbClr val="FFFF00"/>
                    </a:solidFill>
                  </a:rPr>
                  <a:t>also</a:t>
                </a:r>
                <a:r>
                  <a:rPr lang="nl-NL" dirty="0">
                    <a:solidFill>
                      <a:srgbClr val="FFFF00"/>
                    </a:solidFill>
                  </a:rPr>
                  <a:t> get </a:t>
                </a:r>
                <a:r>
                  <a:rPr lang="nl-NL" dirty="0" err="1">
                    <a:solidFill>
                      <a:srgbClr val="FFFF00"/>
                    </a:solidFill>
                  </a:rPr>
                  <a:t>rid</a:t>
                </a:r>
                <a:r>
                  <a:rPr lang="nl-NL" dirty="0">
                    <a:solidFill>
                      <a:srgbClr val="FFFF00"/>
                    </a:solidFill>
                  </a:rPr>
                  <a:t> of </a:t>
                </a:r>
                <a:r>
                  <a:rPr lang="nl-NL" dirty="0" err="1">
                    <a:solidFill>
                      <a:srgbClr val="FFFF00"/>
                    </a:solidFill>
                  </a:rPr>
                  <a:t>the</a:t>
                </a:r>
                <a:r>
                  <a:rPr lang="nl-NL" dirty="0">
                    <a:solidFill>
                      <a:srgbClr val="FFFF00"/>
                    </a:solidFill>
                  </a:rPr>
                  <a:t> </a:t>
                </a:r>
                <a:r>
                  <a:rPr lang="nl-NL" dirty="0" err="1">
                    <a:solidFill>
                      <a:srgbClr val="FFFF00"/>
                    </a:solidFill>
                  </a:rPr>
                  <a:t>brackets</a:t>
                </a:r>
                <a:r>
                  <a:rPr lang="nl-NL" dirty="0">
                    <a:solidFill>
                      <a:srgbClr val="FFFF00"/>
                    </a:solidFill>
                  </a:rPr>
                  <a:t> </a:t>
                </a:r>
                <a:r>
                  <a:rPr lang="nl-NL" dirty="0" err="1">
                    <a:solidFill>
                      <a:srgbClr val="FFFF00"/>
                    </a:solidFill>
                  </a:rPr>
                  <a:t>around</a:t>
                </a:r>
                <a:r>
                  <a:rPr lang="nl-NL" dirty="0">
                    <a:solidFill>
                      <a:srgbClr val="FFFF00"/>
                    </a:solidFill>
                  </a:rPr>
                  <a:t> 9 </a:t>
                </a:r>
                <a:r>
                  <a:rPr lang="nl-NL" dirty="0" err="1">
                    <a:solidFill>
                      <a:srgbClr val="FFFF00"/>
                    </a:solidFill>
                  </a:rPr>
                  <a:t>because</a:t>
                </a:r>
                <a:r>
                  <a:rPr lang="nl-NL" dirty="0">
                    <a:solidFill>
                      <a:srgbClr val="FFFF00"/>
                    </a:solidFill>
                  </a:rPr>
                  <a:t> we </a:t>
                </a:r>
                <a:r>
                  <a:rPr lang="nl-NL" dirty="0" err="1">
                    <a:solidFill>
                      <a:srgbClr val="FFFF00"/>
                    </a:solidFill>
                  </a:rPr>
                  <a:t>simplified</a:t>
                </a:r>
                <a:r>
                  <a:rPr lang="nl-NL" dirty="0">
                    <a:solidFill>
                      <a:srgbClr val="FFFF00"/>
                    </a:solidFill>
                  </a:rPr>
                  <a:t> </a:t>
                </a:r>
                <a:r>
                  <a:rPr lang="nl-NL" dirty="0" err="1">
                    <a:solidFill>
                      <a:srgbClr val="FFFF00"/>
                    </a:solidFill>
                  </a:rPr>
                  <a:t>what</a:t>
                </a:r>
                <a:r>
                  <a:rPr lang="nl-NL" dirty="0">
                    <a:solidFill>
                      <a:srgbClr val="FFFF00"/>
                    </a:solidFill>
                  </a:rPr>
                  <a:t> is in </a:t>
                </a:r>
                <a:r>
                  <a:rPr lang="nl-NL" dirty="0" err="1">
                    <a:solidFill>
                      <a:srgbClr val="FFFF00"/>
                    </a:solidFill>
                  </a:rPr>
                  <a:t>it</a:t>
                </a:r>
                <a:r>
                  <a:rPr lang="nl-NL" dirty="0">
                    <a:solidFill>
                      <a:srgbClr val="FFFF00"/>
                    </a:solidFill>
                  </a:rPr>
                  <a:t>]</a:t>
                </a:r>
                <a:r>
                  <a:rPr lang="nl-NL" dirty="0"/>
                  <a:t>: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F3EB3CCA-E62C-DD97-78E6-A908E70B6B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5286" y="2359025"/>
                <a:ext cx="10515600" cy="4498975"/>
              </a:xfrm>
              <a:blipFill>
                <a:blip r:embed="rId2"/>
                <a:stretch>
                  <a:fillRect l="-1217" t="-2439" r="-87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30FFEE0B-6BFC-45B3-4FD6-8DD3CA23EBF9}"/>
                  </a:ext>
                </a:extLst>
              </p:cNvPr>
              <p:cNvSpPr txBox="1"/>
              <p:nvPr/>
            </p:nvSpPr>
            <p:spPr>
              <a:xfrm>
                <a:off x="0" y="1418355"/>
                <a:ext cx="9720943" cy="7567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4400" b="0" i="1" smtClean="0">
                          <a:latin typeface="Cambria Math" panose="02040503050406030204" pitchFamily="18" charset="0"/>
                        </a:rPr>
                        <m:t>3+6</m:t>
                      </m:r>
                      <m:r>
                        <a:rPr lang="nl-NL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nl-NL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5+4</m:t>
                          </m:r>
                        </m:e>
                      </m:d>
                      <m:r>
                        <a:rPr lang="nl-NL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nl-NL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</m:t>
                      </m:r>
                      <m:sSup>
                        <m:sSupPr>
                          <m:ctrlP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nl-NL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ctrlP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27</m:t>
                          </m:r>
                        </m:e>
                      </m:rad>
                    </m:oMath>
                  </m:oMathPara>
                </a14:m>
                <a:endParaRPr lang="nl-NL" sz="4400" dirty="0"/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30FFEE0B-6BFC-45B3-4FD6-8DD3CA23E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18355"/>
                <a:ext cx="9720943" cy="7567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DEB4CEE7-61FE-A558-5575-983757E76443}"/>
                  </a:ext>
                </a:extLst>
              </p:cNvPr>
              <p:cNvSpPr txBox="1"/>
              <p:nvPr/>
            </p:nvSpPr>
            <p:spPr>
              <a:xfrm>
                <a:off x="-740229" y="4129539"/>
                <a:ext cx="9720943" cy="7567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4400" b="0" i="1" smtClean="0">
                          <a:latin typeface="Cambria Math" panose="02040503050406030204" pitchFamily="18" charset="0"/>
                        </a:rPr>
                        <m:t>3+6</m:t>
                      </m:r>
                      <m:r>
                        <a:rPr lang="nl-NL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nl-NL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nl-NL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nl-NL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</m:t>
                      </m:r>
                      <m:sSup>
                        <m:sSupPr>
                          <m:ctrlP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nl-NL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ctrlP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nl-NL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27</m:t>
                          </m:r>
                        </m:e>
                      </m:rad>
                    </m:oMath>
                  </m:oMathPara>
                </a14:m>
                <a:endParaRPr lang="nl-NL" sz="4400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DEB4CEE7-61FE-A558-5575-983757E76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0229" y="4129539"/>
                <a:ext cx="9720943" cy="7567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674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515AC-9429-FD43-4A3D-7BC737E57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604C5D-A47E-94B2-21C0-3CD3056E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</a:t>
            </a:r>
            <a:r>
              <a:rPr lang="nl-NL" dirty="0">
                <a:solidFill>
                  <a:schemeClr val="accent5"/>
                </a:solidFill>
              </a:rPr>
              <a:t>I</a:t>
            </a:r>
            <a:r>
              <a:rPr lang="nl-NL" dirty="0"/>
              <a:t>DMAS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2CF88E-B5AB-25F5-E96C-DE1929B2B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98975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nl-NL" dirty="0"/>
            </a:br>
            <a:br>
              <a:rPr lang="nl-NL" dirty="0"/>
            </a:br>
            <a:br>
              <a:rPr lang="nl-NL" dirty="0"/>
            </a:br>
            <a:r>
              <a:rPr lang="nl-NL" dirty="0"/>
              <a:t>- Step 2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looking</a:t>
            </a:r>
            <a:r>
              <a:rPr lang="nl-NL" dirty="0"/>
              <a:t> at </a:t>
            </a:r>
            <a:r>
              <a:rPr lang="nl-NL" dirty="0">
                <a:solidFill>
                  <a:schemeClr val="accent5"/>
                </a:solidFill>
              </a:rPr>
              <a:t>I</a:t>
            </a:r>
            <a:r>
              <a:rPr lang="nl-NL" dirty="0"/>
              <a:t>ndices. We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of </a:t>
            </a:r>
            <a:r>
              <a:rPr lang="nl-NL" dirty="0" err="1"/>
              <a:t>them</a:t>
            </a:r>
            <a:r>
              <a:rPr lang="nl-NL" dirty="0"/>
              <a:t>: 2^4 </a:t>
            </a:r>
            <a:r>
              <a:rPr lang="nl-NL" dirty="0" err="1"/>
              <a:t>and</a:t>
            </a:r>
            <a:r>
              <a:rPr lang="nl-NL" dirty="0"/>
              <a:t> 27^(1/3) </a:t>
            </a:r>
            <a:r>
              <a:rPr lang="nl-NL" dirty="0" err="1"/>
              <a:t>which</a:t>
            </a:r>
            <a:r>
              <a:rPr lang="nl-NL" dirty="0"/>
              <a:t>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simplify</a:t>
            </a:r>
            <a:r>
              <a:rPr lang="nl-NL" dirty="0"/>
              <a:t>. We </a:t>
            </a:r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2^4=16  </a:t>
            </a:r>
            <a:r>
              <a:rPr lang="nl-NL" dirty="0" err="1"/>
              <a:t>and</a:t>
            </a:r>
            <a:r>
              <a:rPr lang="nl-NL" dirty="0"/>
              <a:t> 27^(1/3)=3, </a:t>
            </a:r>
            <a:r>
              <a:rPr lang="nl-NL" dirty="0" err="1"/>
              <a:t>so</a:t>
            </a:r>
            <a:r>
              <a:rPr lang="nl-NL" dirty="0"/>
              <a:t> we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substitute</a:t>
            </a:r>
            <a:r>
              <a:rPr lang="nl-NL" dirty="0"/>
              <a:t> </a:t>
            </a:r>
            <a:r>
              <a:rPr lang="nl-NL" dirty="0" err="1"/>
              <a:t>those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equation</a:t>
            </a:r>
            <a:r>
              <a:rPr lang="nl-NL" dirty="0"/>
              <a:t> </a:t>
            </a:r>
            <a:r>
              <a:rPr lang="nl-NL" dirty="0" err="1"/>
              <a:t>now</a:t>
            </a:r>
            <a:r>
              <a:rPr lang="nl-NL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17416417-13FD-5E27-A594-EA5C38639924}"/>
                  </a:ext>
                </a:extLst>
              </p:cNvPr>
              <p:cNvSpPr txBox="1"/>
              <p:nvPr/>
            </p:nvSpPr>
            <p:spPr>
              <a:xfrm>
                <a:off x="-892630" y="1825624"/>
                <a:ext cx="9720943" cy="7567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4400" b="0" i="1" smtClean="0">
                          <a:latin typeface="Cambria Math" panose="02040503050406030204" pitchFamily="18" charset="0"/>
                        </a:rPr>
                        <m:t>3+6</m:t>
                      </m:r>
                      <m:r>
                        <a:rPr lang="nl-NL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nl-NL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nl-NL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nl-NL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</m:t>
                      </m:r>
                      <m:sSup>
                        <m:sSupPr>
                          <m:ctrlPr>
                            <a:rPr lang="nl-NL" sz="4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4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nl-NL" sz="4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nl-NL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ctrlPr>
                            <a:rPr lang="nl-NL" sz="4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nl-NL" sz="4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nl-NL" sz="4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27</m:t>
                          </m:r>
                        </m:e>
                      </m:rad>
                    </m:oMath>
                  </m:oMathPara>
                </a14:m>
                <a:endParaRPr lang="nl-NL" sz="4400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17416417-13FD-5E27-A594-EA5C38639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92630" y="1825624"/>
                <a:ext cx="9720943" cy="7567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A4D84584-4847-FA47-1199-B3541D4DD3A0}"/>
                  </a:ext>
                </a:extLst>
              </p:cNvPr>
              <p:cNvSpPr txBox="1"/>
              <p:nvPr/>
            </p:nvSpPr>
            <p:spPr>
              <a:xfrm>
                <a:off x="-1164773" y="4645024"/>
                <a:ext cx="9720943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4400" b="0" i="1" smtClean="0">
                          <a:latin typeface="Cambria Math" panose="02040503050406030204" pitchFamily="18" charset="0"/>
                        </a:rPr>
                        <m:t>3+6</m:t>
                      </m:r>
                      <m:r>
                        <a:rPr lang="nl-NL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nl-NL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nl-NL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nl-NL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</m:t>
                      </m:r>
                      <m:r>
                        <a:rPr lang="nl-NL" sz="4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</m:t>
                      </m:r>
                      <m:r>
                        <a:rPr lang="nl-NL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nl-NL" sz="4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nl-NL" sz="4400" dirty="0"/>
              </a:p>
            </p:txBody>
          </p:sp>
        </mc:Choice>
        <mc:Fallback xmlns="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A4D84584-4847-FA47-1199-B3541D4DD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64773" y="4645024"/>
                <a:ext cx="9720943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1592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B4BB2-2D6F-0B25-7EAF-8AA08697A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64B7BA-85C8-B653-64B1-424247DF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BI</a:t>
            </a:r>
            <a:r>
              <a:rPr lang="nl-NL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DM</a:t>
            </a:r>
            <a:r>
              <a:rPr lang="nl-NL" dirty="0"/>
              <a:t>AS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33FD931-0901-2A4C-DD1B-B84E2DF73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98975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nl-NL" dirty="0"/>
            </a:br>
            <a:br>
              <a:rPr lang="nl-NL" dirty="0"/>
            </a:br>
            <a:r>
              <a:rPr lang="nl-NL" dirty="0"/>
              <a:t>- Step 3 concerns </a:t>
            </a:r>
            <a:r>
              <a:rPr lang="nl-NL" dirty="0" err="1">
                <a:solidFill>
                  <a:schemeClr val="accent1"/>
                </a:solidFill>
              </a:rPr>
              <a:t>D</a:t>
            </a:r>
            <a:r>
              <a:rPr lang="nl-NL" dirty="0" err="1"/>
              <a:t>ivision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>
                <a:solidFill>
                  <a:schemeClr val="accent1"/>
                </a:solidFill>
              </a:rPr>
              <a:t>M</a:t>
            </a:r>
            <a:r>
              <a:rPr lang="nl-NL" dirty="0" err="1"/>
              <a:t>ultiplication</a:t>
            </a:r>
            <a:r>
              <a:rPr lang="nl-NL" dirty="0"/>
              <a:t>.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about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elements</a:t>
            </a:r>
            <a:r>
              <a:rPr lang="nl-NL" dirty="0"/>
              <a:t> 6*9 </a:t>
            </a:r>
            <a:r>
              <a:rPr lang="nl-NL" dirty="0" err="1"/>
              <a:t>and</a:t>
            </a:r>
            <a:r>
              <a:rPr lang="nl-NL" dirty="0"/>
              <a:t> 9/3. </a:t>
            </a:r>
            <a:r>
              <a:rPr lang="nl-NL" dirty="0" err="1"/>
              <a:t>However</a:t>
            </a:r>
            <a:r>
              <a:rPr lang="nl-NL" dirty="0"/>
              <a:t> these </a:t>
            </a:r>
            <a:r>
              <a:rPr lang="nl-NL" dirty="0" err="1"/>
              <a:t>elements</a:t>
            </a:r>
            <a:r>
              <a:rPr lang="nl-NL" dirty="0"/>
              <a:t> are next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looped</a:t>
            </a:r>
            <a:r>
              <a:rPr lang="nl-NL" dirty="0"/>
              <a:t>: 6*9/3. But </a:t>
            </a:r>
            <a:r>
              <a:rPr lang="nl-NL" dirty="0" err="1"/>
              <a:t>division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multiplication</a:t>
            </a:r>
            <a:r>
              <a:rPr lang="nl-NL" dirty="0"/>
              <a:t> are </a:t>
            </a:r>
            <a:r>
              <a:rPr lang="nl-NL" dirty="0" err="1"/>
              <a:t>equal</a:t>
            </a:r>
            <a:r>
              <a:rPr lang="nl-NL" dirty="0"/>
              <a:t> right? Yes. Okay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now</a:t>
            </a:r>
            <a:r>
              <a:rPr lang="nl-NL" dirty="0"/>
              <a:t>?</a:t>
            </a:r>
          </a:p>
          <a:p>
            <a:pPr marL="0" indent="0">
              <a:buNone/>
            </a:pPr>
            <a:br>
              <a:rPr lang="nl-NL" dirty="0"/>
            </a:br>
            <a:r>
              <a:rPr lang="nl-NL" dirty="0"/>
              <a:t>- </a:t>
            </a:r>
            <a:r>
              <a:rPr lang="nl-NL" dirty="0" err="1"/>
              <a:t>Remember</a:t>
            </a:r>
            <a:r>
              <a:rPr lang="nl-NL" dirty="0"/>
              <a:t>! </a:t>
            </a:r>
            <a:r>
              <a:rPr lang="nl-NL" dirty="0" err="1"/>
              <a:t>Left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right, </a:t>
            </a:r>
            <a:r>
              <a:rPr lang="nl-NL" dirty="0" err="1"/>
              <a:t>so</a:t>
            </a:r>
            <a:r>
              <a:rPr lang="nl-NL" dirty="0"/>
              <a:t> we </a:t>
            </a:r>
            <a:r>
              <a:rPr lang="nl-NL" dirty="0" err="1"/>
              <a:t>will</a:t>
            </a:r>
            <a:r>
              <a:rPr lang="nl-NL" dirty="0"/>
              <a:t> first </a:t>
            </a:r>
            <a:r>
              <a:rPr lang="nl-NL" dirty="0" err="1"/>
              <a:t>solve</a:t>
            </a:r>
            <a:r>
              <a:rPr lang="nl-NL" dirty="0"/>
              <a:t> 6*9=</a:t>
            </a:r>
            <a:r>
              <a:rPr lang="nl-NL" dirty="0">
                <a:solidFill>
                  <a:schemeClr val="accent4"/>
                </a:solidFill>
              </a:rPr>
              <a:t>54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plug </a:t>
            </a:r>
            <a:r>
              <a:rPr lang="nl-NL" dirty="0" err="1"/>
              <a:t>that</a:t>
            </a:r>
            <a:r>
              <a:rPr lang="nl-NL" dirty="0"/>
              <a:t> in: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24B22623-9CB7-9588-DA8E-F964F34386B6}"/>
                  </a:ext>
                </a:extLst>
              </p:cNvPr>
              <p:cNvSpPr txBox="1"/>
              <p:nvPr/>
            </p:nvSpPr>
            <p:spPr>
              <a:xfrm>
                <a:off x="-1317173" y="1690688"/>
                <a:ext cx="9720943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3+</m:t>
                      </m:r>
                      <m:r>
                        <a:rPr lang="nl-NL" sz="4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nl-NL" sz="4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nl-NL" sz="4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nl-NL" sz="4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nl-NL" sz="4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nl-NL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−16+3</m:t>
                      </m:r>
                    </m:oMath>
                  </m:oMathPara>
                </a14:m>
                <a:endParaRPr lang="nl-NL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24B22623-9CB7-9588-DA8E-F964F3438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17173" y="1690688"/>
                <a:ext cx="9720943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1796E4CD-92E9-10FF-BF1A-7C31C555AD5C}"/>
                  </a:ext>
                </a:extLst>
              </p:cNvPr>
              <p:cNvSpPr txBox="1"/>
              <p:nvPr/>
            </p:nvSpPr>
            <p:spPr>
              <a:xfrm>
                <a:off x="-1513116" y="5647491"/>
                <a:ext cx="9720943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3+</m:t>
                      </m:r>
                      <m:r>
                        <a:rPr lang="nl-NL" sz="4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54</m:t>
                      </m:r>
                      <m:r>
                        <a:rPr lang="nl-NL" sz="4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nl-NL" sz="4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nl-NL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−16+3</m:t>
                      </m:r>
                    </m:oMath>
                  </m:oMathPara>
                </a14:m>
                <a:endParaRPr lang="nl-NL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1796E4CD-92E9-10FF-BF1A-7C31C555A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13116" y="5647491"/>
                <a:ext cx="9720943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0385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B8CDE-033A-0A73-2840-70338EDFD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480726-8B9E-A98E-D2FC-2E93CEE53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BI</a:t>
            </a:r>
            <a:r>
              <a:rPr lang="nl-NL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DM</a:t>
            </a:r>
            <a:r>
              <a:rPr lang="nl-NL" dirty="0"/>
              <a:t>AS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3C61FD-948B-7F89-FA29-AD67BF1A1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98975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nl-NL" dirty="0"/>
            </a:br>
            <a:endParaRPr lang="nl-NL" dirty="0"/>
          </a:p>
          <a:p>
            <a:pPr marL="0" indent="0">
              <a:buNone/>
            </a:pPr>
            <a:r>
              <a:rPr lang="nl-NL" dirty="0"/>
              <a:t>- </a:t>
            </a:r>
            <a:r>
              <a:rPr lang="nl-NL" dirty="0" err="1"/>
              <a:t>Subsequently</a:t>
            </a:r>
            <a:r>
              <a:rPr lang="nl-NL" dirty="0"/>
              <a:t>, we </a:t>
            </a:r>
            <a:r>
              <a:rPr lang="nl-NL" dirty="0" err="1"/>
              <a:t>solve</a:t>
            </a:r>
            <a:r>
              <a:rPr lang="nl-NL" dirty="0"/>
              <a:t> 54/3 = </a:t>
            </a:r>
            <a:r>
              <a:rPr lang="nl-NL" dirty="0">
                <a:solidFill>
                  <a:schemeClr val="accent4"/>
                </a:solidFill>
              </a:rPr>
              <a:t>18</a:t>
            </a:r>
            <a:r>
              <a:rPr lang="nl-NL" dirty="0"/>
              <a:t> </a:t>
            </a:r>
            <a:r>
              <a:rPr lang="nl-NL" dirty="0">
                <a:solidFill>
                  <a:srgbClr val="FFFF00"/>
                </a:solidFill>
              </a:rPr>
              <a:t>[</a:t>
            </a:r>
            <a:r>
              <a:rPr lang="nl-NL" dirty="0" err="1">
                <a:solidFill>
                  <a:srgbClr val="FFFF00"/>
                </a:solidFill>
              </a:rPr>
              <a:t>one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could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use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tail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division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for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this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if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you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didnt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know</a:t>
            </a:r>
            <a:r>
              <a:rPr lang="nl-NL" dirty="0">
                <a:solidFill>
                  <a:srgbClr val="FFFF00"/>
                </a:solidFill>
              </a:rPr>
              <a:t> or </a:t>
            </a:r>
            <a:r>
              <a:rPr lang="nl-NL" dirty="0" err="1">
                <a:solidFill>
                  <a:srgbClr val="FFFF00"/>
                </a:solidFill>
              </a:rPr>
              <a:t>the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fact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that</a:t>
            </a:r>
            <a:r>
              <a:rPr lang="nl-NL" dirty="0">
                <a:solidFill>
                  <a:srgbClr val="FFFF00"/>
                </a:solidFill>
              </a:rPr>
              <a:t> 27/3 = 9 </a:t>
            </a:r>
            <a:r>
              <a:rPr lang="nl-NL" dirty="0" err="1">
                <a:solidFill>
                  <a:srgbClr val="FFFF00"/>
                </a:solidFill>
              </a:rPr>
              <a:t>and</a:t>
            </a:r>
            <a:r>
              <a:rPr lang="nl-NL" dirty="0">
                <a:solidFill>
                  <a:srgbClr val="FFFF00"/>
                </a:solidFill>
              </a:rPr>
              <a:t> 54/3 = 2 * 27/3 = 2*9=18; </a:t>
            </a:r>
            <a:r>
              <a:rPr lang="nl-NL" dirty="0" err="1">
                <a:solidFill>
                  <a:srgbClr val="FFFF00"/>
                </a:solidFill>
              </a:rPr>
              <a:t>thats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how</a:t>
            </a:r>
            <a:r>
              <a:rPr lang="nl-NL" dirty="0">
                <a:solidFill>
                  <a:srgbClr val="FFFF00"/>
                </a:solidFill>
              </a:rPr>
              <a:t> I </a:t>
            </a:r>
            <a:r>
              <a:rPr lang="nl-NL" dirty="0" err="1">
                <a:solidFill>
                  <a:srgbClr val="FFFF00"/>
                </a:solidFill>
              </a:rPr>
              <a:t>did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it</a:t>
            </a:r>
            <a:r>
              <a:rPr lang="nl-NL" dirty="0">
                <a:solidFill>
                  <a:srgbClr val="FFFF00"/>
                </a:solidFill>
              </a:rPr>
              <a:t> </a:t>
            </a:r>
            <a:r>
              <a:rPr lang="nl-NL" dirty="0" err="1">
                <a:solidFill>
                  <a:srgbClr val="FFFF00"/>
                </a:solidFill>
              </a:rPr>
              <a:t>anyway</a:t>
            </a:r>
            <a:r>
              <a:rPr lang="nl-NL" dirty="0">
                <a:solidFill>
                  <a:srgbClr val="FFFF00"/>
                </a:solidFill>
              </a:rPr>
              <a:t>] </a:t>
            </a:r>
            <a:r>
              <a:rPr lang="nl-NL" dirty="0" err="1"/>
              <a:t>and</a:t>
            </a:r>
            <a:r>
              <a:rPr lang="nl-NL" dirty="0"/>
              <a:t> plug </a:t>
            </a:r>
            <a:r>
              <a:rPr lang="nl-NL" dirty="0" err="1"/>
              <a:t>that</a:t>
            </a:r>
            <a:r>
              <a:rPr lang="nl-NL" dirty="0"/>
              <a:t> in: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E1F859D5-04EA-3115-15C1-BB07CD776690}"/>
                  </a:ext>
                </a:extLst>
              </p:cNvPr>
              <p:cNvSpPr txBox="1"/>
              <p:nvPr/>
            </p:nvSpPr>
            <p:spPr>
              <a:xfrm>
                <a:off x="-1513116" y="1587119"/>
                <a:ext cx="9720943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3+</m:t>
                      </m:r>
                      <m:r>
                        <a:rPr lang="nl-NL" sz="4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54</m:t>
                      </m:r>
                      <m:r>
                        <a:rPr lang="nl-NL" sz="4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nl-NL" sz="4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nl-NL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−16+3</m:t>
                      </m:r>
                    </m:oMath>
                  </m:oMathPara>
                </a14:m>
                <a:endParaRPr lang="nl-NL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E1F859D5-04EA-3115-15C1-BB07CD776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13116" y="1587119"/>
                <a:ext cx="9720943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083EBC45-6C04-7FDE-4AF8-462A5BF92C97}"/>
                  </a:ext>
                </a:extLst>
              </p:cNvPr>
              <p:cNvSpPr txBox="1"/>
              <p:nvPr/>
            </p:nvSpPr>
            <p:spPr>
              <a:xfrm>
                <a:off x="-1970315" y="4362976"/>
                <a:ext cx="9720943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3+</m:t>
                      </m:r>
                      <m:r>
                        <a:rPr lang="nl-NL" sz="4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nl-NL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−16+3</m:t>
                      </m:r>
                    </m:oMath>
                  </m:oMathPara>
                </a14:m>
                <a:endParaRPr lang="nl-NL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083EBC45-6C04-7FDE-4AF8-462A5BF92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70315" y="4362976"/>
                <a:ext cx="9720943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2712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1BCA4-AC19-77F7-DF62-9C68D0B3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A2A4A8-A2BA-0E80-19E8-F6B3BC6F4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BIDM</a:t>
            </a:r>
            <a:r>
              <a:rPr lang="nl-NL" dirty="0">
                <a:solidFill>
                  <a:schemeClr val="accent2"/>
                </a:solidFill>
              </a:rPr>
              <a:t>AS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D9B1A8-D3D8-4470-638D-0E60030C5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640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br>
              <a:rPr lang="nl-NL" dirty="0"/>
            </a:br>
            <a:endParaRPr lang="nl-NL" dirty="0"/>
          </a:p>
          <a:p>
            <a:pPr>
              <a:buFontTx/>
              <a:buChar char="-"/>
            </a:pPr>
            <a:r>
              <a:rPr lang="nl-NL" dirty="0"/>
              <a:t>We have </a:t>
            </a:r>
            <a:r>
              <a:rPr lang="nl-NL" dirty="0" err="1"/>
              <a:t>arrived</a:t>
            </a:r>
            <a:r>
              <a:rPr lang="nl-NL" dirty="0"/>
              <a:t> at </a:t>
            </a:r>
            <a:r>
              <a:rPr lang="nl-NL" dirty="0" err="1"/>
              <a:t>the</a:t>
            </a:r>
            <a:r>
              <a:rPr lang="nl-NL" dirty="0"/>
              <a:t> last stage: </a:t>
            </a:r>
            <a:r>
              <a:rPr lang="nl-NL" dirty="0" err="1"/>
              <a:t>Addition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Subtraction</a:t>
            </a:r>
            <a:r>
              <a:rPr lang="nl-NL" dirty="0"/>
              <a:t>. We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solve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left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right here,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could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like </a:t>
            </a:r>
            <a:r>
              <a:rPr lang="nl-NL" dirty="0" err="1"/>
              <a:t>this</a:t>
            </a:r>
            <a:r>
              <a:rPr lang="nl-NL" dirty="0"/>
              <a:t>: (((3+18)-16)+3). [but </a:t>
            </a:r>
            <a:r>
              <a:rPr lang="nl-NL" dirty="0" err="1"/>
              <a:t>dont</a:t>
            </a:r>
            <a:r>
              <a:rPr lang="nl-NL" dirty="0"/>
              <a:t> </a:t>
            </a:r>
            <a:r>
              <a:rPr lang="nl-NL" dirty="0" err="1"/>
              <a:t>please</a:t>
            </a:r>
            <a:r>
              <a:rPr lang="nl-NL" dirty="0"/>
              <a:t>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remember</a:t>
            </a:r>
            <a:r>
              <a:rPr lang="nl-NL" dirty="0"/>
              <a:t> </a:t>
            </a:r>
            <a:r>
              <a:rPr lang="nl-NL" dirty="0" err="1"/>
              <a:t>left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right].</a:t>
            </a:r>
          </a:p>
          <a:p>
            <a:pPr marL="0" indent="0">
              <a:buNone/>
            </a:pPr>
            <a:r>
              <a:rPr lang="nl-NL" dirty="0"/>
              <a:t>- </a:t>
            </a:r>
            <a:r>
              <a:rPr lang="nl-NL" dirty="0" err="1"/>
              <a:t>Anyhow</a:t>
            </a:r>
            <a:r>
              <a:rPr lang="nl-NL" dirty="0"/>
              <a:t>, 3+18=21, </a:t>
            </a:r>
            <a:r>
              <a:rPr lang="nl-NL" dirty="0" err="1"/>
              <a:t>then</a:t>
            </a:r>
            <a:r>
              <a:rPr lang="nl-NL" dirty="0"/>
              <a:t> 21-16=5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lastly</a:t>
            </a:r>
            <a:r>
              <a:rPr lang="nl-NL" dirty="0"/>
              <a:t> 5+3=8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voila</a:t>
            </a:r>
            <a:r>
              <a:rPr lang="nl-NL" dirty="0"/>
              <a:t> we are have found </a:t>
            </a:r>
            <a:r>
              <a:rPr lang="nl-NL" dirty="0" err="1"/>
              <a:t>our</a:t>
            </a:r>
            <a:r>
              <a:rPr lang="nl-NL" dirty="0"/>
              <a:t> </a:t>
            </a:r>
            <a:r>
              <a:rPr lang="nl-NL" dirty="0" err="1"/>
              <a:t>final</a:t>
            </a:r>
            <a:r>
              <a:rPr lang="nl-NL" dirty="0"/>
              <a:t> </a:t>
            </a:r>
            <a:r>
              <a:rPr lang="nl-NL" dirty="0" err="1"/>
              <a:t>answer</a:t>
            </a:r>
            <a:r>
              <a:rPr lang="nl-NL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9E5469F7-97F9-F041-BEE9-7F35B00A8EB2}"/>
                  </a:ext>
                </a:extLst>
              </p:cNvPr>
              <p:cNvSpPr txBox="1"/>
              <p:nvPr/>
            </p:nvSpPr>
            <p:spPr>
              <a:xfrm>
                <a:off x="-2013858" y="1608891"/>
                <a:ext cx="9720943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4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3+18</m:t>
                      </m:r>
                      <m:r>
                        <a:rPr lang="nl-NL" sz="4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−16+3</m:t>
                      </m:r>
                    </m:oMath>
                  </m:oMathPara>
                </a14:m>
                <a:endParaRPr lang="nl-NL" sz="4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9E5469F7-97F9-F041-BEE9-7F35B00A8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13858" y="1608891"/>
                <a:ext cx="9720943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F6F8F96D-69C4-5FBD-75F7-1E1B484B7F79}"/>
                  </a:ext>
                </a:extLst>
              </p:cNvPr>
              <p:cNvSpPr txBox="1"/>
              <p:nvPr/>
            </p:nvSpPr>
            <p:spPr>
              <a:xfrm>
                <a:off x="979714" y="4910555"/>
                <a:ext cx="9720943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4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nl-NL" sz="4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F6F8F96D-69C4-5FBD-75F7-1E1B484B7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14" y="4910555"/>
                <a:ext cx="9720943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3924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D66247-46F5-2BA8-AABC-E917A4280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Notes</a:t>
            </a:r>
            <a:r>
              <a:rPr lang="nl-NL" dirty="0"/>
              <a:t> on BIDMAS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27F8217D-F7BA-1723-3886-9CDDEB873C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NL" dirty="0"/>
                  <a:t>Inside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brackets</a:t>
                </a:r>
                <a:r>
                  <a:rPr lang="nl-NL" dirty="0"/>
                  <a:t>, </a:t>
                </a:r>
                <a:r>
                  <a:rPr lang="nl-NL" dirty="0" err="1"/>
                  <a:t>the</a:t>
                </a:r>
                <a:r>
                  <a:rPr lang="nl-NL" dirty="0"/>
                  <a:t> BIDMAS </a:t>
                </a:r>
                <a:r>
                  <a:rPr lang="nl-NL" dirty="0" err="1"/>
                  <a:t>also</a:t>
                </a:r>
                <a:r>
                  <a:rPr lang="nl-NL" dirty="0"/>
                  <a:t> </a:t>
                </a:r>
                <a:r>
                  <a:rPr lang="nl-NL" dirty="0" err="1"/>
                  <a:t>holds</a:t>
                </a:r>
                <a:r>
                  <a:rPr lang="nl-NL" dirty="0"/>
                  <a:t> like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example</a:t>
                </a:r>
                <a:r>
                  <a:rPr lang="nl-NL" dirty="0"/>
                  <a:t> in: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nl-NL" b="0" i="1" smtClean="0">
                        <a:latin typeface="Cambria Math" panose="02040503050406030204" pitchFamily="18" charset="0"/>
                      </a:rPr>
                      <m:t>(5−</m:t>
                    </m:r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dirty="0"/>
                  <a:t>, </a:t>
                </a:r>
                <a:r>
                  <a:rPr lang="nl-NL" dirty="0" err="1"/>
                  <a:t>you</a:t>
                </a:r>
                <a:r>
                  <a:rPr lang="nl-NL" dirty="0"/>
                  <a:t> first </a:t>
                </a:r>
                <a:r>
                  <a:rPr lang="nl-NL" dirty="0" err="1"/>
                  <a:t>simplify</a:t>
                </a:r>
                <a:r>
                  <a:rPr lang="nl-NL" dirty="0"/>
                  <a:t> 6^2=36, </a:t>
                </a:r>
                <a:r>
                  <a:rPr lang="nl-NL" dirty="0" err="1"/>
                  <a:t>then</a:t>
                </a:r>
                <a:r>
                  <a:rPr lang="nl-NL" dirty="0"/>
                  <a:t> do 5-36=-29, </a:t>
                </a:r>
                <a:r>
                  <a:rPr lang="nl-NL" dirty="0" err="1"/>
                  <a:t>afterwards</a:t>
                </a:r>
                <a:r>
                  <a:rPr lang="nl-NL" dirty="0"/>
                  <a:t> </a:t>
                </a:r>
                <a:r>
                  <a:rPr lang="nl-NL" dirty="0" err="1"/>
                  <a:t>you</a:t>
                </a:r>
                <a:r>
                  <a:rPr lang="nl-NL" dirty="0"/>
                  <a:t> do 3^3=27 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:r>
                  <a:rPr lang="nl-NL" dirty="0" err="1"/>
                  <a:t>then</a:t>
                </a:r>
                <a:r>
                  <a:rPr lang="nl-NL" dirty="0"/>
                  <a:t> do 27 (3^3) * -29 (</a:t>
                </a:r>
                <a:r>
                  <a:rPr lang="nl-NL" dirty="0" err="1"/>
                  <a:t>result</a:t>
                </a:r>
                <a:r>
                  <a:rPr lang="nl-NL" dirty="0"/>
                  <a:t> </a:t>
                </a:r>
                <a:r>
                  <a:rPr lang="nl-NL" dirty="0" err="1"/>
                  <a:t>from</a:t>
                </a:r>
                <a:r>
                  <a:rPr lang="nl-NL" dirty="0"/>
                  <a:t> </a:t>
                </a:r>
                <a:r>
                  <a:rPr lang="nl-NL" dirty="0" err="1"/>
                  <a:t>brackets</a:t>
                </a:r>
                <a:r>
                  <a:rPr lang="nl-NL" dirty="0"/>
                  <a:t>).</a:t>
                </a:r>
              </a:p>
              <a:p>
                <a:r>
                  <a:rPr lang="nl-NL" dirty="0"/>
                  <a:t>A </a:t>
                </a:r>
                <a:r>
                  <a:rPr lang="nl-NL" dirty="0" err="1"/>
                  <a:t>fraction</a:t>
                </a:r>
                <a:r>
                  <a:rPr lang="nl-NL" dirty="0"/>
                  <a:t> like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nl-NL" dirty="0"/>
                  <a:t> is </a:t>
                </a:r>
                <a:r>
                  <a:rPr lang="nl-NL" dirty="0" err="1"/>
                  <a:t>mathematically</a:t>
                </a:r>
                <a:r>
                  <a:rPr lang="nl-NL" dirty="0"/>
                  <a:t> </a:t>
                </a:r>
                <a:r>
                  <a:rPr lang="nl-NL" dirty="0" err="1"/>
                  <a:t>similar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1÷3 </a:t>
                </a:r>
                <a:r>
                  <a:rPr lang="nl-NL" dirty="0" err="1"/>
                  <a:t>so</a:t>
                </a:r>
                <a:r>
                  <a:rPr lang="nl-NL" dirty="0"/>
                  <a:t> take </a:t>
                </a:r>
                <a:r>
                  <a:rPr lang="nl-NL" dirty="0" err="1"/>
                  <a:t>this</a:t>
                </a:r>
                <a:r>
                  <a:rPr lang="nl-NL" dirty="0"/>
                  <a:t> </a:t>
                </a:r>
                <a:r>
                  <a:rPr lang="nl-NL" dirty="0" err="1"/>
                  <a:t>into</a:t>
                </a:r>
                <a:r>
                  <a:rPr lang="nl-NL" dirty="0"/>
                  <a:t> account </a:t>
                </a:r>
                <a:r>
                  <a:rPr lang="nl-NL" dirty="0" err="1"/>
                  <a:t>when</a:t>
                </a:r>
                <a:r>
                  <a:rPr lang="nl-NL" dirty="0"/>
                  <a:t> </a:t>
                </a:r>
                <a:r>
                  <a:rPr lang="nl-NL" dirty="0" err="1"/>
                  <a:t>doing</a:t>
                </a:r>
                <a:r>
                  <a:rPr lang="nl-NL" dirty="0"/>
                  <a:t> BIDMAS!</a:t>
                </a:r>
              </a:p>
              <a:p>
                <a:r>
                  <a:rPr lang="nl-NL" dirty="0"/>
                  <a:t>In case of </a:t>
                </a:r>
                <a:r>
                  <a:rPr lang="nl-NL" dirty="0">
                    <a:solidFill>
                      <a:srgbClr val="FF0000"/>
                    </a:solidFill>
                  </a:rPr>
                  <a:t>multiple </a:t>
                </a:r>
                <a:r>
                  <a:rPr lang="nl-NL" dirty="0" err="1">
                    <a:solidFill>
                      <a:srgbClr val="FF0000"/>
                    </a:solidFill>
                  </a:rPr>
                  <a:t>brackets</a:t>
                </a:r>
                <a:r>
                  <a:rPr lang="nl-NL" dirty="0"/>
                  <a:t> like 2+(3-(5+7)), </a:t>
                </a:r>
                <a:r>
                  <a:rPr lang="nl-NL" dirty="0">
                    <a:solidFill>
                      <a:srgbClr val="FF0000"/>
                    </a:solidFill>
                  </a:rPr>
                  <a:t>do </a:t>
                </a:r>
                <a:r>
                  <a:rPr lang="nl-NL" dirty="0" err="1">
                    <a:solidFill>
                      <a:srgbClr val="FF0000"/>
                    </a:solidFill>
                  </a:rPr>
                  <a:t>the</a:t>
                </a:r>
                <a:r>
                  <a:rPr lang="nl-NL" dirty="0">
                    <a:solidFill>
                      <a:srgbClr val="FF0000"/>
                    </a:solidFill>
                  </a:rPr>
                  <a:t> (most) </a:t>
                </a:r>
                <a:r>
                  <a:rPr lang="nl-NL" dirty="0" err="1">
                    <a:solidFill>
                      <a:srgbClr val="FF0000"/>
                    </a:solidFill>
                  </a:rPr>
                  <a:t>inner</a:t>
                </a:r>
                <a:r>
                  <a:rPr lang="nl-NL" dirty="0">
                    <a:solidFill>
                      <a:srgbClr val="FF0000"/>
                    </a:solidFill>
                  </a:rPr>
                  <a:t> </a:t>
                </a:r>
                <a:r>
                  <a:rPr lang="nl-NL" dirty="0" err="1">
                    <a:solidFill>
                      <a:srgbClr val="FF0000"/>
                    </a:solidFill>
                  </a:rPr>
                  <a:t>brackets</a:t>
                </a:r>
                <a:r>
                  <a:rPr lang="nl-NL" dirty="0">
                    <a:solidFill>
                      <a:srgbClr val="FF0000"/>
                    </a:solidFill>
                  </a:rPr>
                  <a:t> first</a:t>
                </a:r>
                <a:r>
                  <a:rPr lang="nl-NL" dirty="0"/>
                  <a:t>! </a:t>
                </a:r>
                <a:r>
                  <a:rPr lang="nl-NL" dirty="0" err="1"/>
                  <a:t>So</a:t>
                </a:r>
                <a:r>
                  <a:rPr lang="nl-NL" dirty="0"/>
                  <a:t> first do (5+7)=12 </a:t>
                </a:r>
                <a:r>
                  <a:rPr lang="nl-NL" dirty="0" err="1"/>
                  <a:t>such</a:t>
                </a:r>
                <a:r>
                  <a:rPr lang="nl-NL" dirty="0"/>
                  <a:t> </a:t>
                </a:r>
                <a:r>
                  <a:rPr lang="nl-NL" dirty="0" err="1"/>
                  <a:t>that</a:t>
                </a:r>
                <a:r>
                  <a:rPr lang="nl-NL" dirty="0"/>
                  <a:t> </a:t>
                </a:r>
                <a:r>
                  <a:rPr lang="nl-NL" dirty="0" err="1"/>
                  <a:t>you</a:t>
                </a:r>
                <a:r>
                  <a:rPr lang="nl-NL" dirty="0"/>
                  <a:t> get 2+(3-12) 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:r>
                  <a:rPr lang="nl-NL" dirty="0" err="1"/>
                  <a:t>then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outer</a:t>
                </a:r>
                <a:r>
                  <a:rPr lang="nl-NL" dirty="0"/>
                  <a:t> </a:t>
                </a:r>
                <a:r>
                  <a:rPr lang="nl-NL" dirty="0" err="1"/>
                  <a:t>brackets</a:t>
                </a:r>
                <a:r>
                  <a:rPr lang="nl-NL" dirty="0"/>
                  <a:t> (or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one</a:t>
                </a:r>
                <a:r>
                  <a:rPr lang="nl-NL" dirty="0"/>
                  <a:t> </a:t>
                </a:r>
                <a:r>
                  <a:rPr lang="nl-NL" dirty="0" err="1"/>
                  <a:t>that</a:t>
                </a:r>
                <a:r>
                  <a:rPr lang="nl-NL" dirty="0"/>
                  <a:t> is </a:t>
                </a:r>
                <a:r>
                  <a:rPr lang="nl-NL" dirty="0" err="1"/>
                  <a:t>the</a:t>
                </a:r>
                <a:r>
                  <a:rPr lang="nl-NL" dirty="0"/>
                  <a:t> most </a:t>
                </a:r>
                <a:r>
                  <a:rPr lang="nl-NL" dirty="0" err="1"/>
                  <a:t>inner</a:t>
                </a:r>
                <a:r>
                  <a:rPr lang="nl-NL" dirty="0"/>
                  <a:t> </a:t>
                </a:r>
                <a:r>
                  <a:rPr lang="nl-NL" dirty="0" err="1"/>
                  <a:t>now</a:t>
                </a:r>
                <a:r>
                  <a:rPr lang="nl-NL" dirty="0"/>
                  <a:t>)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27F8217D-F7BA-1723-3886-9CDDEB873C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301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</TotalTime>
  <Words>1052</Words>
  <Application>Microsoft Office PowerPoint</Application>
  <PresentationFormat>Breedbeeld</PresentationFormat>
  <Paragraphs>47</Paragraphs>
  <Slides>42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42</vt:i4>
      </vt:variant>
    </vt:vector>
  </HeadingPairs>
  <TitlesOfParts>
    <vt:vector size="48" baseType="lpstr">
      <vt:lpstr>Aptos</vt:lpstr>
      <vt:lpstr>Aptos Display</vt:lpstr>
      <vt:lpstr>Arial</vt:lpstr>
      <vt:lpstr>Cambria Math</vt:lpstr>
      <vt:lpstr>Wingdings</vt:lpstr>
      <vt:lpstr>Kantoorthema</vt:lpstr>
      <vt:lpstr>Powers, roots, scientific notation and BIDMAS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BIDMAS</vt:lpstr>
      <vt:lpstr>BIDMAS</vt:lpstr>
      <vt:lpstr>BIDMAS</vt:lpstr>
      <vt:lpstr>BIDMAS</vt:lpstr>
      <vt:lpstr>BIDMAS</vt:lpstr>
      <vt:lpstr>BIDMAS</vt:lpstr>
      <vt:lpstr>BIDMAS</vt:lpstr>
      <vt:lpstr>Notes on BIDMAS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41</cp:revision>
  <dcterms:created xsi:type="dcterms:W3CDTF">2026-07-15T18:23:39Z</dcterms:created>
  <dcterms:modified xsi:type="dcterms:W3CDTF">2026-09-08T09:10:46Z</dcterms:modified>
</cp:coreProperties>
</file>