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y="5143500" cx="9144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font" Target="fonts/Play-bold.fntdata"/><Relationship Id="rId14" Type="http://schemas.openxmlformats.org/officeDocument/2006/relationships/slide" Target="slides/slide8.xml"/><Relationship Id="rId36" Type="http://schemas.openxmlformats.org/officeDocument/2006/relationships/font" Target="fonts/Play-regular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3b2d9cb6e_2_7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f3b2d9cb6e_2_7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f3b2d9cb6e_2_8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g3f3b2d9cb6e_2_8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3b2d9cb6e_2_8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f3b2d9cb6e_2_8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f3b2d9cb6e_2_8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g3f3b2d9cb6e_2_8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f3b2d9cb6e_2_9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g3f3b2d9cb6e_2_9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f3b2d9cb6e_2_9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g3f3b2d9cb6e_2_9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3b2d9cb6e_2_10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f3b2d9cb6e_2_10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g3f3b2d9cb6e_2_10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3b2d9cb6e_2_1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f3b2d9cb6e_2_1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f3b2d9cb6e_2_1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g3f3b2d9cb6e_2_1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f3b2d9cb6e_2_1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g3f3b2d9cb6e_2_1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f3b2d9cb6e_2_1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g3f3b2d9cb6e_2_1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f3b2d9cb6e_2_1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g3f3b2d9cb6e_2_1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f3b2d9cb6e_2_1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g3f3b2d9cb6e_2_1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f3b2d9cb6e_2_1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g3f3b2d9cb6e_2_1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f3b2d9cb6e_2_14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g3f3b2d9cb6e_2_1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f3b2d9cb6e_2_14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g3f3b2d9cb6e_2_1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f55a4e9d1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f55a4e9d1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55a4e9d1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f55a4e9d1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f55a4e9d1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f55a4e9d1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f3b2d9cb6e_2_14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g3f3b2d9cb6e_2_14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f3b2d9cb6e_2_15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g3f3b2d9cb6e_2_15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3b2d9cb6e_2_15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g3f3b2d9cb6e_2_15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f3b2d9cb6e_2_16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g3f3b2d9cb6e_2_16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f3b2d9cb6e_2_16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g3f3b2d9cb6e_2_16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f3b2d9cb6e_2_16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g3f3b2d9cb6e_2_16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f3b2d9cb6e_2_17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g3f3b2d9cb6e_2_17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f3b2d9cb6e_2_17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g3f3b2d9cb6e_2_17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f3b2d9cb6e_2_18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g3f3b2d9cb6e_2_18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f3b2d9cb6e_2_18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g3f3b2d9cb6e_2_18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eldia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eeg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el en objec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ekop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houd van twee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gelijking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lleen titel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houd met bijschrift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fbeelding met bijschrift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el en verticale teks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e titel en teks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7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9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>
            <p:ph type="ctrTitle"/>
          </p:nvPr>
        </p:nvSpPr>
        <p:spPr>
          <a:xfrm>
            <a:off x="1232807" y="2001100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Play"/>
              <a:buNone/>
            </a:pPr>
            <a:r>
              <a:rPr lang="nl">
                <a:solidFill>
                  <a:srgbClr val="FF0000"/>
                </a:solidFill>
              </a:rPr>
              <a:t>The number 0 (multiplication/division) </a:t>
            </a:r>
            <a:r>
              <a:rPr lang="nl">
                <a:solidFill>
                  <a:schemeClr val="accent3"/>
                </a:solidFill>
              </a:rPr>
              <a:t>and </a:t>
            </a:r>
            <a:r>
              <a:rPr lang="nl"/>
              <a:t>useful properties about fractions (addition/subtraction/multiplication/division)</a:t>
            </a:r>
            <a:endParaRPr/>
          </a:p>
        </p:txBody>
      </p:sp>
      <p:sp>
        <p:nvSpPr>
          <p:cNvPr id="130" name="Google Shape;130;p25"/>
          <p:cNvSpPr txBox="1"/>
          <p:nvPr>
            <p:ph idx="1" type="subTitle"/>
          </p:nvPr>
        </p:nvSpPr>
        <p:spPr>
          <a:xfrm>
            <a:off x="1143000" y="3901679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nl"/>
              <a:t>By Hurles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22)" id="135" name="Google Shape;135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863" y="0"/>
            <a:ext cx="905708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23)" id="140" name="Google Shape;14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7904" y="0"/>
            <a:ext cx="8407003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895)" id="145" name="Google Shape;145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310878"/>
            <a:ext cx="9144000" cy="2521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896)" id="150" name="Google Shape;15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05966"/>
            <a:ext cx="9144000" cy="49315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00)" id="155" name="Google Shape;15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25041"/>
            <a:ext cx="9144000" cy="44922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00)" id="161" name="Google Shape;161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25636"/>
            <a:ext cx="9144000" cy="4492228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31"/>
          <p:cNvSpPr txBox="1"/>
          <p:nvPr/>
        </p:nvSpPr>
        <p:spPr>
          <a:xfrm>
            <a:off x="5935499" y="325625"/>
            <a:ext cx="3208500" cy="26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nl" sz="2700" u="none" cap="none" strike="noStrike">
                <a:solidFill>
                  <a:srgbClr val="C00000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You can also see why this works by following this pattern for multiplication: </a:t>
            </a:r>
            <a:r>
              <a:rPr b="1" i="0" lang="nl" sz="6000" u="sng" cap="none" strike="noStrike">
                <a:solidFill>
                  <a:srgbClr val="4D90D8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X</a:t>
            </a:r>
            <a:endParaRPr b="1" sz="2700" u="sng">
              <a:solidFill>
                <a:srgbClr val="4D90D8"/>
              </a:solidFill>
              <a:highlight>
                <a:srgbClr val="FFFF00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31"/>
          <p:cNvSpPr txBox="1"/>
          <p:nvPr/>
        </p:nvSpPr>
        <p:spPr>
          <a:xfrm>
            <a:off x="0" y="2750175"/>
            <a:ext cx="7178400" cy="20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nl" sz="2700">
                <a:solidFill>
                  <a:srgbClr val="C00000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In the underlined </a:t>
            </a:r>
            <a:r>
              <a:rPr b="1" i="0" lang="nl" sz="3600" u="sng" cap="none" strike="noStrike">
                <a:solidFill>
                  <a:srgbClr val="4D90D8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X</a:t>
            </a:r>
            <a:r>
              <a:rPr b="1" lang="nl" sz="2700">
                <a:solidFill>
                  <a:srgbClr val="C00000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 symbol, you see that the </a:t>
            </a:r>
            <a:r>
              <a:rPr b="1" lang="nl" sz="3600">
                <a:solidFill>
                  <a:srgbClr val="4D90D8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_</a:t>
            </a:r>
            <a:r>
              <a:rPr b="1" lang="nl" sz="2700">
                <a:solidFill>
                  <a:srgbClr val="C00000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 implies 5*2, the </a:t>
            </a:r>
            <a:r>
              <a:rPr b="1" lang="nl" sz="3300">
                <a:solidFill>
                  <a:srgbClr val="4D90D8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/</a:t>
            </a:r>
            <a:r>
              <a:rPr b="1" lang="nl" sz="2700">
                <a:solidFill>
                  <a:srgbClr val="C00000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 of the </a:t>
            </a:r>
            <a:r>
              <a:rPr b="1" lang="nl" sz="2700" u="sng">
                <a:solidFill>
                  <a:srgbClr val="C00000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X</a:t>
            </a:r>
            <a:r>
              <a:rPr b="1" lang="nl" sz="2700">
                <a:solidFill>
                  <a:srgbClr val="C00000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 implies 5*7 and the </a:t>
            </a:r>
            <a:r>
              <a:rPr b="1" lang="nl" sz="3000">
                <a:solidFill>
                  <a:srgbClr val="4D90D8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\</a:t>
            </a:r>
            <a:r>
              <a:rPr b="1" lang="nl" sz="2700">
                <a:solidFill>
                  <a:srgbClr val="C00000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 implies 3*2; all steps that have to be completed for this</a:t>
            </a:r>
            <a:endParaRPr b="1" sz="2700" u="sng">
              <a:solidFill>
                <a:srgbClr val="4D90D8"/>
              </a:solidFill>
              <a:highlight>
                <a:srgbClr val="FFFF00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31"/>
          <p:cNvSpPr txBox="1"/>
          <p:nvPr/>
        </p:nvSpPr>
        <p:spPr>
          <a:xfrm>
            <a:off x="195943" y="374247"/>
            <a:ext cx="3853542" cy="48474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nl" sz="2700" u="sng">
                <a:solidFill>
                  <a:srgbClr val="4D90D8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EASY TRICK!!!</a:t>
            </a:r>
            <a:endParaRPr sz="1100"/>
          </a:p>
        </p:txBody>
      </p:sp>
      <p:sp>
        <p:nvSpPr>
          <p:cNvPr id="165" name="Google Shape;165;p31"/>
          <p:cNvSpPr/>
          <p:nvPr/>
        </p:nvSpPr>
        <p:spPr>
          <a:xfrm>
            <a:off x="3528800" y="4278200"/>
            <a:ext cx="3155400" cy="4440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31"/>
          <p:cNvSpPr/>
          <p:nvPr/>
        </p:nvSpPr>
        <p:spPr>
          <a:xfrm>
            <a:off x="6978550" y="3152600"/>
            <a:ext cx="1969500" cy="11256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31"/>
          <p:cNvSpPr/>
          <p:nvPr/>
        </p:nvSpPr>
        <p:spPr>
          <a:xfrm rot="5400000">
            <a:off x="6785750" y="2824250"/>
            <a:ext cx="442500" cy="5790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01)" id="172" name="Google Shape;172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78631"/>
            <a:ext cx="9144000" cy="41850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03)" id="177" name="Google Shape;17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46485"/>
            <a:ext cx="9144000" cy="4249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04)" id="182" name="Google Shape;18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7144"/>
            <a:ext cx="9144000" cy="5128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05)" id="187" name="Google Shape;187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601266"/>
            <a:ext cx="9144000" cy="39409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06)" id="192" name="Google Shape;192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885825"/>
            <a:ext cx="9144000" cy="3371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07)" id="197" name="Google Shape;197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13147"/>
            <a:ext cx="9144000" cy="43172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08)" id="202" name="Google Shape;202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66713"/>
            <a:ext cx="9144000" cy="4410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09)" id="207" name="Google Shape;207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42888"/>
            <a:ext cx="9144000" cy="46565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10)" id="212" name="Google Shape;212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871538"/>
            <a:ext cx="9144000" cy="33992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41" title="Schermopname (962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96175"/>
            <a:ext cx="8839200" cy="29348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42" title="Schermopname (963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350" y="970200"/>
            <a:ext cx="8839200" cy="33545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43" title="Schermopname (964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778475"/>
            <a:ext cx="8839200" cy="38878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11)" id="232" name="Google Shape;232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375172"/>
            <a:ext cx="9144000" cy="23919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12)" id="237" name="Google Shape;237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53604"/>
            <a:ext cx="9144000" cy="46351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13)" id="242" name="Google Shape;242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0241"/>
            <a:ext cx="9144000" cy="51018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14)" id="247" name="Google Shape;247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732235"/>
            <a:ext cx="9144000" cy="3677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16)" id="252" name="Google Shape;252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97631"/>
            <a:ext cx="9144000" cy="49470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17)" id="257" name="Google Shape;257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002506"/>
            <a:ext cx="9144000" cy="31384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18)" id="262" name="Google Shape;262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3813"/>
            <a:ext cx="9144000" cy="509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19)" id="267" name="Google Shape;267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98847"/>
            <a:ext cx="9144000" cy="45458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20)" id="272" name="Google Shape;272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91729"/>
            <a:ext cx="9144000" cy="41600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21)" id="277" name="Google Shape;277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743075"/>
            <a:ext cx="9144000" cy="1656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Kantoorthe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