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y="5143500" cx="9144000"/>
  <p:notesSz cx="6858000" cy="9144000"/>
  <p:embeddedFontLst>
    <p:embeddedFont>
      <p:font typeface="Play"/>
      <p:regular r:id="rId23"/>
      <p:bold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22" Type="http://schemas.openxmlformats.org/officeDocument/2006/relationships/slide" Target="slides/slide16.xml"/><Relationship Id="rId10" Type="http://schemas.openxmlformats.org/officeDocument/2006/relationships/slide" Target="slides/slide4.xml"/><Relationship Id="rId21" Type="http://schemas.openxmlformats.org/officeDocument/2006/relationships/slide" Target="slides/slide15.xml"/><Relationship Id="rId13" Type="http://schemas.openxmlformats.org/officeDocument/2006/relationships/slide" Target="slides/slide7.xml"/><Relationship Id="rId24" Type="http://schemas.openxmlformats.org/officeDocument/2006/relationships/font" Target="fonts/Play-bold.fntdata"/><Relationship Id="rId12" Type="http://schemas.openxmlformats.org/officeDocument/2006/relationships/slide" Target="slides/slide6.xml"/><Relationship Id="rId23" Type="http://schemas.openxmlformats.org/officeDocument/2006/relationships/font" Target="fonts/Play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2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a54691f93_3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fa54691f93_3_7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fa54691f93_3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g3fa54691f93_3_8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fa54691f93_3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g3fa54691f93_3_9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fa54691f93_3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g3fa54691f93_3_9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fa54691f93_3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g3fa54691f93_3_10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a54691f93_3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g3fa54691f93_3_10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fa54691f93_3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g3fa54691f93_3_1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fa54691f93_3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g3fa54691f93_3_1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fa54691f93_3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g3fa54691f93_3_1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fa54691f93_3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g3fa54691f93_3_1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fa54691f93_3_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g3fa54691f93_3_1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fa54691f93_3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g3fa54691f93_3_1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fa54691f93_3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g3fa54691f93_3_1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fa54691f93_3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g3fa54691f93_3_14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fa54691f93_3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g3fa54691f93_3_14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fa54691f93_3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g3fa54691f93_3_15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eldia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eeg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el en objec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ekop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houd van twee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gelijking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lleen titel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houd met bijschrift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fbeelding met bijschrift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el en verticale teks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e titel en teks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Play"/>
              <a:buNone/>
            </a:pPr>
            <a:r>
              <a:rPr lang="nl"/>
              <a:t>Simplification of roots (in general and in fractions)</a:t>
            </a:r>
            <a:endParaRPr/>
          </a:p>
        </p:txBody>
      </p:sp>
      <p:sp>
        <p:nvSpPr>
          <p:cNvPr id="130" name="Google Shape;130;p25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nl"/>
              <a:t>By Hurles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41)" id="135" name="Google Shape;135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6688" y="0"/>
            <a:ext cx="881062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6"/>
          <p:cNvSpPr txBox="1"/>
          <p:nvPr/>
        </p:nvSpPr>
        <p:spPr>
          <a:xfrm>
            <a:off x="4776107" y="2727165"/>
            <a:ext cx="1126672" cy="25391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nl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root (here 80)</a:t>
            </a:r>
            <a:endParaRPr sz="1100"/>
          </a:p>
        </p:txBody>
      </p:sp>
      <p:sp>
        <p:nvSpPr>
          <p:cNvPr id="137" name="Google Shape;137;p26"/>
          <p:cNvSpPr txBox="1"/>
          <p:nvPr/>
        </p:nvSpPr>
        <p:spPr>
          <a:xfrm>
            <a:off x="2751366" y="2981081"/>
            <a:ext cx="1167493" cy="438581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nl" sz="12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integer roots </a:t>
            </a:r>
            <a:r>
              <a:rPr b="1" lang="nl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(like 4 and 9)</a:t>
            </a:r>
            <a:endParaRPr sz="1100"/>
          </a:p>
        </p:txBody>
      </p:sp>
      <p:sp>
        <p:nvSpPr>
          <p:cNvPr id="138" name="Google Shape;138;p26"/>
          <p:cNvSpPr txBox="1"/>
          <p:nvPr/>
        </p:nvSpPr>
        <p:spPr>
          <a:xfrm>
            <a:off x="6147707" y="3070065"/>
            <a:ext cx="1167493" cy="25391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nl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root</a:t>
            </a:r>
            <a:endParaRPr sz="1100"/>
          </a:p>
        </p:txBody>
      </p:sp>
      <p:sp>
        <p:nvSpPr>
          <p:cNvPr id="139" name="Google Shape;139;p26"/>
          <p:cNvSpPr txBox="1"/>
          <p:nvPr/>
        </p:nvSpPr>
        <p:spPr>
          <a:xfrm>
            <a:off x="342899" y="3396637"/>
            <a:ext cx="1126672" cy="25391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26"/>
          <p:cNvSpPr txBox="1"/>
          <p:nvPr/>
        </p:nvSpPr>
        <p:spPr>
          <a:xfrm>
            <a:off x="6392635" y="3397753"/>
            <a:ext cx="57151" cy="2528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nl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sz="1100"/>
          </a:p>
        </p:txBody>
      </p:sp>
      <p:sp>
        <p:nvSpPr>
          <p:cNvPr id="141" name="Google Shape;141;p26"/>
          <p:cNvSpPr txBox="1"/>
          <p:nvPr/>
        </p:nvSpPr>
        <p:spPr>
          <a:xfrm>
            <a:off x="4661807" y="1865128"/>
            <a:ext cx="4188279" cy="253915"/>
          </a:xfrm>
          <a:prstGeom prst="rect">
            <a:avLst/>
          </a:prstGeom>
          <a:solidFill>
            <a:srgbClr val="D86CCC"/>
          </a:solidFill>
          <a:ln cap="flat" cmpd="sng" w="9525">
            <a:solidFill>
              <a:srgbClr val="D86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nl" sz="1200">
                <a:solidFill>
                  <a:schemeClr val="dk1"/>
                </a:solidFill>
                <a:highlight>
                  <a:srgbClr val="00FFFF"/>
                </a:highlight>
                <a:latin typeface="Arial"/>
                <a:ea typeface="Arial"/>
                <a:cs typeface="Arial"/>
                <a:sym typeface="Arial"/>
              </a:rPr>
              <a:t>= integer root answer (like 4 as sqrt(4)=2 is integer)</a:t>
            </a:r>
            <a:endParaRPr sz="1100"/>
          </a:p>
        </p:txBody>
      </p:sp>
      <p:cxnSp>
        <p:nvCxnSpPr>
          <p:cNvPr id="142" name="Google Shape;142;p26"/>
          <p:cNvCxnSpPr/>
          <p:nvPr/>
        </p:nvCxnSpPr>
        <p:spPr>
          <a:xfrm>
            <a:off x="4441372" y="2367643"/>
            <a:ext cx="2955471" cy="0"/>
          </a:xfrm>
          <a:prstGeom prst="straightConnector1">
            <a:avLst/>
          </a:prstGeom>
          <a:noFill/>
          <a:ln cap="flat" cmpd="sng" w="76200">
            <a:solidFill>
              <a:srgbClr val="D86CCC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830810"/>
            <a:ext cx="9144000" cy="34818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1086)" id="152" name="Google Shape;152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178719"/>
            <a:ext cx="9144000" cy="27860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1088)" id="157" name="Google Shape;157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597694"/>
            <a:ext cx="9144000" cy="39481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1089)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378023"/>
            <a:ext cx="9144000" cy="4387453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/>
        </p:nvSpPr>
        <p:spPr>
          <a:xfrm>
            <a:off x="436576" y="3378825"/>
            <a:ext cx="13185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 sz="1500">
                <a:solidFill>
                  <a:schemeClr val="dk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property</a:t>
            </a:r>
            <a:r>
              <a:rPr lang="nl" sz="1500">
                <a:solidFill>
                  <a:srgbClr val="FFFF00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nl" sz="1500">
                <a:solidFill>
                  <a:srgbClr val="FFFF00"/>
                </a:solidFill>
                <a:highlight>
                  <a:srgbClr val="FFFF00"/>
                </a:highlight>
              </a:rPr>
              <a:t>.</a:t>
            </a:r>
            <a:r>
              <a:rPr lang="nl" sz="1500">
                <a:solidFill>
                  <a:schemeClr val="dk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endParaRPr sz="1100"/>
          </a:p>
        </p:txBody>
      </p:sp>
      <p:sp>
        <p:nvSpPr>
          <p:cNvPr id="164" name="Google Shape;164;p30"/>
          <p:cNvSpPr txBox="1"/>
          <p:nvPr/>
        </p:nvSpPr>
        <p:spPr>
          <a:xfrm>
            <a:off x="2557463" y="3613787"/>
            <a:ext cx="1143000" cy="30008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 sz="1500">
                <a:solidFill>
                  <a:schemeClr val="dk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property</a:t>
            </a:r>
            <a:r>
              <a:rPr lang="nl" sz="1500">
                <a:solidFill>
                  <a:srgbClr val="FFFF00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..</a:t>
            </a:r>
            <a:endParaRPr sz="1100"/>
          </a:p>
        </p:txBody>
      </p:sp>
      <p:sp>
        <p:nvSpPr>
          <p:cNvPr id="165" name="Google Shape;165;p30"/>
          <p:cNvSpPr txBox="1"/>
          <p:nvPr/>
        </p:nvSpPr>
        <p:spPr>
          <a:xfrm>
            <a:off x="3192450" y="4189625"/>
            <a:ext cx="12528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 sz="1500">
                <a:solidFill>
                  <a:schemeClr val="dk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property.</a:t>
            </a:r>
            <a:r>
              <a:rPr lang="nl" sz="1500">
                <a:solidFill>
                  <a:srgbClr val="FFFF00"/>
                </a:solidFill>
                <a:highlight>
                  <a:srgbClr val="FFFF00"/>
                </a:highlight>
              </a:rPr>
              <a:t>….</a:t>
            </a:r>
            <a:endParaRPr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1090)" id="170" name="Google Shape;170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26244"/>
            <a:ext cx="9144000" cy="4289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510738" y="3564365"/>
            <a:ext cx="1188823" cy="4023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9000" y="3354825"/>
            <a:ext cx="501925" cy="322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1091)" id="177" name="Google Shape;177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727472"/>
            <a:ext cx="9144000" cy="36873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1092)" id="182" name="Google Shape;182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520304"/>
            <a:ext cx="9144000" cy="41028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42)" id="187" name="Google Shape;187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9779" y="0"/>
            <a:ext cx="8883253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43)" id="192" name="Google Shape;19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38150"/>
            <a:ext cx="9144000" cy="42660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chermopname (944)" id="197" name="Google Shape;19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913" y="0"/>
            <a:ext cx="90201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97642"/>
            <a:ext cx="9144000" cy="4143953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37"/>
          <p:cNvSpPr txBox="1"/>
          <p:nvPr/>
        </p:nvSpPr>
        <p:spPr>
          <a:xfrm>
            <a:off x="5502729" y="297642"/>
            <a:ext cx="1616500" cy="4385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nl" sz="2400">
                <a:solidFill>
                  <a:schemeClr val="dk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in fractions</a:t>
            </a:r>
            <a:endParaRPr sz="2400">
              <a:solidFill>
                <a:schemeClr val="dk1"/>
              </a:solidFill>
              <a:highlight>
                <a:srgbClr val="FFFF00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98024"/>
            <a:ext cx="9144000" cy="385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51427" y="208324"/>
            <a:ext cx="1833531" cy="6447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14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25918"/>
            <a:ext cx="9144000" cy="4042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39156" y="352617"/>
            <a:ext cx="1833531" cy="6447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368166"/>
            <a:ext cx="9144000" cy="3876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35049" y="417152"/>
            <a:ext cx="1833531" cy="6447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Kantoorthe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