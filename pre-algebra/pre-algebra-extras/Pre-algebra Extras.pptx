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324" r:id="rId3"/>
    <p:sldId id="325" r:id="rId4"/>
    <p:sldId id="326" r:id="rId5"/>
    <p:sldId id="327" r:id="rId6"/>
    <p:sldId id="328" r:id="rId7"/>
    <p:sldId id="329" r:id="rId8"/>
    <p:sldId id="330" r:id="rId9"/>
    <p:sldId id="331" r:id="rId10"/>
    <p:sldId id="293" r:id="rId11"/>
    <p:sldId id="281" r:id="rId12"/>
  </p:sldIdLst>
  <p:sldSz cx="12192000" cy="6858000"/>
  <p:notesSz cx="6858000" cy="9144000"/>
  <p:photoAlbum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1FE8CA-33E0-42EC-AC2F-4876D2DE9491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923649-845B-43B2-9CF6-7584F1AAF21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36684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23649-845B-43B2-9CF6-7584F1AAF216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54874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3FB0A6-9ECB-1E63-8F13-4E1440A8E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44A0AF9-F268-FE43-D517-8C2C768F5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F3D484C-841B-696D-55A8-A5CFD7DCD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9EE9C94-2B3B-690C-48FB-E9168F9EC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2F80E23-D326-83AA-3759-F8301BF76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03448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E47ACB-45F7-D3AA-BE7A-82418704E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D60FB06-29EA-B096-DDF0-1E66AA96F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BC3B0CA-0968-9554-8224-2C77B67A9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5DA20E1-1013-D763-5508-118E8AB1A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342AC0E-A829-5EF1-3801-A5E4E126C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8319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8B9855-671C-F4F4-F80C-F327E1EC3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942ACE1-0752-71CD-8F72-A32BD9629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85A77EA-BB62-51FB-3181-3414E6E34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7AC2350-6C96-6215-CCE3-3D31580E1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0A216D3-32DD-9D0D-9F7D-7D65695D0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10732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B48323-3B7F-3B69-9761-C196F4FC7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63F4B96-47F4-CF46-4295-E5DD1FF1E3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2972D9C-3BC1-97BC-E605-AEF83059EF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66758D2-A629-9A71-C730-AEED474B6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1E2FE07-4BAA-3B81-3699-55A966DC5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DE32D23-5C40-3F4E-0D89-6B0F7027E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74606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E1D466-BFBE-5EC0-F150-329ED6BFF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0D9817C-1CE4-2DF5-5A03-18616726C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C140C0C-91B5-9FA1-8AA7-AB9B317B7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85D8FCA-C6DA-7849-45B9-8DF4C197B8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96BDD12A-75F9-4BF3-9EE0-04A7E0C654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1813CA24-6B66-DE52-29C4-63C5B2E72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3554582C-18D9-E873-645A-417A3D3BE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2AA82B5D-C4CC-A12D-71F4-EF271D983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17526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1C9109-083A-F7F9-AE5C-0921822B2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65A39651-B9AD-6683-532E-C779E6816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D6EA108-B16F-3752-FB27-73772DF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047C102-CF99-431F-0C23-7E8AE638E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6828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67E62C93-2496-BA37-6025-953D05020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15417DDB-19A2-2840-B54B-55FEF077F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E79A1E9-E3B7-33D4-B867-522B8E6F1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45188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B3FF6-1A5B-52F9-0437-DA453AE62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B6B171A-69FA-57EB-4E3B-BAA4906DD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78835B9-9297-9ED6-3247-E75D80021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D49151E-39C7-DC80-F983-209320DF7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A15DE90-3D52-1D59-C0EC-BB7D18A4C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FC27E7B-327F-45F0-3EFD-7CCF71AE9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33161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EC5BC6-C1DF-49CB-F9FA-DDF589B44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5960CE91-7DEB-AF94-5E95-6338447D16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7A07ED9-7CF9-5C44-1A4A-0C056A5222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362BC73-5D70-6BB2-F35E-4A676F7C8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A721649-88E2-5CF4-E09D-73FA37DC7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7CA0139-95F4-EEFA-5747-147B14B5C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494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16B400-EA48-5D3F-3F81-798C9F2BC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1B8C025-4499-5D15-0B75-4397922A0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9AF6358-A3AB-649F-8D07-2B3316587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D5C7087-D2A3-D5C8-79ED-F126A9EEC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4747A86-1847-385F-72F3-78C93C424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4536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762C99B0-47CE-66E6-E205-7B03F86922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FF3E296-0338-2013-7B29-0D384266E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4B22A64-5124-5F99-E7DA-FF14FFF00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1796C80-B9A4-12F6-C7ED-5397735F2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4951856-12EF-A9AE-237F-F7E684A2D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92934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5C2546DD-3B5C-158D-2980-BF983E1C4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A358F19-602E-B898-5727-53E8D350F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EBB8B2B-CF1C-EA7C-46BD-2D2AEFBA67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A07384-DE2E-1082-7685-0DB1077548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8692D62-B485-DC55-05C7-C1F4AB2EF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02325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D54D2C-91C1-F104-FDD4-D4F7005CA9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Pre-Algebra </a:t>
            </a:r>
            <a:r>
              <a:rPr lang="nl-NL" dirty="0" err="1"/>
              <a:t>Extras</a:t>
            </a:r>
            <a:r>
              <a:rPr lang="nl-NL" dirty="0"/>
              <a:t> </a:t>
            </a:r>
            <a:r>
              <a:rPr lang="nl-NL" sz="2400" dirty="0">
                <a:solidFill>
                  <a:srgbClr val="FF0000"/>
                </a:solidFill>
              </a:rPr>
              <a:t>[hot mess of </a:t>
            </a:r>
            <a:r>
              <a:rPr lang="nl-NL" sz="2400" dirty="0" err="1">
                <a:solidFill>
                  <a:srgbClr val="FF0000"/>
                </a:solidFill>
              </a:rPr>
              <a:t>everything</a:t>
            </a:r>
            <a:r>
              <a:rPr lang="nl-NL" sz="2400" dirty="0">
                <a:solidFill>
                  <a:srgbClr val="FF0000"/>
                </a:solidFill>
              </a:rPr>
              <a:t> </a:t>
            </a:r>
            <a:r>
              <a:rPr lang="nl-NL" sz="2400" dirty="0" err="1">
                <a:solidFill>
                  <a:srgbClr val="FF0000"/>
                </a:solidFill>
              </a:rPr>
              <a:t>that</a:t>
            </a:r>
            <a:r>
              <a:rPr lang="nl-NL" sz="2400" dirty="0">
                <a:solidFill>
                  <a:srgbClr val="FF0000"/>
                </a:solidFill>
              </a:rPr>
              <a:t> </a:t>
            </a:r>
            <a:r>
              <a:rPr lang="nl-NL" sz="2400" dirty="0" err="1">
                <a:solidFill>
                  <a:srgbClr val="FF0000"/>
                </a:solidFill>
              </a:rPr>
              <a:t>isnt</a:t>
            </a:r>
            <a:r>
              <a:rPr lang="nl-NL" sz="2400" dirty="0">
                <a:solidFill>
                  <a:srgbClr val="FF0000"/>
                </a:solidFill>
              </a:rPr>
              <a:t> </a:t>
            </a:r>
            <a:r>
              <a:rPr lang="nl-NL" sz="2400" dirty="0" err="1">
                <a:solidFill>
                  <a:srgbClr val="FF0000"/>
                </a:solidFill>
              </a:rPr>
              <a:t>covered</a:t>
            </a:r>
            <a:r>
              <a:rPr lang="nl-NL" sz="2400" dirty="0">
                <a:solidFill>
                  <a:srgbClr val="FF0000"/>
                </a:solidFill>
              </a:rPr>
              <a:t> </a:t>
            </a:r>
            <a:r>
              <a:rPr lang="nl-NL" sz="2400" dirty="0" err="1">
                <a:solidFill>
                  <a:srgbClr val="FF0000"/>
                </a:solidFill>
              </a:rPr>
              <a:t>by</a:t>
            </a:r>
            <a:r>
              <a:rPr lang="nl-NL" sz="2400" dirty="0">
                <a:solidFill>
                  <a:srgbClr val="FF0000"/>
                </a:solidFill>
              </a:rPr>
              <a:t> </a:t>
            </a:r>
            <a:r>
              <a:rPr lang="nl-NL" sz="2400" dirty="0" err="1">
                <a:solidFill>
                  <a:srgbClr val="FF0000"/>
                </a:solidFill>
              </a:rPr>
              <a:t>the</a:t>
            </a:r>
            <a:r>
              <a:rPr lang="nl-NL" sz="2400" dirty="0">
                <a:solidFill>
                  <a:srgbClr val="FF0000"/>
                </a:solidFill>
              </a:rPr>
              <a:t> </a:t>
            </a:r>
            <a:r>
              <a:rPr lang="nl-NL" sz="2400" dirty="0" err="1">
                <a:solidFill>
                  <a:srgbClr val="FF0000"/>
                </a:solidFill>
              </a:rPr>
              <a:t>other</a:t>
            </a:r>
            <a:r>
              <a:rPr lang="nl-NL" sz="2400" dirty="0">
                <a:solidFill>
                  <a:srgbClr val="FF0000"/>
                </a:solidFill>
              </a:rPr>
              <a:t> slides – </a:t>
            </a:r>
            <a:r>
              <a:rPr lang="nl-NL" sz="2400" dirty="0" err="1">
                <a:solidFill>
                  <a:srgbClr val="FF0000"/>
                </a:solidFill>
              </a:rPr>
              <a:t>still</a:t>
            </a:r>
            <a:r>
              <a:rPr lang="nl-NL" sz="2400" dirty="0">
                <a:solidFill>
                  <a:srgbClr val="FF0000"/>
                </a:solidFill>
              </a:rPr>
              <a:t> </a:t>
            </a:r>
            <a:r>
              <a:rPr lang="nl-NL" sz="2400" dirty="0" err="1">
                <a:solidFill>
                  <a:srgbClr val="FF0000"/>
                </a:solidFill>
              </a:rPr>
              <a:t>extremely</a:t>
            </a:r>
            <a:r>
              <a:rPr lang="nl-NL" sz="2400" dirty="0">
                <a:solidFill>
                  <a:srgbClr val="FF0000"/>
                </a:solidFill>
              </a:rPr>
              <a:t> </a:t>
            </a:r>
            <a:r>
              <a:rPr lang="nl-NL" sz="2400" dirty="0" err="1">
                <a:solidFill>
                  <a:srgbClr val="FF0000"/>
                </a:solidFill>
              </a:rPr>
              <a:t>useful</a:t>
            </a:r>
            <a:r>
              <a:rPr lang="nl-NL" sz="2400" dirty="0">
                <a:solidFill>
                  <a:srgbClr val="FF0000"/>
                </a:solidFill>
              </a:rPr>
              <a:t>; </a:t>
            </a:r>
            <a:r>
              <a:rPr lang="nl-NL" sz="2400" dirty="0" err="1">
                <a:solidFill>
                  <a:srgbClr val="FF0000"/>
                </a:solidFill>
              </a:rPr>
              <a:t>can</a:t>
            </a:r>
            <a:r>
              <a:rPr lang="nl-NL" sz="2400" dirty="0">
                <a:solidFill>
                  <a:srgbClr val="FF0000"/>
                </a:solidFill>
              </a:rPr>
              <a:t> </a:t>
            </a:r>
            <a:r>
              <a:rPr lang="nl-NL" sz="2400" dirty="0" err="1">
                <a:solidFill>
                  <a:srgbClr val="FF0000"/>
                </a:solidFill>
              </a:rPr>
              <a:t>be</a:t>
            </a:r>
            <a:r>
              <a:rPr lang="nl-NL" sz="2400" dirty="0">
                <a:solidFill>
                  <a:srgbClr val="FF0000"/>
                </a:solidFill>
              </a:rPr>
              <a:t> </a:t>
            </a:r>
            <a:r>
              <a:rPr lang="nl-NL" sz="2400" dirty="0" err="1">
                <a:solidFill>
                  <a:srgbClr val="FF0000"/>
                </a:solidFill>
              </a:rPr>
              <a:t>updated</a:t>
            </a:r>
            <a:r>
              <a:rPr lang="nl-NL" sz="2400" dirty="0">
                <a:solidFill>
                  <a:srgbClr val="FF0000"/>
                </a:solidFill>
              </a:rPr>
              <a:t> </a:t>
            </a:r>
            <a:r>
              <a:rPr lang="nl-NL" sz="2400" dirty="0" err="1">
                <a:solidFill>
                  <a:srgbClr val="FF0000"/>
                </a:solidFill>
              </a:rPr>
              <a:t>randomly</a:t>
            </a:r>
            <a:r>
              <a:rPr lang="nl-NL" sz="2400" dirty="0">
                <a:solidFill>
                  <a:srgbClr val="FF0000"/>
                </a:solidFill>
              </a:rPr>
              <a:t> </a:t>
            </a:r>
            <a:r>
              <a:rPr lang="nl-NL" sz="2400" dirty="0" err="1">
                <a:solidFill>
                  <a:srgbClr val="FF0000"/>
                </a:solidFill>
              </a:rPr>
              <a:t>and</a:t>
            </a:r>
            <a:r>
              <a:rPr lang="nl-NL" sz="2400" dirty="0">
                <a:solidFill>
                  <a:srgbClr val="FF0000"/>
                </a:solidFill>
              </a:rPr>
              <a:t> </a:t>
            </a:r>
            <a:r>
              <a:rPr lang="nl-NL" sz="2400">
                <a:solidFill>
                  <a:srgbClr val="FF0000"/>
                </a:solidFill>
              </a:rPr>
              <a:t>irregularly</a:t>
            </a:r>
            <a:r>
              <a:rPr lang="nl-NL" sz="2400" dirty="0">
                <a:solidFill>
                  <a:srgbClr val="FF0000"/>
                </a:solidFill>
              </a:rPr>
              <a:t>]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FD0FE98-50FB-C009-AA7A-AC03DD53DA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Hurles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20091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1002)">
            <a:extLst>
              <a:ext uri="{FF2B5EF4-FFF2-40B4-BE49-F238E27FC236}">
                <a16:creationId xmlns:a16="http://schemas.microsoft.com/office/drawing/2014/main" id="{58F123AA-6478-6AF0-7126-FEB10AF160E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8200"/>
            <a:ext cx="12192000" cy="264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589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1009)">
            <a:extLst>
              <a:ext uri="{FF2B5EF4-FFF2-40B4-BE49-F238E27FC236}">
                <a16:creationId xmlns:a16="http://schemas.microsoft.com/office/drawing/2014/main" id="{ACA67149-2201-223B-1758-34E3B036C56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2088"/>
            <a:ext cx="12192000" cy="3932237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0426E1E9-896B-F11F-90D1-4DD5CB7A4FC5}"/>
              </a:ext>
            </a:extLst>
          </p:cNvPr>
          <p:cNvSpPr txBox="1"/>
          <p:nvPr/>
        </p:nvSpPr>
        <p:spPr>
          <a:xfrm>
            <a:off x="0" y="5279571"/>
            <a:ext cx="12192000" cy="67710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l-NL" sz="19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nl-NL" sz="1900" b="1" dirty="0">
                <a:solidFill>
                  <a:schemeClr val="bg2">
                    <a:lumMod val="50000"/>
                    <a:lumOff val="5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Even </a:t>
            </a:r>
            <a:r>
              <a:rPr lang="nl-NL" sz="1900" b="1" dirty="0" err="1">
                <a:solidFill>
                  <a:schemeClr val="bg2">
                    <a:lumMod val="50000"/>
                    <a:lumOff val="5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number</a:t>
            </a:r>
            <a:r>
              <a:rPr lang="nl-NL" sz="1900" b="1" dirty="0">
                <a:solidFill>
                  <a:schemeClr val="bg2">
                    <a:lumMod val="50000"/>
                    <a:lumOff val="5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nl-NL" sz="19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=</a:t>
            </a:r>
            <a:r>
              <a:rPr lang="nl-NL" sz="19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integers </a:t>
            </a:r>
            <a:r>
              <a:rPr lang="nl-NL" sz="1900" dirty="0" err="1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divisible</a:t>
            </a:r>
            <a:r>
              <a:rPr lang="nl-NL" sz="19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nl-NL" sz="1900" dirty="0" err="1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by</a:t>
            </a:r>
            <a:r>
              <a:rPr lang="nl-NL" sz="19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2 (</a:t>
            </a:r>
            <a:r>
              <a:rPr lang="nl-NL" sz="1900" dirty="0" err="1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so</a:t>
            </a:r>
            <a:r>
              <a:rPr lang="nl-NL" sz="19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0, 2, 4 </a:t>
            </a:r>
            <a:r>
              <a:rPr lang="nl-NL" sz="1900" dirty="0" err="1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etc</a:t>
            </a:r>
            <a:r>
              <a:rPr lang="nl-NL" sz="19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but </a:t>
            </a:r>
            <a:r>
              <a:rPr lang="nl-NL" sz="1900" dirty="0" err="1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also</a:t>
            </a:r>
            <a:r>
              <a:rPr lang="nl-NL" sz="19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-2, -4, -6 </a:t>
            </a:r>
            <a:r>
              <a:rPr lang="nl-NL" sz="1900" dirty="0" err="1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etc</a:t>
            </a:r>
            <a:r>
              <a:rPr lang="nl-NL" sz="19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)</a:t>
            </a:r>
            <a:br>
              <a:rPr lang="nl-NL" sz="19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nl-NL" sz="19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nl-NL" sz="1900" b="1" dirty="0" err="1">
                <a:solidFill>
                  <a:srgbClr val="92D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Odd</a:t>
            </a:r>
            <a:r>
              <a:rPr lang="nl-NL" sz="1900" b="1" dirty="0">
                <a:solidFill>
                  <a:srgbClr val="92D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nl-NL" sz="1900" b="1" dirty="0" err="1">
                <a:solidFill>
                  <a:srgbClr val="92D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number</a:t>
            </a:r>
            <a:r>
              <a:rPr lang="nl-NL" sz="1900" b="1" dirty="0">
                <a:solidFill>
                  <a:srgbClr val="92D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nl-NL" sz="19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= integers </a:t>
            </a:r>
            <a:r>
              <a:rPr lang="nl-NL" sz="1900" b="1" dirty="0" err="1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that</a:t>
            </a:r>
            <a:r>
              <a:rPr lang="nl-NL" sz="19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are </a:t>
            </a:r>
            <a:r>
              <a:rPr lang="nl-NL" sz="1900" b="1" dirty="0" err="1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not</a:t>
            </a:r>
            <a:r>
              <a:rPr lang="nl-NL" sz="19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nl-NL" sz="1900" b="1" dirty="0" err="1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divisible</a:t>
            </a:r>
            <a:r>
              <a:rPr lang="nl-NL" sz="19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nl-NL" sz="1900" b="1" dirty="0" err="1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by</a:t>
            </a:r>
            <a:r>
              <a:rPr lang="nl-NL" sz="19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2 (</a:t>
            </a:r>
            <a:r>
              <a:rPr lang="nl-NL" sz="1900" b="1" dirty="0" err="1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so</a:t>
            </a:r>
            <a:r>
              <a:rPr lang="nl-NL" sz="19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1, 3, 5, 7 </a:t>
            </a:r>
            <a:r>
              <a:rPr lang="nl-NL" sz="1900" b="1" dirty="0" err="1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etc</a:t>
            </a:r>
            <a:r>
              <a:rPr lang="nl-NL" sz="19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nl-NL" sz="1900" b="1" dirty="0" err="1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and</a:t>
            </a:r>
            <a:r>
              <a:rPr lang="nl-NL" sz="19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-1, -3, -5 </a:t>
            </a:r>
            <a:r>
              <a:rPr lang="nl-NL" sz="1900" b="1" dirty="0" err="1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etc</a:t>
            </a:r>
            <a:r>
              <a:rPr lang="nl-NL" sz="19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51435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1003)">
            <a:extLst>
              <a:ext uri="{FF2B5EF4-FFF2-40B4-BE49-F238E27FC236}">
                <a16:creationId xmlns:a16="http://schemas.microsoft.com/office/drawing/2014/main" id="{A5B11F9B-FCA4-1E26-E289-DC939E6806C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19338"/>
            <a:ext cx="12192000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591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1004)">
            <a:extLst>
              <a:ext uri="{FF2B5EF4-FFF2-40B4-BE49-F238E27FC236}">
                <a16:creationId xmlns:a16="http://schemas.microsoft.com/office/drawing/2014/main" id="{3A1902DA-92C2-0ACA-4A23-B7CFE769C4D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49475"/>
            <a:ext cx="12192000" cy="255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935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1005)">
            <a:extLst>
              <a:ext uri="{FF2B5EF4-FFF2-40B4-BE49-F238E27FC236}">
                <a16:creationId xmlns:a16="http://schemas.microsoft.com/office/drawing/2014/main" id="{963EE6F6-47B3-C236-0AD5-9D4FEC5DAC1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3938"/>
            <a:ext cx="12192000" cy="4808537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82A8BA6D-ECE8-CE23-769E-DF4C50ED0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207" y="2909501"/>
            <a:ext cx="7754784" cy="755970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E4BBA9FE-45DB-4576-0E28-81FED546D316}"/>
              </a:ext>
            </a:extLst>
          </p:cNvPr>
          <p:cNvSpPr txBox="1"/>
          <p:nvPr/>
        </p:nvSpPr>
        <p:spPr>
          <a:xfrm>
            <a:off x="6183087" y="5181702"/>
            <a:ext cx="6143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0070C0"/>
                </a:solidFill>
              </a:rPr>
              <a:t>[8*(2) or (8)*2 </a:t>
            </a:r>
            <a:r>
              <a:rPr lang="nl-NL" dirty="0" err="1">
                <a:solidFill>
                  <a:srgbClr val="0070C0"/>
                </a:solidFill>
              </a:rPr>
              <a:t>and</a:t>
            </a:r>
            <a:r>
              <a:rPr lang="nl-NL" dirty="0">
                <a:solidFill>
                  <a:srgbClr val="0070C0"/>
                </a:solidFill>
              </a:rPr>
              <a:t> even (8)*(2) </a:t>
            </a:r>
            <a:r>
              <a:rPr lang="nl-NL" dirty="0" err="1">
                <a:solidFill>
                  <a:srgbClr val="0070C0"/>
                </a:solidFill>
              </a:rPr>
              <a:t>also</a:t>
            </a:r>
            <a:r>
              <a:rPr lang="nl-NL" dirty="0">
                <a:solidFill>
                  <a:srgbClr val="0070C0"/>
                </a:solidFill>
              </a:rPr>
              <a:t> </a:t>
            </a:r>
            <a:r>
              <a:rPr lang="nl-NL" dirty="0" err="1">
                <a:solidFill>
                  <a:srgbClr val="0070C0"/>
                </a:solidFill>
              </a:rPr>
              <a:t>possible</a:t>
            </a:r>
            <a:r>
              <a:rPr lang="nl-NL" dirty="0">
                <a:solidFill>
                  <a:srgbClr val="0070C0"/>
                </a:solidFill>
              </a:rPr>
              <a:t> but redundant]</a:t>
            </a:r>
          </a:p>
        </p:txBody>
      </p:sp>
    </p:spTree>
    <p:extLst>
      <p:ext uri="{BB962C8B-B14F-4D97-AF65-F5344CB8AC3E}">
        <p14:creationId xmlns:p14="http://schemas.microsoft.com/office/powerpoint/2010/main" val="2405200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1006)">
            <a:extLst>
              <a:ext uri="{FF2B5EF4-FFF2-40B4-BE49-F238E27FC236}">
                <a16:creationId xmlns:a16="http://schemas.microsoft.com/office/drawing/2014/main" id="{7B278573-964A-5817-44A7-CCD2BD78C56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81225"/>
            <a:ext cx="12192000" cy="2493963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E944DFE9-D135-4AAB-6182-7035EC180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264" y="4242334"/>
            <a:ext cx="7401185" cy="43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215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1007)">
            <a:extLst>
              <a:ext uri="{FF2B5EF4-FFF2-40B4-BE49-F238E27FC236}">
                <a16:creationId xmlns:a16="http://schemas.microsoft.com/office/drawing/2014/main" id="{898294A6-244A-3732-66C6-E0BE9CCFB11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00"/>
            <a:ext cx="121920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275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1008)">
            <a:extLst>
              <a:ext uri="{FF2B5EF4-FFF2-40B4-BE49-F238E27FC236}">
                <a16:creationId xmlns:a16="http://schemas.microsoft.com/office/drawing/2014/main" id="{233929FB-8844-4A03-83C3-2643B040CFA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3013"/>
            <a:ext cx="121920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574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2E384A-2887-E150-A743-68E62AB79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458" y="147411"/>
            <a:ext cx="10515600" cy="1325563"/>
          </a:xfrm>
        </p:spPr>
        <p:txBody>
          <a:bodyPr/>
          <a:lstStyle/>
          <a:p>
            <a:r>
              <a:rPr lang="nl-NL" b="1" dirty="0" err="1"/>
              <a:t>Commutativeness</a:t>
            </a:r>
            <a:endParaRPr lang="nl-NL" b="1" dirty="0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2E86F095-325D-98A6-57EB-F053BE6C10B1}"/>
              </a:ext>
            </a:extLst>
          </p:cNvPr>
          <p:cNvSpPr txBox="1"/>
          <p:nvPr/>
        </p:nvSpPr>
        <p:spPr>
          <a:xfrm>
            <a:off x="250371" y="1186543"/>
            <a:ext cx="1068977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basically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really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fancy word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means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change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order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around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operator (operators are +, -, ^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) is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commutative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Tx/>
              <a:buChar char="-"/>
            </a:pP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Only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operators of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addition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(+)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multiplication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nl-NL" sz="2400" b="1" dirty="0"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nl-NL" sz="2400" b="1" dirty="0"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, or </a:t>
            </a:r>
            <a:r>
              <a:rPr lang="nl-NL" sz="2400" b="1" dirty="0">
                <a:latin typeface="Arial" panose="020B0604020202020204" pitchFamily="34" charset="0"/>
                <a:cs typeface="Arial" panose="020B0604020202020204" pitchFamily="34" charset="0"/>
              </a:rPr>
              <a:t>*)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are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commutative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nl-NL" sz="24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+ 4 = 4 + 3 (=7)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* 5 = 5 * 2 (=10)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see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I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switched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numbers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’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places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400" dirty="0" err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switching</a:t>
            </a:r>
            <a:r>
              <a:rPr lang="nl-NL" sz="24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400" dirty="0" err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around</a:t>
            </a:r>
            <a:r>
              <a:rPr lang="nl-NL" sz="24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400" dirty="0" err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gives</a:t>
            </a:r>
            <a:r>
              <a:rPr lang="nl-NL" sz="24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 </a:t>
            </a:r>
            <a:r>
              <a:rPr lang="nl-NL" sz="2400" dirty="0" err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NL" sz="24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400" dirty="0" err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</a:t>
            </a:r>
            <a:r>
              <a:rPr lang="nl-NL" sz="24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400" dirty="0" err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</a:t>
            </a:r>
            <a:r>
              <a:rPr lang="nl-NL" sz="24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pPr marL="342900" indent="-342900">
              <a:buFontTx/>
              <a:buChar char="-"/>
            </a:pP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REMEMBER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other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operators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such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as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subtraction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(-)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division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(÷ or /) are </a:t>
            </a:r>
            <a:r>
              <a:rPr lang="nl-NL" sz="24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commutative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: 4 – 3 = 1 BUT 3 – 4 = -1 </a:t>
            </a:r>
            <a:r>
              <a:rPr lang="nl-NL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(DIFFERENT!)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6/2 = 3 but 2/6 = 1/3 </a:t>
            </a:r>
            <a:r>
              <a:rPr lang="nl-NL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(DIFFERENT AS WELL!)</a:t>
            </a:r>
          </a:p>
          <a:p>
            <a:pPr marL="342900" indent="-342900">
              <a:buFontTx/>
              <a:buChar char="-"/>
            </a:pP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Also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powers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roots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(are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also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powers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technically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) are NON-COMMUTATIVE: 3^2 = 9 </a:t>
            </a:r>
            <a:r>
              <a:rPr lang="nl-NL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2^3 = 8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400" dirty="0"/>
              <a:t>∛2 = 2^(1/3) ≈ 1.26 </a:t>
            </a:r>
            <a:r>
              <a:rPr lang="nl-NL" sz="2400" dirty="0" err="1">
                <a:solidFill>
                  <a:srgbClr val="FF0000"/>
                </a:solidFill>
              </a:rPr>
              <a:t>whereas</a:t>
            </a:r>
            <a:r>
              <a:rPr lang="nl-NL" sz="2400" dirty="0"/>
              <a:t> √3 = 3^(1/2) ≈ 1.73.</a:t>
            </a:r>
          </a:p>
          <a:p>
            <a:pPr marL="342900" indent="-342900">
              <a:buFontTx/>
              <a:buChar char="-"/>
            </a:pP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More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might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encounter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future but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theyre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worth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discussing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400" dirty="0" err="1">
                <a:latin typeface="Arial" panose="020B0604020202020204" pitchFamily="34" charset="0"/>
                <a:cs typeface="Arial" panose="020B0604020202020204" pitchFamily="34" charset="0"/>
              </a:rPr>
              <a:t>now</a:t>
            </a:r>
            <a:r>
              <a:rPr lang="nl-NL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nl-NL" sz="2400" b="1" i="1" u="sng" dirty="0">
                <a:latin typeface="Arial" panose="020B0604020202020204" pitchFamily="34" charset="0"/>
                <a:cs typeface="Arial" panose="020B0604020202020204" pitchFamily="34" charset="0"/>
              </a:rPr>
              <a:t>MOST OF THE TIME AN OPERATOR IS NON-COMMUTATIVE!</a:t>
            </a:r>
          </a:p>
        </p:txBody>
      </p:sp>
    </p:spTree>
    <p:extLst>
      <p:ext uri="{BB962C8B-B14F-4D97-AF65-F5344CB8AC3E}">
        <p14:creationId xmlns:p14="http://schemas.microsoft.com/office/powerpoint/2010/main" val="2652068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40)">
            <a:extLst>
              <a:ext uri="{FF2B5EF4-FFF2-40B4-BE49-F238E27FC236}">
                <a16:creationId xmlns:a16="http://schemas.microsoft.com/office/drawing/2014/main" id="{3FFC0B00-2D47-DEC2-07DC-7728BFF1AEF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175"/>
            <a:ext cx="12192000" cy="659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692405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306</Words>
  <Application>Microsoft Office PowerPoint</Application>
  <PresentationFormat>Breedbeeld</PresentationFormat>
  <Paragraphs>11</Paragraphs>
  <Slides>11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Arial Black</vt:lpstr>
      <vt:lpstr>Kantoorthema</vt:lpstr>
      <vt:lpstr>Pre-Algebra Extras [hot mess of everything that isnt covered by the other slides – still extremely useful; can be updated randomly and irregularly]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Commutativeness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van Gelderen</dc:creator>
  <cp:lastModifiedBy>William van Gelderen</cp:lastModifiedBy>
  <cp:revision>27</cp:revision>
  <dcterms:created xsi:type="dcterms:W3CDTF">2026-07-20T09:50:12Z</dcterms:created>
  <dcterms:modified xsi:type="dcterms:W3CDTF">2026-09-08T09:11:26Z</dcterms:modified>
</cp:coreProperties>
</file>