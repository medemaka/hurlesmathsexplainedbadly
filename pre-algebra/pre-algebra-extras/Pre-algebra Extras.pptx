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6" r:id="rId3"/>
    <p:sldId id="283" r:id="rId4"/>
    <p:sldId id="277" r:id="rId5"/>
    <p:sldId id="278" r:id="rId6"/>
    <p:sldId id="279" r:id="rId7"/>
    <p:sldId id="280" r:id="rId8"/>
    <p:sldId id="281" r:id="rId9"/>
    <p:sldId id="282" r:id="rId10"/>
    <p:sldId id="293" r:id="rId11"/>
    <p:sldId id="265" r:id="rId12"/>
    <p:sldId id="284" r:id="rId13"/>
    <p:sldId id="285" r:id="rId14"/>
    <p:sldId id="286" r:id="rId15"/>
    <p:sldId id="291" r:id="rId16"/>
    <p:sldId id="287" r:id="rId17"/>
    <p:sldId id="288" r:id="rId18"/>
    <p:sldId id="289" r:id="rId19"/>
    <p:sldId id="290" r:id="rId20"/>
    <p:sldId id="292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 dirty="0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2)">
            <a:extLst>
              <a:ext uri="{FF2B5EF4-FFF2-40B4-BE49-F238E27FC236}">
                <a16:creationId xmlns:a16="http://schemas.microsoft.com/office/drawing/2014/main" id="{32A3F792-4F47-63B3-99A7-4F48A1A9A3A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8200"/>
            <a:ext cx="12192000" cy="264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886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9)">
            <a:extLst>
              <a:ext uri="{FF2B5EF4-FFF2-40B4-BE49-F238E27FC236}">
                <a16:creationId xmlns:a16="http://schemas.microsoft.com/office/drawing/2014/main" id="{812F66FB-28CB-01F9-77DD-D3BB2435FC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2088"/>
            <a:ext cx="12192000" cy="3932237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C9B209D7-EE47-AA7F-AED7-F91DDD26977D}"/>
              </a:ext>
            </a:extLst>
          </p:cNvPr>
          <p:cNvSpPr txBox="1"/>
          <p:nvPr/>
        </p:nvSpPr>
        <p:spPr>
          <a:xfrm>
            <a:off x="0" y="5225143"/>
            <a:ext cx="12192000" cy="67710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Even </a:t>
            </a:r>
            <a:r>
              <a:rPr lang="nl-NL" sz="1900" b="1" dirty="0" err="1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integers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0, 2, 4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but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also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-2, -4, -6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  <a:b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</a:b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Odd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 integers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that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are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not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1, 3, 5, 7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and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-1, -3, -5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2267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3)">
            <a:extLst>
              <a:ext uri="{FF2B5EF4-FFF2-40B4-BE49-F238E27FC236}">
                <a16:creationId xmlns:a16="http://schemas.microsoft.com/office/drawing/2014/main" id="{294CA899-75FF-0596-D17A-79307D65E17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9338"/>
            <a:ext cx="12192000" cy="221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922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4)">
            <a:extLst>
              <a:ext uri="{FF2B5EF4-FFF2-40B4-BE49-F238E27FC236}">
                <a16:creationId xmlns:a16="http://schemas.microsoft.com/office/drawing/2014/main" id="{191B43AC-415C-3162-BBA6-0E683F73E4C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49475"/>
            <a:ext cx="12192000" cy="2557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000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5)">
            <a:extLst>
              <a:ext uri="{FF2B5EF4-FFF2-40B4-BE49-F238E27FC236}">
                <a16:creationId xmlns:a16="http://schemas.microsoft.com/office/drawing/2014/main" id="{D38877C5-7CA0-B2C0-01DD-681931186E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938"/>
            <a:ext cx="12192000" cy="4808537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EC05987C-8AD6-8594-F9B5-76E04BE079E6}"/>
              </a:ext>
            </a:extLst>
          </p:cNvPr>
          <p:cNvSpPr txBox="1"/>
          <p:nvPr/>
        </p:nvSpPr>
        <p:spPr>
          <a:xfrm>
            <a:off x="6305550" y="5308600"/>
            <a:ext cx="575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70C0"/>
                </a:solidFill>
              </a:rPr>
              <a:t>[8*(2) or (8)*2 or (8)*(2) </a:t>
            </a:r>
            <a:r>
              <a:rPr lang="nl-NL" dirty="0" err="1">
                <a:solidFill>
                  <a:srgbClr val="0070C0"/>
                </a:solidFill>
              </a:rPr>
              <a:t>also</a:t>
            </a:r>
            <a:r>
              <a:rPr lang="nl-NL" dirty="0">
                <a:solidFill>
                  <a:srgbClr val="0070C0"/>
                </a:solidFill>
              </a:rPr>
              <a:t> </a:t>
            </a:r>
            <a:r>
              <a:rPr lang="nl-NL" dirty="0" err="1">
                <a:solidFill>
                  <a:srgbClr val="0070C0"/>
                </a:solidFill>
              </a:rPr>
              <a:t>possible</a:t>
            </a:r>
            <a:r>
              <a:rPr lang="nl-NL" dirty="0">
                <a:solidFill>
                  <a:srgbClr val="0070C0"/>
                </a:solidFill>
              </a:rPr>
              <a:t> but redundant]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CE115BA-2A54-561E-A0E0-9E9ADD0DC24E}"/>
              </a:ext>
            </a:extLst>
          </p:cNvPr>
          <p:cNvSpPr txBox="1"/>
          <p:nvPr/>
        </p:nvSpPr>
        <p:spPr>
          <a:xfrm>
            <a:off x="4233332" y="3090333"/>
            <a:ext cx="7704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B0F0"/>
                </a:solidFill>
              </a:rPr>
              <a:t>(dot </a:t>
            </a:r>
            <a:r>
              <a:rPr lang="nl-NL" dirty="0" err="1">
                <a:solidFill>
                  <a:srgbClr val="00B0F0"/>
                </a:solidFill>
              </a:rPr>
              <a:t>notation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mostly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to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avoid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confusion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with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the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commonly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unknown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variable</a:t>
            </a:r>
            <a:r>
              <a:rPr lang="nl-NL" dirty="0">
                <a:solidFill>
                  <a:srgbClr val="00B0F0"/>
                </a:solidFill>
              </a:rPr>
              <a:t> x in algebra)</a:t>
            </a:r>
          </a:p>
        </p:txBody>
      </p:sp>
    </p:spTree>
    <p:extLst>
      <p:ext uri="{BB962C8B-B14F-4D97-AF65-F5344CB8AC3E}">
        <p14:creationId xmlns:p14="http://schemas.microsoft.com/office/powerpoint/2010/main" val="2025008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6)">
            <a:extLst>
              <a:ext uri="{FF2B5EF4-FFF2-40B4-BE49-F238E27FC236}">
                <a16:creationId xmlns:a16="http://schemas.microsoft.com/office/drawing/2014/main" id="{CA40BA5A-9BD8-5546-15CD-6E01897EB0F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81225"/>
            <a:ext cx="12192000" cy="2493963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25734D45-4AF3-0AD9-0D83-8355837B632C}"/>
              </a:ext>
            </a:extLst>
          </p:cNvPr>
          <p:cNvSpPr txBox="1"/>
          <p:nvPr/>
        </p:nvSpPr>
        <p:spPr>
          <a:xfrm>
            <a:off x="4538134" y="4305856"/>
            <a:ext cx="736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>
                <a:solidFill>
                  <a:schemeClr val="accent2"/>
                </a:solidFill>
              </a:rPr>
              <a:t>{slash </a:t>
            </a:r>
            <a:r>
              <a:rPr lang="nl-NL" sz="1600" dirty="0" err="1">
                <a:solidFill>
                  <a:schemeClr val="accent2"/>
                </a:solidFill>
              </a:rPr>
              <a:t>preferred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because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the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division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sign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can</a:t>
            </a:r>
            <a:r>
              <a:rPr lang="nl-NL" sz="1600" dirty="0">
                <a:solidFill>
                  <a:schemeClr val="accent2"/>
                </a:solidFill>
              </a:rPr>
              <a:t> lead </a:t>
            </a:r>
            <a:r>
              <a:rPr lang="nl-NL" sz="1600" dirty="0" err="1">
                <a:solidFill>
                  <a:schemeClr val="accent2"/>
                </a:solidFill>
              </a:rPr>
              <a:t>to</a:t>
            </a:r>
            <a:r>
              <a:rPr lang="nl-NL" sz="1600" dirty="0">
                <a:solidFill>
                  <a:schemeClr val="accent2"/>
                </a:solidFill>
              </a:rPr>
              <a:t> BIDMAS </a:t>
            </a:r>
            <a:r>
              <a:rPr lang="nl-NL" sz="1600" dirty="0" err="1">
                <a:solidFill>
                  <a:schemeClr val="accent2"/>
                </a:solidFill>
              </a:rPr>
              <a:t>problems</a:t>
            </a:r>
            <a:r>
              <a:rPr lang="nl-NL" sz="1600" dirty="0">
                <a:solidFill>
                  <a:schemeClr val="accent2"/>
                </a:solidFill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589010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7)">
            <a:extLst>
              <a:ext uri="{FF2B5EF4-FFF2-40B4-BE49-F238E27FC236}">
                <a16:creationId xmlns:a16="http://schemas.microsoft.com/office/drawing/2014/main" id="{2F230D0A-BE88-5B6C-938A-6A63D7DA09C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00"/>
            <a:ext cx="121920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500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8)">
            <a:extLst>
              <a:ext uri="{FF2B5EF4-FFF2-40B4-BE49-F238E27FC236}">
                <a16:creationId xmlns:a16="http://schemas.microsoft.com/office/drawing/2014/main" id="{F62733A9-3318-9EC0-FE60-2091CDE3200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3013"/>
            <a:ext cx="121920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545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E384A-2887-E150-A743-68E62AB79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58" y="147411"/>
            <a:ext cx="10515600" cy="1325563"/>
          </a:xfrm>
        </p:spPr>
        <p:txBody>
          <a:bodyPr/>
          <a:lstStyle/>
          <a:p>
            <a:r>
              <a:rPr lang="nl-NL" b="1" dirty="0" err="1"/>
              <a:t>Commutativeness</a:t>
            </a:r>
            <a:endParaRPr lang="nl-NL" b="1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E86F095-325D-98A6-57EB-F053BE6C10B1}"/>
              </a:ext>
            </a:extLst>
          </p:cNvPr>
          <p:cNvSpPr txBox="1"/>
          <p:nvPr/>
        </p:nvSpPr>
        <p:spPr>
          <a:xfrm>
            <a:off x="250371" y="1186543"/>
            <a:ext cx="1068977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basically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really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fancy word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means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can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change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order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around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 (operators are +, -, ^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) is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Only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operators of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addition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(+)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multiplication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×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·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, or 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*)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nl-NL" sz="24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+ 4 = 4 + 3 (=7)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* 5 = 5 * 2 (=10)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see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switched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numbers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’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places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around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gives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me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same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answer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marL="342900" indent="-342900">
              <a:buFontTx/>
              <a:buChar char="-"/>
            </a:pP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REMEMBER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other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such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subtraction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(-)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division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(÷ or /) are </a:t>
            </a:r>
            <a:r>
              <a:rPr lang="nl-NL" sz="2400" u="sng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: 4 – 3 = 1 BUT 3 – 4 = -1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(DIFFERENT!)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6/2 = 3 but 2/6 = 1/3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(DIFFERENT AS WELL!)</a:t>
            </a:r>
          </a:p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Also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powers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roots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(are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also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powers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technically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) are NON-COMMUTATIVE: 3^2 = 9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2^3 = 8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/>
              <a:t>∛2 = 2^(1/3) ≈ 1.26 </a:t>
            </a:r>
            <a:r>
              <a:rPr lang="nl-NL" sz="2400" dirty="0" err="1">
                <a:solidFill>
                  <a:srgbClr val="FF0000"/>
                </a:solidFill>
              </a:rPr>
              <a:t>whereas</a:t>
            </a:r>
            <a:r>
              <a:rPr lang="nl-NL" sz="2400" dirty="0"/>
              <a:t> √3 = 3^(1/2) ≈ 1.73.</a:t>
            </a:r>
          </a:p>
          <a:p>
            <a:pPr marL="342900" indent="-342900">
              <a:buFontTx/>
              <a:buChar char="-"/>
            </a:pP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More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examples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might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encounter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future but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theyre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worth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discussing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>
                <a:latin typeface="Arial" panose="020B0604020202020204" pitchFamily="34" charset="0"/>
                <a:cs typeface="Arial" panose="020B0604020202020204" pitchFamily="34" charset="0"/>
              </a:rPr>
              <a:t>now. </a:t>
            </a:r>
            <a:r>
              <a:rPr lang="nl-NL" sz="2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MOST OF THE TIME AN OPERATOR IS NON-COMMUTATIVE!</a:t>
            </a:r>
          </a:p>
        </p:txBody>
      </p:sp>
    </p:spTree>
    <p:extLst>
      <p:ext uri="{BB962C8B-B14F-4D97-AF65-F5344CB8AC3E}">
        <p14:creationId xmlns:p14="http://schemas.microsoft.com/office/powerpoint/2010/main" val="2652068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0)">
            <a:extLst>
              <a:ext uri="{FF2B5EF4-FFF2-40B4-BE49-F238E27FC236}">
                <a16:creationId xmlns:a16="http://schemas.microsoft.com/office/drawing/2014/main" id="{5EFF88D9-09FD-7AE0-D500-19C79352AE8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39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1)">
            <a:extLst>
              <a:ext uri="{FF2B5EF4-FFF2-40B4-BE49-F238E27FC236}">
                <a16:creationId xmlns:a16="http://schemas.microsoft.com/office/drawing/2014/main" id="{7702C008-A8F5-0F1C-6F3E-34708C45FB4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374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3)">
            <a:extLst>
              <a:ext uri="{FF2B5EF4-FFF2-40B4-BE49-F238E27FC236}">
                <a16:creationId xmlns:a16="http://schemas.microsoft.com/office/drawing/2014/main" id="{4B030D8C-6956-BD93-EBF7-F658DD6CD18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7381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4)">
            <a:extLst>
              <a:ext uri="{FF2B5EF4-FFF2-40B4-BE49-F238E27FC236}">
                <a16:creationId xmlns:a16="http://schemas.microsoft.com/office/drawing/2014/main" id="{A822948D-D847-90E5-04C9-0B50276F01E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FB6F975D-1954-4D4E-8339-4EA19D460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098" y="4136408"/>
            <a:ext cx="5377138" cy="154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590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937B0DC-9148-6F7F-2CF6-300F31A18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66417"/>
            <a:ext cx="12192000" cy="512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0166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6)">
            <a:extLst>
              <a:ext uri="{FF2B5EF4-FFF2-40B4-BE49-F238E27FC236}">
                <a16:creationId xmlns:a16="http://schemas.microsoft.com/office/drawing/2014/main" id="{F8A104EF-CC06-8CC2-A50F-A90261EA2EE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69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7)">
            <a:extLst>
              <a:ext uri="{FF2B5EF4-FFF2-40B4-BE49-F238E27FC236}">
                <a16:creationId xmlns:a16="http://schemas.microsoft.com/office/drawing/2014/main" id="{DA47AA0F-7964-23D6-DEE5-AC234156FD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379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8)">
            <a:extLst>
              <a:ext uri="{FF2B5EF4-FFF2-40B4-BE49-F238E27FC236}">
                <a16:creationId xmlns:a16="http://schemas.microsoft.com/office/drawing/2014/main" id="{DD765006-D8B1-E13A-9E94-92F540BE115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724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9)">
            <a:extLst>
              <a:ext uri="{FF2B5EF4-FFF2-40B4-BE49-F238E27FC236}">
                <a16:creationId xmlns:a16="http://schemas.microsoft.com/office/drawing/2014/main" id="{6A7DF459-CD6E-7294-67A7-E6BB49EBCE1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9169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1B0C37B1-16B9-E1BB-CF8E-E921B2D043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80707"/>
            <a:ext cx="12191999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3296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0)">
            <a:extLst>
              <a:ext uri="{FF2B5EF4-FFF2-40B4-BE49-F238E27FC236}">
                <a16:creationId xmlns:a16="http://schemas.microsoft.com/office/drawing/2014/main" id="{445A90E7-11F6-8DEE-2F12-E6CD43D35F3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4225"/>
            <a:ext cx="12192000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960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1)">
            <a:extLst>
              <a:ext uri="{FF2B5EF4-FFF2-40B4-BE49-F238E27FC236}">
                <a16:creationId xmlns:a16="http://schemas.microsoft.com/office/drawing/2014/main" id="{EA0B6296-1C4F-3C49-02D2-F3E84D68E98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75"/>
            <a:ext cx="12192000" cy="682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2657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2)">
            <a:extLst>
              <a:ext uri="{FF2B5EF4-FFF2-40B4-BE49-F238E27FC236}">
                <a16:creationId xmlns:a16="http://schemas.microsoft.com/office/drawing/2014/main" id="{610BAD20-1878-9BBF-C43A-2B12F85273C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88" y="0"/>
            <a:ext cx="11858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697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4)">
            <a:extLst>
              <a:ext uri="{FF2B5EF4-FFF2-40B4-BE49-F238E27FC236}">
                <a16:creationId xmlns:a16="http://schemas.microsoft.com/office/drawing/2014/main" id="{E2BB7E1A-7CA2-CD86-B056-488DF8D3B7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0"/>
            <a:ext cx="117332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459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5)">
            <a:extLst>
              <a:ext uri="{FF2B5EF4-FFF2-40B4-BE49-F238E27FC236}">
                <a16:creationId xmlns:a16="http://schemas.microsoft.com/office/drawing/2014/main" id="{3967BDA3-54BC-5067-765E-A37471EE750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0"/>
            <a:ext cx="120380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660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7)">
            <a:extLst>
              <a:ext uri="{FF2B5EF4-FFF2-40B4-BE49-F238E27FC236}">
                <a16:creationId xmlns:a16="http://schemas.microsoft.com/office/drawing/2014/main" id="{18F9FCE0-56EC-66BB-6113-7BDB0776102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7213"/>
            <a:ext cx="12192000" cy="320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648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8)">
            <a:extLst>
              <a:ext uri="{FF2B5EF4-FFF2-40B4-BE49-F238E27FC236}">
                <a16:creationId xmlns:a16="http://schemas.microsoft.com/office/drawing/2014/main" id="{04A8CD37-78A2-030F-0E3C-75414C721B1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050"/>
            <a:ext cx="12192000" cy="427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440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9)">
            <a:extLst>
              <a:ext uri="{FF2B5EF4-FFF2-40B4-BE49-F238E27FC236}">
                <a16:creationId xmlns:a16="http://schemas.microsoft.com/office/drawing/2014/main" id="{E1509596-D3BD-C9B8-EF2C-CA3828B4101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8775"/>
            <a:ext cx="12192000" cy="359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3674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0)">
            <a:extLst>
              <a:ext uri="{FF2B5EF4-FFF2-40B4-BE49-F238E27FC236}">
                <a16:creationId xmlns:a16="http://schemas.microsoft.com/office/drawing/2014/main" id="{322FB1C9-F68D-2550-36B2-2E053B69141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6475"/>
            <a:ext cx="12192000" cy="484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474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1)">
            <a:extLst>
              <a:ext uri="{FF2B5EF4-FFF2-40B4-BE49-F238E27FC236}">
                <a16:creationId xmlns:a16="http://schemas.microsoft.com/office/drawing/2014/main" id="{416C62A1-143B-DB31-7C64-21A9FE80A61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7950"/>
            <a:ext cx="12192000" cy="664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850025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335</Words>
  <Application>Microsoft Office PowerPoint</Application>
  <PresentationFormat>Breedbeeld</PresentationFormat>
  <Paragraphs>12</Paragraphs>
  <Slides>30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Arial Black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Commutativeness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17</cp:revision>
  <dcterms:created xsi:type="dcterms:W3CDTF">2026-07-20T09:50:12Z</dcterms:created>
  <dcterms:modified xsi:type="dcterms:W3CDTF">2026-08-04T09:38:11Z</dcterms:modified>
</cp:coreProperties>
</file>