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24" r:id="rId3"/>
    <p:sldId id="325" r:id="rId4"/>
    <p:sldId id="326" r:id="rId5"/>
    <p:sldId id="327" r:id="rId6"/>
    <p:sldId id="328" r:id="rId7"/>
    <p:sldId id="329" r:id="rId8"/>
    <p:sldId id="330" r:id="rId9"/>
    <p:sldId id="331" r:id="rId10"/>
    <p:sldId id="332" r:id="rId11"/>
    <p:sldId id="333" r:id="rId12"/>
    <p:sldId id="334" r:id="rId13"/>
    <p:sldId id="335" r:id="rId14"/>
    <p:sldId id="336" r:id="rId15"/>
    <p:sldId id="337" r:id="rId16"/>
    <p:sldId id="338" r:id="rId17"/>
    <p:sldId id="339" r:id="rId18"/>
    <p:sldId id="340" r:id="rId19"/>
    <p:sldId id="341" r:id="rId20"/>
    <p:sldId id="342" r:id="rId21"/>
    <p:sldId id="343" r:id="rId22"/>
    <p:sldId id="354" r:id="rId23"/>
    <p:sldId id="344" r:id="rId24"/>
    <p:sldId id="345" r:id="rId25"/>
    <p:sldId id="346" r:id="rId26"/>
    <p:sldId id="347" r:id="rId27"/>
    <p:sldId id="348" r:id="rId28"/>
    <p:sldId id="349" r:id="rId29"/>
    <p:sldId id="350" r:id="rId30"/>
    <p:sldId id="351" r:id="rId31"/>
    <p:sldId id="352" r:id="rId32"/>
    <p:sldId id="353" r:id="rId33"/>
    <p:sldId id="283" r:id="rId34"/>
    <p:sldId id="279" r:id="rId35"/>
    <p:sldId id="280" r:id="rId36"/>
    <p:sldId id="293" r:id="rId37"/>
    <p:sldId id="286" r:id="rId38"/>
    <p:sldId id="291" r:id="rId39"/>
    <p:sldId id="292" r:id="rId40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26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2)">
            <a:extLst>
              <a:ext uri="{FF2B5EF4-FFF2-40B4-BE49-F238E27FC236}">
                <a16:creationId xmlns:a16="http://schemas.microsoft.com/office/drawing/2014/main" id="{58F123AA-6478-6AF0-7126-FEB10AF160E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589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9)">
            <a:extLst>
              <a:ext uri="{FF2B5EF4-FFF2-40B4-BE49-F238E27FC236}">
                <a16:creationId xmlns:a16="http://schemas.microsoft.com/office/drawing/2014/main" id="{ACA67149-2201-223B-1758-34E3B036C5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3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3)">
            <a:extLst>
              <a:ext uri="{FF2B5EF4-FFF2-40B4-BE49-F238E27FC236}">
                <a16:creationId xmlns:a16="http://schemas.microsoft.com/office/drawing/2014/main" id="{A5B11F9B-FCA4-1E26-E289-DC939E6806C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591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4)">
            <a:extLst>
              <a:ext uri="{FF2B5EF4-FFF2-40B4-BE49-F238E27FC236}">
                <a16:creationId xmlns:a16="http://schemas.microsoft.com/office/drawing/2014/main" id="{3A1902DA-92C2-0ACA-4A23-B7CFE769C4D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5)">
            <a:extLst>
              <a:ext uri="{FF2B5EF4-FFF2-40B4-BE49-F238E27FC236}">
                <a16:creationId xmlns:a16="http://schemas.microsoft.com/office/drawing/2014/main" id="{963EE6F6-47B3-C236-0AD5-9D4FEC5DAC1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200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6)">
            <a:extLst>
              <a:ext uri="{FF2B5EF4-FFF2-40B4-BE49-F238E27FC236}">
                <a16:creationId xmlns:a16="http://schemas.microsoft.com/office/drawing/2014/main" id="{7B278573-964A-5817-44A7-CCD2BD78C56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215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7)">
            <a:extLst>
              <a:ext uri="{FF2B5EF4-FFF2-40B4-BE49-F238E27FC236}">
                <a16:creationId xmlns:a16="http://schemas.microsoft.com/office/drawing/2014/main" id="{898294A6-244A-3732-66C6-E0BE9CCFB11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275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8)">
            <a:extLst>
              <a:ext uri="{FF2B5EF4-FFF2-40B4-BE49-F238E27FC236}">
                <a16:creationId xmlns:a16="http://schemas.microsoft.com/office/drawing/2014/main" id="{233929FB-8844-4A03-83C3-2643B040CFA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74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671A74F6-FB80-FB50-25DD-F721E3164E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5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F7DDF574-C782-B1FC-B96D-3B1C339FBE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993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0583CEA2-3F98-A12F-8899-BF238C2B5BF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16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1CFC8A82-5744-73B0-0F85-C2010CE9E46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155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AE896126-EAB7-4E95-1A06-18D6B7F308F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195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A27C5971-D1CB-9110-A9F7-FE7EEBEFF0D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4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F3EDFAAD-0F8A-8BDF-F533-32841E6E9C2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46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23DEC51B-CF15-A887-B04E-2227E1D435F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6732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3a)">
            <a:extLst>
              <a:ext uri="{FF2B5EF4-FFF2-40B4-BE49-F238E27FC236}">
                <a16:creationId xmlns:a16="http://schemas.microsoft.com/office/drawing/2014/main" id="{AD7642E2-432C-00E8-24AD-9458EFFF5EE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0"/>
            <a:ext cx="12192000" cy="590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7820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3b)">
            <a:extLst>
              <a:ext uri="{FF2B5EF4-FFF2-40B4-BE49-F238E27FC236}">
                <a16:creationId xmlns:a16="http://schemas.microsoft.com/office/drawing/2014/main" id="{F23AF4DF-5C9A-4390-D1C5-68500688C77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900"/>
            <a:ext cx="12192000" cy="591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958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4)">
            <a:extLst>
              <a:ext uri="{FF2B5EF4-FFF2-40B4-BE49-F238E27FC236}">
                <a16:creationId xmlns:a16="http://schemas.microsoft.com/office/drawing/2014/main" id="{9EBB3E1A-C7CB-D57C-6712-534ED1CB10D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3388"/>
            <a:ext cx="12192000" cy="599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5192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5)">
            <a:extLst>
              <a:ext uri="{FF2B5EF4-FFF2-40B4-BE49-F238E27FC236}">
                <a16:creationId xmlns:a16="http://schemas.microsoft.com/office/drawing/2014/main" id="{159D2BD9-4754-F25B-3EB1-D9FCCA64857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74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8065A92-92A2-0302-DAA3-CBA3D3038A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653"/>
            <a:ext cx="12191999" cy="5858693"/>
          </a:xfrm>
          <a:prstGeom prst="rect">
            <a:avLst/>
          </a:prstGeom>
        </p:spPr>
      </p:pic>
      <p:cxnSp>
        <p:nvCxnSpPr>
          <p:cNvPr id="5" name="Rechte verbindingslijn 4">
            <a:extLst>
              <a:ext uri="{FF2B5EF4-FFF2-40B4-BE49-F238E27FC236}">
                <a16:creationId xmlns:a16="http://schemas.microsoft.com/office/drawing/2014/main" id="{9D5AF95A-8B6C-82CE-5557-8567C551D005}"/>
              </a:ext>
            </a:extLst>
          </p:cNvPr>
          <p:cNvCxnSpPr>
            <a:cxnSpLocks/>
          </p:cNvCxnSpPr>
          <p:nvPr/>
        </p:nvCxnSpPr>
        <p:spPr>
          <a:xfrm flipH="1">
            <a:off x="0" y="3047470"/>
            <a:ext cx="109008" cy="0"/>
          </a:xfrm>
          <a:prstGeom prst="line">
            <a:avLst/>
          </a:prstGeom>
          <a:ln w="508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3719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0)">
            <a:extLst>
              <a:ext uri="{FF2B5EF4-FFF2-40B4-BE49-F238E27FC236}">
                <a16:creationId xmlns:a16="http://schemas.microsoft.com/office/drawing/2014/main" id="{2C7083F7-D05B-B6EF-315B-D862B6F2168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6607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1)">
            <a:extLst>
              <a:ext uri="{FF2B5EF4-FFF2-40B4-BE49-F238E27FC236}">
                <a16:creationId xmlns:a16="http://schemas.microsoft.com/office/drawing/2014/main" id="{90E9D727-C546-7AF8-1710-D8C97027E74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59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2)">
            <a:extLst>
              <a:ext uri="{FF2B5EF4-FFF2-40B4-BE49-F238E27FC236}">
                <a16:creationId xmlns:a16="http://schemas.microsoft.com/office/drawing/2014/main" id="{0441F290-1F8E-CCC4-5C2C-DB9F16AE4D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128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4)">
            <a:extLst>
              <a:ext uri="{FF2B5EF4-FFF2-40B4-BE49-F238E27FC236}">
                <a16:creationId xmlns:a16="http://schemas.microsoft.com/office/drawing/2014/main" id="{844C2A08-E1F4-FAF1-7D34-90B7DC56EC9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094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5)">
            <a:extLst>
              <a:ext uri="{FF2B5EF4-FFF2-40B4-BE49-F238E27FC236}">
                <a16:creationId xmlns:a16="http://schemas.microsoft.com/office/drawing/2014/main" id="{E4AA9DD8-2815-1520-C136-BAA79CC45F4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3126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7)">
            <a:extLst>
              <a:ext uri="{FF2B5EF4-FFF2-40B4-BE49-F238E27FC236}">
                <a16:creationId xmlns:a16="http://schemas.microsoft.com/office/drawing/2014/main" id="{05A33706-93E1-E49A-C013-4FADC973B95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475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8)">
            <a:extLst>
              <a:ext uri="{FF2B5EF4-FFF2-40B4-BE49-F238E27FC236}">
                <a16:creationId xmlns:a16="http://schemas.microsoft.com/office/drawing/2014/main" id="{4C5D6F06-44C6-09D5-FD9E-AC0A7773234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3513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9)">
            <a:extLst>
              <a:ext uri="{FF2B5EF4-FFF2-40B4-BE49-F238E27FC236}">
                <a16:creationId xmlns:a16="http://schemas.microsoft.com/office/drawing/2014/main" id="{79E0C718-DC20-C4D5-D5B7-7BE5B32EECD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614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0)">
            <a:extLst>
              <a:ext uri="{FF2B5EF4-FFF2-40B4-BE49-F238E27FC236}">
                <a16:creationId xmlns:a16="http://schemas.microsoft.com/office/drawing/2014/main" id="{D54A0C53-75A2-89EC-47E7-BECE6B681BB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1577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1)">
            <a:extLst>
              <a:ext uri="{FF2B5EF4-FFF2-40B4-BE49-F238E27FC236}">
                <a16:creationId xmlns:a16="http://schemas.microsoft.com/office/drawing/2014/main" id="{DAD94867-D3C8-1706-86D8-7CA2CDF6172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754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C9B209D7-EE47-AA7F-AED7-F91DDD26977D}"/>
              </a:ext>
            </a:extLst>
          </p:cNvPr>
          <p:cNvSpPr txBox="1"/>
          <p:nvPr/>
        </p:nvSpPr>
        <p:spPr>
          <a:xfrm>
            <a:off x="0" y="5225143"/>
            <a:ext cx="12192000" cy="67710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19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22671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EC05987C-8AD6-8594-F9B5-76E04BE079E6}"/>
              </a:ext>
            </a:extLst>
          </p:cNvPr>
          <p:cNvSpPr txBox="1"/>
          <p:nvPr/>
        </p:nvSpPr>
        <p:spPr>
          <a:xfrm>
            <a:off x="6305550" y="5308600"/>
            <a:ext cx="575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or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CE115BA-2A54-561E-A0E0-9E9ADD0DC24E}"/>
              </a:ext>
            </a:extLst>
          </p:cNvPr>
          <p:cNvSpPr txBox="1"/>
          <p:nvPr/>
        </p:nvSpPr>
        <p:spPr>
          <a:xfrm>
            <a:off x="4233332" y="3090333"/>
            <a:ext cx="7704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B0F0"/>
                </a:solidFill>
              </a:rPr>
              <a:t>(dot </a:t>
            </a:r>
            <a:r>
              <a:rPr lang="nl-NL" dirty="0" err="1">
                <a:solidFill>
                  <a:srgbClr val="00B0F0"/>
                </a:solidFill>
              </a:rPr>
              <a:t>notation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mostly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to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avoid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confusion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with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the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commonly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used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unknown</a:t>
            </a:r>
            <a:r>
              <a:rPr lang="nl-NL" dirty="0">
                <a:solidFill>
                  <a:srgbClr val="00B0F0"/>
                </a:solidFill>
              </a:rPr>
              <a:t> </a:t>
            </a:r>
            <a:r>
              <a:rPr lang="nl-NL" dirty="0" err="1">
                <a:solidFill>
                  <a:srgbClr val="00B0F0"/>
                </a:solidFill>
              </a:rPr>
              <a:t>variable</a:t>
            </a:r>
            <a:r>
              <a:rPr lang="nl-NL" dirty="0">
                <a:solidFill>
                  <a:srgbClr val="00B0F0"/>
                </a:solidFill>
              </a:rPr>
              <a:t> x in algebra)</a:t>
            </a:r>
          </a:p>
        </p:txBody>
      </p:sp>
    </p:spTree>
    <p:extLst>
      <p:ext uri="{BB962C8B-B14F-4D97-AF65-F5344CB8AC3E}">
        <p14:creationId xmlns:p14="http://schemas.microsoft.com/office/powerpoint/2010/main" val="20250089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25734D45-4AF3-0AD9-0D83-8355837B632C}"/>
              </a:ext>
            </a:extLst>
          </p:cNvPr>
          <p:cNvSpPr txBox="1"/>
          <p:nvPr/>
        </p:nvSpPr>
        <p:spPr>
          <a:xfrm>
            <a:off x="4538134" y="4305856"/>
            <a:ext cx="736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600" dirty="0">
                <a:solidFill>
                  <a:schemeClr val="accent2"/>
                </a:solidFill>
              </a:rPr>
              <a:t>{slash </a:t>
            </a:r>
            <a:r>
              <a:rPr lang="nl-NL" sz="1600" dirty="0" err="1">
                <a:solidFill>
                  <a:schemeClr val="accent2"/>
                </a:solidFill>
              </a:rPr>
              <a:t>preferred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because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the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division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sign</a:t>
            </a:r>
            <a:r>
              <a:rPr lang="nl-NL" sz="1600" dirty="0">
                <a:solidFill>
                  <a:schemeClr val="accent2"/>
                </a:solidFill>
              </a:rPr>
              <a:t> </a:t>
            </a:r>
            <a:r>
              <a:rPr lang="nl-NL" sz="1600" dirty="0" err="1">
                <a:solidFill>
                  <a:schemeClr val="accent2"/>
                </a:solidFill>
              </a:rPr>
              <a:t>can</a:t>
            </a:r>
            <a:r>
              <a:rPr lang="nl-NL" sz="1600" dirty="0">
                <a:solidFill>
                  <a:schemeClr val="accent2"/>
                </a:solidFill>
              </a:rPr>
              <a:t> lead </a:t>
            </a:r>
            <a:r>
              <a:rPr lang="nl-NL" sz="1600" dirty="0" err="1">
                <a:solidFill>
                  <a:schemeClr val="accent2"/>
                </a:solidFill>
              </a:rPr>
              <a:t>to</a:t>
            </a:r>
            <a:r>
              <a:rPr lang="nl-NL" sz="1600" dirty="0">
                <a:solidFill>
                  <a:schemeClr val="accent2"/>
                </a:solidFill>
              </a:rPr>
              <a:t> BIDMAS </a:t>
            </a:r>
            <a:r>
              <a:rPr lang="nl-NL" sz="1600" dirty="0" err="1">
                <a:solidFill>
                  <a:schemeClr val="accent2"/>
                </a:solidFill>
              </a:rPr>
              <a:t>problems</a:t>
            </a:r>
            <a:r>
              <a:rPr lang="nl-NL" sz="1600" dirty="0">
                <a:solidFill>
                  <a:schemeClr val="accent2"/>
                </a:solidFill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589010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E384A-2887-E150-A743-68E62AB7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58" y="147411"/>
            <a:ext cx="10515600" cy="1325563"/>
          </a:xfrm>
        </p:spPr>
        <p:txBody>
          <a:bodyPr/>
          <a:lstStyle/>
          <a:p>
            <a:r>
              <a:rPr lang="nl-NL" b="1" dirty="0" err="1"/>
              <a:t>Commutativeness</a:t>
            </a:r>
            <a:endParaRPr lang="nl-NL" b="1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E86F095-325D-98A6-57EB-F053BE6C10B1}"/>
              </a:ext>
            </a:extLst>
          </p:cNvPr>
          <p:cNvSpPr txBox="1"/>
          <p:nvPr/>
        </p:nvSpPr>
        <p:spPr>
          <a:xfrm>
            <a:off x="250371" y="1186543"/>
            <a:ext cx="1068977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basically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really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fancy word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means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change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order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 (operators are +, -, ^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of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addition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(+)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multiplication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×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·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or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*)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nl-NL" sz="24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+ 4 = 4 + 3 (=7)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* 5 = 5 * 2 (=10)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switched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’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places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gives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REMEMBER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other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such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subtraction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(-)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division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(÷ or /) are </a:t>
            </a:r>
            <a:r>
              <a:rPr lang="nl-NL" sz="2400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4 – 3 = 1 BUT 3 – 4 = -1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(DIFFERENT!)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6/2 = 3 but 2/6 = 1/3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 AS WELL!)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roots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technically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are NON-COMMUTATIVE: 3^2 = 9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2^3 = 8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/>
              <a:t>∛2 = 2^(1/3) ≈ 1.26 </a:t>
            </a:r>
            <a:r>
              <a:rPr lang="nl-NL" sz="2400" dirty="0" err="1">
                <a:solidFill>
                  <a:srgbClr val="FF0000"/>
                </a:solidFill>
              </a:rPr>
              <a:t>whereas</a:t>
            </a:r>
            <a:r>
              <a:rPr lang="nl-NL" sz="2400" dirty="0"/>
              <a:t> √3 = 3^(1/2) ≈ 1.73.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More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might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encounter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future but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theyre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worth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discussing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now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nl-NL" sz="2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MOST OF THE TIME AN OPERATOR IS NON-COMMUTATIVE!</a:t>
            </a:r>
          </a:p>
        </p:txBody>
      </p:sp>
    </p:spTree>
    <p:extLst>
      <p:ext uri="{BB962C8B-B14F-4D97-AF65-F5344CB8AC3E}">
        <p14:creationId xmlns:p14="http://schemas.microsoft.com/office/powerpoint/2010/main" val="26520687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FB6F975D-1954-4D4E-8339-4EA19D46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0098" y="4136408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900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937B0DC-9148-6F7F-2CF6-300F31A18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6417"/>
            <a:ext cx="12192000" cy="51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0166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B0C37B1-16B9-E1BB-CF8E-E921B2D043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80707"/>
            <a:ext cx="12191999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32969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335</Words>
  <Application>Microsoft Office PowerPoint</Application>
  <PresentationFormat>Breedbeeld</PresentationFormat>
  <Paragraphs>12</Paragraphs>
  <Slides>39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39</vt:i4>
      </vt:variant>
    </vt:vector>
  </HeadingPairs>
  <TitlesOfParts>
    <vt:vector size="44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Commutativeness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20</cp:revision>
  <dcterms:created xsi:type="dcterms:W3CDTF">2026-07-20T09:50:12Z</dcterms:created>
  <dcterms:modified xsi:type="dcterms:W3CDTF">2026-08-13T10:25:15Z</dcterms:modified>
</cp:coreProperties>
</file>