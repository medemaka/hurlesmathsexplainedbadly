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6" r:id="rId3"/>
    <p:sldId id="283" r:id="rId4"/>
    <p:sldId id="277" r:id="rId5"/>
    <p:sldId id="278" r:id="rId6"/>
    <p:sldId id="279" r:id="rId7"/>
    <p:sldId id="280" r:id="rId8"/>
    <p:sldId id="281" r:id="rId9"/>
    <p:sldId id="282" r:id="rId10"/>
    <p:sldId id="293" r:id="rId11"/>
    <p:sldId id="265" r:id="rId12"/>
    <p:sldId id="284" r:id="rId13"/>
    <p:sldId id="285" r:id="rId14"/>
    <p:sldId id="286" r:id="rId15"/>
    <p:sldId id="291" r:id="rId16"/>
    <p:sldId id="287" r:id="rId17"/>
    <p:sldId id="288" r:id="rId18"/>
    <p:sldId id="289" r:id="rId19"/>
    <p:sldId id="290" r:id="rId20"/>
    <p:sldId id="292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3FB0A6-9ECB-1E63-8F13-4E1440A8E8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44A0AF9-F268-FE43-D517-8C2C768F50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F3D484C-841B-696D-55A8-A5CFD7DCD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4-8-2026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9EE9C94-2B3B-690C-48FB-E9168F9EC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2F80E23-D326-83AA-3759-F8301BF76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034485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E47ACB-45F7-D3AA-BE7A-82418704E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D60FB06-29EA-B096-DDF0-1E66AA96F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BC3B0CA-0968-9554-8224-2C77B67A9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4-8-2026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5DA20E1-1013-D763-5508-118E8AB1A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342AC0E-A829-5EF1-3801-A5E4E126C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83196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8B9855-671C-F4F4-F80C-F327E1EC3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942ACE1-0752-71CD-8F72-A32BD96298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85A77EA-BB62-51FB-3181-3414E6E3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4-8-2026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7AC2350-6C96-6215-CCE3-3D31580E1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0A216D3-32DD-9D0D-9F7D-7D65695D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10732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B48323-3B7F-3B69-9761-C196F4FC7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63F4B96-47F4-CF46-4295-E5DD1FF1E3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2972D9C-3BC1-97BC-E605-AEF83059EF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66758D2-A629-9A71-C730-AEED474B6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4-8-2026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1E2FE07-4BAA-3B81-3699-55A966DC5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DE32D23-5C40-3F4E-0D89-6B0F7027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4606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E1D466-BFBE-5EC0-F150-329ED6BFF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D9817C-1CE4-2DF5-5A03-18616726C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C140C0C-91B5-9FA1-8AA7-AB9B317B77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585D8FCA-C6DA-7849-45B9-8DF4C197B8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96BDD12A-75F9-4BF3-9EE0-04A7E0C654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1813CA24-6B66-DE52-29C4-63C5B2E72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4-8-2026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3554582C-18D9-E873-645A-417A3D3BE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2AA82B5D-C4CC-A12D-71F4-EF271D983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7526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1C9109-083A-F7F9-AE5C-0921822B2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65A39651-B9AD-6683-532E-C779E6816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4-8-2026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D6EA108-B16F-3752-FB27-73772DF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47C102-CF99-431F-0C23-7E8AE638E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26828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67E62C93-2496-BA37-6025-953D05020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4-8-2026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15417DDB-19A2-2840-B54B-55FEF077F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E79A1E9-E3B7-33D4-B867-522B8E6F1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518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B3FF6-1A5B-52F9-0437-DA453AE62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B6B171A-69FA-57EB-4E3B-BAA4906DDE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878835B9-9297-9ED6-3247-E75D80021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D49151E-39C7-DC80-F983-209320DF7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4-8-2026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A15DE90-3D52-1D59-C0EC-BB7D18A4C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FC27E7B-327F-45F0-3EFD-7CCF71AE9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33161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EC5BC6-C1DF-49CB-F9FA-DDF589B44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5960CE91-7DEB-AF94-5E95-6338447D16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A07ED9-7CF9-5C44-1A4A-0C056A5222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362BC73-5D70-6BB2-F35E-4A676F7C8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4-8-2026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A721649-88E2-5CF4-E09D-73FA37DC7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7CA0139-95F4-EEFA-5747-147B14B5C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494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16B400-EA48-5D3F-3F81-798C9F2BC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1B8C025-4499-5D15-0B75-4397922A0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9AF6358-A3AB-649F-8D07-2B3316587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4-8-2026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5C7087-D2A3-D5C8-79ED-F126A9EEC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747A86-1847-385F-72F3-78C93C424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4536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62C99B0-47CE-66E6-E205-7B03F86922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AFF3E296-0338-2013-7B29-0D384266E7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4B22A64-5124-5F99-E7DA-FF14FFF00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4-8-2026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796C80-B9A4-12F6-C7ED-5397735F2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951856-12EF-A9AE-237F-F7E684A2D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92934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5C2546DD-3B5C-158D-2980-BF983E1C4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358F19-602E-B898-5727-53E8D350FF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EBB8B2B-CF1C-EA7C-46BD-2D2AEFBA67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2F5C99-693A-4581-8CAA-D9013D995DA3}" type="datetimeFigureOut">
              <a:rPr lang="nl-NL" smtClean="0"/>
              <a:t>4-8-2026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BA07384-DE2E-1082-7685-0DB107754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8692D62-B485-DC55-05C7-C1F4AB2EF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7023257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D54D2C-91C1-F104-FDD4-D4F7005CA9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nl-NL" dirty="0"/>
              <a:t>Pre-Algebra </a:t>
            </a:r>
            <a:r>
              <a:rPr lang="nl-NL" dirty="0" err="1"/>
              <a:t>Extras</a:t>
            </a:r>
            <a:r>
              <a:rPr lang="nl-NL" dirty="0"/>
              <a:t> </a:t>
            </a:r>
            <a:r>
              <a:rPr lang="nl-NL" sz="2400" dirty="0">
                <a:solidFill>
                  <a:srgbClr val="FF0000"/>
                </a:solidFill>
              </a:rPr>
              <a:t>[hot mess of </a:t>
            </a:r>
            <a:r>
              <a:rPr lang="nl-NL" sz="2400" dirty="0" err="1">
                <a:solidFill>
                  <a:srgbClr val="FF0000"/>
                </a:solidFill>
              </a:rPr>
              <a:t>everything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that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isnt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covered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other</a:t>
            </a:r>
            <a:r>
              <a:rPr lang="nl-NL" sz="2400" dirty="0">
                <a:solidFill>
                  <a:srgbClr val="FF0000"/>
                </a:solidFill>
              </a:rPr>
              <a:t> slides – </a:t>
            </a:r>
            <a:r>
              <a:rPr lang="nl-NL" sz="2400" dirty="0" err="1">
                <a:solidFill>
                  <a:srgbClr val="FF0000"/>
                </a:solidFill>
              </a:rPr>
              <a:t>still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extremely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useful</a:t>
            </a:r>
            <a:r>
              <a:rPr lang="nl-NL" sz="2400" dirty="0">
                <a:solidFill>
                  <a:srgbClr val="FF0000"/>
                </a:solidFill>
              </a:rPr>
              <a:t>; </a:t>
            </a:r>
            <a:r>
              <a:rPr lang="nl-NL" sz="2400" dirty="0" err="1">
                <a:solidFill>
                  <a:srgbClr val="FF0000"/>
                </a:solidFill>
              </a:rPr>
              <a:t>can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updated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randomly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and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regularly</a:t>
            </a:r>
            <a:r>
              <a:rPr lang="nl-NL" sz="2400" dirty="0">
                <a:solidFill>
                  <a:srgbClr val="FF0000"/>
                </a:solidFill>
              </a:rPr>
              <a:t>]</a:t>
            </a:r>
            <a:endParaRPr lang="nl-NL" dirty="0">
              <a:solidFill>
                <a:srgbClr val="FF0000"/>
              </a:solidFill>
            </a:endParaRP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FD0FE98-50FB-C009-AA7A-AC03DD53DA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200915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2)">
            <a:extLst>
              <a:ext uri="{FF2B5EF4-FFF2-40B4-BE49-F238E27FC236}">
                <a16:creationId xmlns:a16="http://schemas.microsoft.com/office/drawing/2014/main" id="{32A3F792-4F47-63B3-99A7-4F48A1A9A3A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08200"/>
            <a:ext cx="12192000" cy="2640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886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9)">
            <a:extLst>
              <a:ext uri="{FF2B5EF4-FFF2-40B4-BE49-F238E27FC236}">
                <a16:creationId xmlns:a16="http://schemas.microsoft.com/office/drawing/2014/main" id="{812F66FB-28CB-01F9-77DD-D3BB2435FC0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62088"/>
            <a:ext cx="12192000" cy="3932237"/>
          </a:xfrm>
          <a:prstGeom prst="rect">
            <a:avLst/>
          </a:prstGeom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C9B209D7-EE47-AA7F-AED7-F91DDD26977D}"/>
              </a:ext>
            </a:extLst>
          </p:cNvPr>
          <p:cNvSpPr txBox="1"/>
          <p:nvPr/>
        </p:nvSpPr>
        <p:spPr>
          <a:xfrm>
            <a:off x="0" y="5225143"/>
            <a:ext cx="12192000" cy="67710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>
                <a:solidFill>
                  <a:schemeClr val="bg2">
                    <a:lumMod val="50000"/>
                    <a:lumOff val="50000"/>
                  </a:schemeClr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Even </a:t>
            </a:r>
            <a:r>
              <a:rPr lang="nl-NL" sz="1900" b="1" dirty="0" err="1">
                <a:solidFill>
                  <a:schemeClr val="bg2">
                    <a:lumMod val="50000"/>
                    <a:lumOff val="50000"/>
                  </a:schemeClr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number</a:t>
            </a:r>
            <a:r>
              <a:rPr lang="nl-NL" sz="1900" b="1" dirty="0">
                <a:solidFill>
                  <a:schemeClr val="bg2">
                    <a:lumMod val="50000"/>
                    <a:lumOff val="50000"/>
                  </a:schemeClr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=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integers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divisible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by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2 (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so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0, 2, 4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but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also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-2, -4, -6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)</a:t>
            </a:r>
            <a:b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</a:b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Odd</a:t>
            </a:r>
            <a:r>
              <a:rPr lang="nl-NL" sz="1900" b="1" dirty="0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number</a:t>
            </a:r>
            <a:r>
              <a:rPr lang="nl-NL" sz="1900" b="1" dirty="0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= integers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that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are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not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divisible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by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2 (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so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1, 3, 5, 7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and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-1, -3, -5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122671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3)">
            <a:extLst>
              <a:ext uri="{FF2B5EF4-FFF2-40B4-BE49-F238E27FC236}">
                <a16:creationId xmlns:a16="http://schemas.microsoft.com/office/drawing/2014/main" id="{294CA899-75FF-0596-D17A-79307D65E17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19338"/>
            <a:ext cx="12192000" cy="221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922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4)">
            <a:extLst>
              <a:ext uri="{FF2B5EF4-FFF2-40B4-BE49-F238E27FC236}">
                <a16:creationId xmlns:a16="http://schemas.microsoft.com/office/drawing/2014/main" id="{191B43AC-415C-3162-BBA6-0E683F73E4C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49475"/>
            <a:ext cx="12192000" cy="2557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000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5)">
            <a:extLst>
              <a:ext uri="{FF2B5EF4-FFF2-40B4-BE49-F238E27FC236}">
                <a16:creationId xmlns:a16="http://schemas.microsoft.com/office/drawing/2014/main" id="{D38877C5-7CA0-B2C0-01DD-681931186E5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23938"/>
            <a:ext cx="12192000" cy="4808537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EC05987C-8AD6-8594-F9B5-76E04BE079E6}"/>
              </a:ext>
            </a:extLst>
          </p:cNvPr>
          <p:cNvSpPr txBox="1"/>
          <p:nvPr/>
        </p:nvSpPr>
        <p:spPr>
          <a:xfrm>
            <a:off x="6305550" y="5308600"/>
            <a:ext cx="5759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rgbClr val="0070C0"/>
                </a:solidFill>
              </a:rPr>
              <a:t>[8*(2) or (8)*2 or (8)*(2) </a:t>
            </a:r>
            <a:r>
              <a:rPr lang="nl-NL" dirty="0" err="1">
                <a:solidFill>
                  <a:srgbClr val="0070C0"/>
                </a:solidFill>
              </a:rPr>
              <a:t>also</a:t>
            </a:r>
            <a:r>
              <a:rPr lang="nl-NL" dirty="0">
                <a:solidFill>
                  <a:srgbClr val="0070C0"/>
                </a:solidFill>
              </a:rPr>
              <a:t> </a:t>
            </a:r>
            <a:r>
              <a:rPr lang="nl-NL" dirty="0" err="1">
                <a:solidFill>
                  <a:srgbClr val="0070C0"/>
                </a:solidFill>
              </a:rPr>
              <a:t>possible</a:t>
            </a:r>
            <a:r>
              <a:rPr lang="nl-NL" dirty="0">
                <a:solidFill>
                  <a:srgbClr val="0070C0"/>
                </a:solidFill>
              </a:rPr>
              <a:t> but redundant]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1CE115BA-2A54-561E-A0E0-9E9ADD0DC24E}"/>
              </a:ext>
            </a:extLst>
          </p:cNvPr>
          <p:cNvSpPr txBox="1"/>
          <p:nvPr/>
        </p:nvSpPr>
        <p:spPr>
          <a:xfrm>
            <a:off x="4233332" y="3090333"/>
            <a:ext cx="7704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rgbClr val="00B0F0"/>
                </a:solidFill>
              </a:rPr>
              <a:t>(dot </a:t>
            </a:r>
            <a:r>
              <a:rPr lang="nl-NL" dirty="0" err="1">
                <a:solidFill>
                  <a:srgbClr val="00B0F0"/>
                </a:solidFill>
              </a:rPr>
              <a:t>notation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used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mostly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to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avoid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confusion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with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the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commonly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used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unknown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variable</a:t>
            </a:r>
            <a:r>
              <a:rPr lang="nl-NL" dirty="0">
                <a:solidFill>
                  <a:srgbClr val="00B0F0"/>
                </a:solidFill>
              </a:rPr>
              <a:t> x in algebra)</a:t>
            </a:r>
          </a:p>
        </p:txBody>
      </p:sp>
    </p:spTree>
    <p:extLst>
      <p:ext uri="{BB962C8B-B14F-4D97-AF65-F5344CB8AC3E}">
        <p14:creationId xmlns:p14="http://schemas.microsoft.com/office/powerpoint/2010/main" val="2025008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6)">
            <a:extLst>
              <a:ext uri="{FF2B5EF4-FFF2-40B4-BE49-F238E27FC236}">
                <a16:creationId xmlns:a16="http://schemas.microsoft.com/office/drawing/2014/main" id="{CA40BA5A-9BD8-5546-15CD-6E01897EB0F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81225"/>
            <a:ext cx="12192000" cy="2493963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25734D45-4AF3-0AD9-0D83-8355837B632C}"/>
              </a:ext>
            </a:extLst>
          </p:cNvPr>
          <p:cNvSpPr txBox="1"/>
          <p:nvPr/>
        </p:nvSpPr>
        <p:spPr>
          <a:xfrm>
            <a:off x="4538134" y="4305856"/>
            <a:ext cx="736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600" dirty="0">
                <a:solidFill>
                  <a:schemeClr val="accent2"/>
                </a:solidFill>
              </a:rPr>
              <a:t>{slash </a:t>
            </a:r>
            <a:r>
              <a:rPr lang="nl-NL" sz="1600" dirty="0" err="1">
                <a:solidFill>
                  <a:schemeClr val="accent2"/>
                </a:solidFill>
              </a:rPr>
              <a:t>preferred</a:t>
            </a:r>
            <a:r>
              <a:rPr lang="nl-NL" sz="1600" dirty="0">
                <a:solidFill>
                  <a:schemeClr val="accent2"/>
                </a:solidFill>
              </a:rPr>
              <a:t> </a:t>
            </a:r>
            <a:r>
              <a:rPr lang="nl-NL" sz="1600" dirty="0" err="1">
                <a:solidFill>
                  <a:schemeClr val="accent2"/>
                </a:solidFill>
              </a:rPr>
              <a:t>because</a:t>
            </a:r>
            <a:r>
              <a:rPr lang="nl-NL" sz="1600" dirty="0">
                <a:solidFill>
                  <a:schemeClr val="accent2"/>
                </a:solidFill>
              </a:rPr>
              <a:t> </a:t>
            </a:r>
            <a:r>
              <a:rPr lang="nl-NL" sz="1600" dirty="0" err="1">
                <a:solidFill>
                  <a:schemeClr val="accent2"/>
                </a:solidFill>
              </a:rPr>
              <a:t>the</a:t>
            </a:r>
            <a:r>
              <a:rPr lang="nl-NL" sz="1600" dirty="0">
                <a:solidFill>
                  <a:schemeClr val="accent2"/>
                </a:solidFill>
              </a:rPr>
              <a:t> </a:t>
            </a:r>
            <a:r>
              <a:rPr lang="nl-NL" sz="1600" dirty="0" err="1">
                <a:solidFill>
                  <a:schemeClr val="accent2"/>
                </a:solidFill>
              </a:rPr>
              <a:t>division</a:t>
            </a:r>
            <a:r>
              <a:rPr lang="nl-NL" sz="1600" dirty="0">
                <a:solidFill>
                  <a:schemeClr val="accent2"/>
                </a:solidFill>
              </a:rPr>
              <a:t> </a:t>
            </a:r>
            <a:r>
              <a:rPr lang="nl-NL" sz="1600" dirty="0" err="1">
                <a:solidFill>
                  <a:schemeClr val="accent2"/>
                </a:solidFill>
              </a:rPr>
              <a:t>sign</a:t>
            </a:r>
            <a:r>
              <a:rPr lang="nl-NL" sz="1600" dirty="0">
                <a:solidFill>
                  <a:schemeClr val="accent2"/>
                </a:solidFill>
              </a:rPr>
              <a:t> </a:t>
            </a:r>
            <a:r>
              <a:rPr lang="nl-NL" sz="1600" dirty="0" err="1">
                <a:solidFill>
                  <a:schemeClr val="accent2"/>
                </a:solidFill>
              </a:rPr>
              <a:t>can</a:t>
            </a:r>
            <a:r>
              <a:rPr lang="nl-NL" sz="1600" dirty="0">
                <a:solidFill>
                  <a:schemeClr val="accent2"/>
                </a:solidFill>
              </a:rPr>
              <a:t> lead </a:t>
            </a:r>
            <a:r>
              <a:rPr lang="nl-NL" sz="1600" dirty="0" err="1">
                <a:solidFill>
                  <a:schemeClr val="accent2"/>
                </a:solidFill>
              </a:rPr>
              <a:t>to</a:t>
            </a:r>
            <a:r>
              <a:rPr lang="nl-NL" sz="1600" dirty="0">
                <a:solidFill>
                  <a:schemeClr val="accent2"/>
                </a:solidFill>
              </a:rPr>
              <a:t> BIDMAS </a:t>
            </a:r>
            <a:r>
              <a:rPr lang="nl-NL" sz="1600" dirty="0" err="1">
                <a:solidFill>
                  <a:schemeClr val="accent2"/>
                </a:solidFill>
              </a:rPr>
              <a:t>problems</a:t>
            </a:r>
            <a:r>
              <a:rPr lang="nl-NL" sz="1600" dirty="0">
                <a:solidFill>
                  <a:schemeClr val="accent2"/>
                </a:solidFill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35890105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7)">
            <a:extLst>
              <a:ext uri="{FF2B5EF4-FFF2-40B4-BE49-F238E27FC236}">
                <a16:creationId xmlns:a16="http://schemas.microsoft.com/office/drawing/2014/main" id="{2F230D0A-BE88-5B6C-938A-6A63D7DA09C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4400"/>
            <a:ext cx="121920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5000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8)">
            <a:extLst>
              <a:ext uri="{FF2B5EF4-FFF2-40B4-BE49-F238E27FC236}">
                <a16:creationId xmlns:a16="http://schemas.microsoft.com/office/drawing/2014/main" id="{F62733A9-3318-9EC0-FE60-2091CDE3200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43013"/>
            <a:ext cx="12192000" cy="437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5457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E384A-2887-E150-A743-68E62AB79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458" y="147411"/>
            <a:ext cx="10515600" cy="1325563"/>
          </a:xfrm>
        </p:spPr>
        <p:txBody>
          <a:bodyPr/>
          <a:lstStyle/>
          <a:p>
            <a:r>
              <a:rPr lang="nl-NL" b="1" dirty="0" err="1"/>
              <a:t>Commutativeness</a:t>
            </a:r>
            <a:endParaRPr lang="nl-NL" b="1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2E86F095-325D-98A6-57EB-F053BE6C10B1}"/>
              </a:ext>
            </a:extLst>
          </p:cNvPr>
          <p:cNvSpPr txBox="1"/>
          <p:nvPr/>
        </p:nvSpPr>
        <p:spPr>
          <a:xfrm>
            <a:off x="250371" y="1186543"/>
            <a:ext cx="1068977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is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basically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really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fancy word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that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means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that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you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can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change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order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around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if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operator (operators are +, -, ^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) is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commutative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>
              <a:buFontTx/>
              <a:buChar char="-"/>
            </a:pP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Only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operators of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addition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(+)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multiplication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nl-NL" sz="2400" b="1" dirty="0">
                <a:latin typeface="Arial" panose="020B0604020202020204" pitchFamily="34" charset="0"/>
                <a:cs typeface="Arial" panose="020B0604020202020204" pitchFamily="34" charset="0"/>
              </a:rPr>
              <a:t>×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nl-NL" sz="2400" b="1" dirty="0">
                <a:latin typeface="Arial" panose="020B0604020202020204" pitchFamily="34" charset="0"/>
                <a:cs typeface="Arial" panose="020B0604020202020204" pitchFamily="34" charset="0"/>
              </a:rPr>
              <a:t>·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, or </a:t>
            </a:r>
            <a:r>
              <a:rPr lang="nl-NL" sz="2400" b="1" dirty="0">
                <a:latin typeface="Arial" panose="020B0604020202020204" pitchFamily="34" charset="0"/>
                <a:cs typeface="Arial" panose="020B0604020202020204" pitchFamily="34" charset="0"/>
              </a:rPr>
              <a:t>*)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are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commutative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nl-NL" sz="24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+ 4 = 4 + 3 (=7)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* 5 = 5 * 2 (=10)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;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you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see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switched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numbers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’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places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switching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around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gives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me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same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answer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</a:p>
          <a:p>
            <a:pPr marL="342900" indent="-342900">
              <a:buFontTx/>
              <a:buChar char="-"/>
            </a:pP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REMEMBER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that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other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operators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such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as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subtraction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(-)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division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(÷ or /) are </a:t>
            </a:r>
            <a:r>
              <a:rPr lang="nl-NL" sz="2400" u="sng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commutative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: 4 – 3 = 1 BUT 3 – 4 = -1 </a:t>
            </a:r>
            <a:r>
              <a:rPr lang="nl-NL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(DIFFERENT!)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6/2 = 3 but 2/6 = 1/3 </a:t>
            </a:r>
            <a:r>
              <a:rPr lang="nl-NL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(DIFFERENT AS WELL!)</a:t>
            </a:r>
          </a:p>
          <a:p>
            <a:pPr marL="342900" indent="-342900">
              <a:buFontTx/>
              <a:buChar char="-"/>
            </a:pP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Also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powers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roots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(are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also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powers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technically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) are NON-COMMUTATIVE: 3^2 = 9 </a:t>
            </a:r>
            <a:r>
              <a:rPr lang="nl-NL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2^3 = 8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/>
              <a:t>∛2 = 2^(1/3) ≈ 1.26 </a:t>
            </a:r>
            <a:r>
              <a:rPr lang="nl-NL" sz="2400" dirty="0" err="1">
                <a:solidFill>
                  <a:srgbClr val="FF0000"/>
                </a:solidFill>
              </a:rPr>
              <a:t>whereas</a:t>
            </a:r>
            <a:r>
              <a:rPr lang="nl-NL" sz="2400" dirty="0"/>
              <a:t> √3 = 3^(1/2) ≈ 1.73.</a:t>
            </a:r>
          </a:p>
          <a:p>
            <a:pPr marL="342900" indent="-342900">
              <a:buFontTx/>
              <a:buChar char="-"/>
            </a:pP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More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examples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you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might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encounter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future but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theyre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worth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discussing. </a:t>
            </a:r>
            <a:r>
              <a:rPr lang="nl-NL" sz="24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MOST OF THE TIME AN OPERATOR IS NON-COMMUTATIVE!</a:t>
            </a:r>
          </a:p>
        </p:txBody>
      </p:sp>
    </p:spTree>
    <p:extLst>
      <p:ext uri="{BB962C8B-B14F-4D97-AF65-F5344CB8AC3E}">
        <p14:creationId xmlns:p14="http://schemas.microsoft.com/office/powerpoint/2010/main" val="26520687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0)">
            <a:extLst>
              <a:ext uri="{FF2B5EF4-FFF2-40B4-BE49-F238E27FC236}">
                <a16:creationId xmlns:a16="http://schemas.microsoft.com/office/drawing/2014/main" id="{5EFF88D9-09FD-7AE0-D500-19C79352AE8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9288"/>
            <a:ext cx="12192000" cy="5557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39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1)">
            <a:extLst>
              <a:ext uri="{FF2B5EF4-FFF2-40B4-BE49-F238E27FC236}">
                <a16:creationId xmlns:a16="http://schemas.microsoft.com/office/drawing/2014/main" id="{7702C008-A8F5-0F1C-6F3E-34708C45FB4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5988"/>
            <a:ext cx="12192000" cy="5024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3747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3)">
            <a:extLst>
              <a:ext uri="{FF2B5EF4-FFF2-40B4-BE49-F238E27FC236}">
                <a16:creationId xmlns:a16="http://schemas.microsoft.com/office/drawing/2014/main" id="{4B030D8C-6956-BD93-EBF7-F658DD6CD18A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3450"/>
            <a:ext cx="12192000" cy="4989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7381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4)">
            <a:extLst>
              <a:ext uri="{FF2B5EF4-FFF2-40B4-BE49-F238E27FC236}">
                <a16:creationId xmlns:a16="http://schemas.microsoft.com/office/drawing/2014/main" id="{A822948D-D847-90E5-04C9-0B50276F01E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28688"/>
            <a:ext cx="12192000" cy="5000625"/>
          </a:xfrm>
          <a:prstGeom prst="rect">
            <a:avLst/>
          </a:prstGeom>
        </p:spPr>
      </p:pic>
      <p:pic>
        <p:nvPicPr>
          <p:cNvPr id="4" name="Afbeelding 3">
            <a:extLst>
              <a:ext uri="{FF2B5EF4-FFF2-40B4-BE49-F238E27FC236}">
                <a16:creationId xmlns:a16="http://schemas.microsoft.com/office/drawing/2014/main" id="{FB6F975D-1954-4D4E-8339-4EA19D460C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098" y="4136408"/>
            <a:ext cx="5377138" cy="154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5900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C937B0DC-9148-6F7F-2CF6-300F31A18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66417"/>
            <a:ext cx="12192000" cy="5125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0166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6)">
            <a:extLst>
              <a:ext uri="{FF2B5EF4-FFF2-40B4-BE49-F238E27FC236}">
                <a16:creationId xmlns:a16="http://schemas.microsoft.com/office/drawing/2014/main" id="{F8A104EF-CC06-8CC2-A50F-A90261EA2EE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9913"/>
            <a:ext cx="12192000" cy="571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5691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7)">
            <a:extLst>
              <a:ext uri="{FF2B5EF4-FFF2-40B4-BE49-F238E27FC236}">
                <a16:creationId xmlns:a16="http://schemas.microsoft.com/office/drawing/2014/main" id="{DA47AA0F-7964-23D6-DEE5-AC234156FDF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6400"/>
            <a:ext cx="12192000" cy="604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3790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8)">
            <a:extLst>
              <a:ext uri="{FF2B5EF4-FFF2-40B4-BE49-F238E27FC236}">
                <a16:creationId xmlns:a16="http://schemas.microsoft.com/office/drawing/2014/main" id="{DD765006-D8B1-E13A-9E94-92F540BE115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6413"/>
            <a:ext cx="12192000" cy="584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5724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9)">
            <a:extLst>
              <a:ext uri="{FF2B5EF4-FFF2-40B4-BE49-F238E27FC236}">
                <a16:creationId xmlns:a16="http://schemas.microsoft.com/office/drawing/2014/main" id="{6A7DF459-CD6E-7294-67A7-E6BB49EBCE1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7513"/>
            <a:ext cx="12192000" cy="602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9169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1B0C37B1-16B9-E1BB-CF8E-E921B2D043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80707"/>
            <a:ext cx="12191999" cy="5096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3296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0)">
            <a:extLst>
              <a:ext uri="{FF2B5EF4-FFF2-40B4-BE49-F238E27FC236}">
                <a16:creationId xmlns:a16="http://schemas.microsoft.com/office/drawing/2014/main" id="{445A90E7-11F6-8DEE-2F12-E6CD43D35F3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54225"/>
            <a:ext cx="12192000" cy="2747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9603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1)">
            <a:extLst>
              <a:ext uri="{FF2B5EF4-FFF2-40B4-BE49-F238E27FC236}">
                <a16:creationId xmlns:a16="http://schemas.microsoft.com/office/drawing/2014/main" id="{EA0B6296-1C4F-3C49-02D2-F3E84D68E98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875"/>
            <a:ext cx="12192000" cy="6824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2657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2)">
            <a:extLst>
              <a:ext uri="{FF2B5EF4-FFF2-40B4-BE49-F238E27FC236}">
                <a16:creationId xmlns:a16="http://schemas.microsoft.com/office/drawing/2014/main" id="{610BAD20-1878-9BBF-C43A-2B12F85273C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88" y="0"/>
            <a:ext cx="118586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697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4)">
            <a:extLst>
              <a:ext uri="{FF2B5EF4-FFF2-40B4-BE49-F238E27FC236}">
                <a16:creationId xmlns:a16="http://schemas.microsoft.com/office/drawing/2014/main" id="{E2BB7E1A-7CA2-CD86-B056-488DF8D3B7C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0"/>
            <a:ext cx="117332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4592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5)">
            <a:extLst>
              <a:ext uri="{FF2B5EF4-FFF2-40B4-BE49-F238E27FC236}">
                <a16:creationId xmlns:a16="http://schemas.microsoft.com/office/drawing/2014/main" id="{3967BDA3-54BC-5067-765E-A37471EE750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0"/>
            <a:ext cx="120380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660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7)">
            <a:extLst>
              <a:ext uri="{FF2B5EF4-FFF2-40B4-BE49-F238E27FC236}">
                <a16:creationId xmlns:a16="http://schemas.microsoft.com/office/drawing/2014/main" id="{18F9FCE0-56EC-66BB-6113-7BDB0776102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27213"/>
            <a:ext cx="12192000" cy="320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4648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8)">
            <a:extLst>
              <a:ext uri="{FF2B5EF4-FFF2-40B4-BE49-F238E27FC236}">
                <a16:creationId xmlns:a16="http://schemas.microsoft.com/office/drawing/2014/main" id="{04A8CD37-78A2-030F-0E3C-75414C721B1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9050"/>
            <a:ext cx="12192000" cy="4278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4404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99)">
            <a:extLst>
              <a:ext uri="{FF2B5EF4-FFF2-40B4-BE49-F238E27FC236}">
                <a16:creationId xmlns:a16="http://schemas.microsoft.com/office/drawing/2014/main" id="{E1509596-D3BD-C9B8-EF2C-CA3828B4101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8775"/>
            <a:ext cx="12192000" cy="359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3674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0)">
            <a:extLst>
              <a:ext uri="{FF2B5EF4-FFF2-40B4-BE49-F238E27FC236}">
                <a16:creationId xmlns:a16="http://schemas.microsoft.com/office/drawing/2014/main" id="{322FB1C9-F68D-2550-36B2-2E053B69141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06475"/>
            <a:ext cx="12192000" cy="484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4749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001)">
            <a:extLst>
              <a:ext uri="{FF2B5EF4-FFF2-40B4-BE49-F238E27FC236}">
                <a16:creationId xmlns:a16="http://schemas.microsoft.com/office/drawing/2014/main" id="{416C62A1-143B-DB31-7C64-21A9FE80A61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7950"/>
            <a:ext cx="12192000" cy="664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850025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334</Words>
  <Application>Microsoft Office PowerPoint</Application>
  <PresentationFormat>Breedbeeld</PresentationFormat>
  <Paragraphs>12</Paragraphs>
  <Slides>30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30</vt:i4>
      </vt:variant>
    </vt:vector>
  </HeadingPairs>
  <TitlesOfParts>
    <vt:vector size="35" baseType="lpstr">
      <vt:lpstr>Aptos</vt:lpstr>
      <vt:lpstr>Aptos Display</vt:lpstr>
      <vt:lpstr>Arial</vt:lpstr>
      <vt:lpstr>Arial Black</vt:lpstr>
      <vt:lpstr>Kantoorthema</vt:lpstr>
      <vt:lpstr>Pre-Algebra Extras [hot mess of everything that isnt covered by the other slides – still extremely useful; can be updated randomly and regularly]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Commutativeness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16</cp:revision>
  <dcterms:created xsi:type="dcterms:W3CDTF">2026-07-20T09:50:12Z</dcterms:created>
  <dcterms:modified xsi:type="dcterms:W3CDTF">2026-08-04T09:36:35Z</dcterms:modified>
</cp:coreProperties>
</file>