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90" r:id="rId4"/>
    <p:sldId id="291" r:id="rId5"/>
    <p:sldId id="292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9" r:id="rId22"/>
    <p:sldId id="266" r:id="rId23"/>
    <p:sldId id="284" r:id="rId24"/>
    <p:sldId id="264" r:id="rId25"/>
    <p:sldId id="285" r:id="rId26"/>
    <p:sldId id="258" r:id="rId27"/>
    <p:sldId id="265" r:id="rId28"/>
    <p:sldId id="286" r:id="rId29"/>
    <p:sldId id="287" r:id="rId30"/>
    <p:sldId id="288" r:id="rId31"/>
  </p:sldIdLst>
  <p:sldSz cx="12192000" cy="6858000"/>
  <p:notesSz cx="6858000" cy="9144000"/>
  <p:photoAlbum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04AAE5-7ABD-FC6A-50B9-137DE6D01F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DD28535-E0B7-2FF0-F312-9F1AF1B42E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E7F9C4D-78CA-27C4-358B-9A8832C31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A9055-C5AC-43F7-9102-2E055F926A73}" type="datetimeFigureOut">
              <a:rPr lang="nl-NL" smtClean="0"/>
              <a:t>26-9-2026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1A6AE67-CA51-BFF1-AF96-B516CC3D0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58C964A-9832-A56F-9EF5-6674D0997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8B259-EDD7-4212-88D4-2FEE79F3F0D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82477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DF0212-E73D-5CBD-7ECA-38FFF834C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4E4A008-EFEA-B533-D55A-A8BEBC2DC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814EA96-6583-5B67-0956-0EE1BEBFE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A9055-C5AC-43F7-9102-2E055F926A73}" type="datetimeFigureOut">
              <a:rPr lang="nl-NL" smtClean="0"/>
              <a:t>26-9-2026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2DF4A40-9FE7-91FD-36DD-FA9F82B0B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2F44989-393B-B705-D412-1CAB76347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8B259-EDD7-4212-88D4-2FEE79F3F0D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49211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240D26-FDF1-908F-4706-BFED3388E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E5CD457-6B17-C8FB-8F6C-144A06D3A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B85A759-3AEB-B9A1-58B9-46601CCA6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A9055-C5AC-43F7-9102-2E055F926A73}" type="datetimeFigureOut">
              <a:rPr lang="nl-NL" smtClean="0"/>
              <a:t>26-9-2026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15F74D9-A73D-0F2D-9398-C1F2CA68F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F098481-508D-9C9D-1095-3F2B8979A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8B259-EDD7-4212-88D4-2FEE79F3F0D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26825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56B0BE-7D3E-29C7-9500-E35F022FE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CF025B3-F665-6113-C6B4-1C277090A5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12D48DA-269E-A7E0-F2B5-67D2051567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CBE8AA2-3171-E6CD-CA68-ED5E3858B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A9055-C5AC-43F7-9102-2E055F926A73}" type="datetimeFigureOut">
              <a:rPr lang="nl-NL" smtClean="0"/>
              <a:t>26-9-2026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A422F62-F0DC-F0B7-AD21-958FC24B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6D8EA5D-403E-9468-6906-373C65CE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8B259-EDD7-4212-88D4-2FEE79F3F0D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22239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162D99-5ED5-61A2-4C71-1DE351EF1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656AE9D-38D6-3D94-B1B6-E092B0CE7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DA90896-2C25-3B20-E4C2-DF1A7208AC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82D17699-7F11-DD32-46F0-CDCADB9483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76E8EFB7-5CA7-6EAA-D601-508830C962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2E85415F-6ED1-376D-30FD-23D6EDDDE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A9055-C5AC-43F7-9102-2E055F926A73}" type="datetimeFigureOut">
              <a:rPr lang="nl-NL" smtClean="0"/>
              <a:t>26-9-2026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2DB46083-AE12-489C-9227-21BFB7582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6373AEE2-8EF1-2503-5D8D-18F9A7B16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8B259-EDD7-4212-88D4-2FEE79F3F0D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28055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A55AA6-B4BA-918D-0639-8F0D09A27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7856721-7F0D-E5F7-3DC4-40CF7A86A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A9055-C5AC-43F7-9102-2E055F926A73}" type="datetimeFigureOut">
              <a:rPr lang="nl-NL" smtClean="0"/>
              <a:t>26-9-2026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5A92865-8186-ADE4-469E-2CE3DF433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7B6F5CFF-A04D-B468-1E16-79D4FC950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8B259-EDD7-4212-88D4-2FEE79F3F0D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0528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AF9D1D03-421F-020C-F60A-20DB13DD9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A9055-C5AC-43F7-9102-2E055F926A73}" type="datetimeFigureOut">
              <a:rPr lang="nl-NL" smtClean="0"/>
              <a:t>26-9-2026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D82622EF-5544-5648-EB55-856048CD1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B79088D-FEC6-8BFE-5F5A-A5ABBFCEB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8B259-EDD7-4212-88D4-2FEE79F3F0D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34725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E05EA8-5CDB-646E-D91B-E9DDE6A6C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2CF1E9C-8F6D-5DE9-184F-D59B2DE9B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D0539AD-FEBD-50D2-A9FB-E57DE3886D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D35903F-1C34-1427-E865-1A8D87079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A9055-C5AC-43F7-9102-2E055F926A73}" type="datetimeFigureOut">
              <a:rPr lang="nl-NL" smtClean="0"/>
              <a:t>26-9-2026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D00BC56-FA32-50D3-38F5-F6263203C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7170CC0-6403-CDCE-B355-3FF2426E3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8B259-EDD7-4212-88D4-2FEE79F3F0D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64033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47DE35-FC15-8485-06FA-B853ACE67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6C79D0F0-36A6-396B-3F4A-453FD9989F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A7128DB-091B-1BE0-F57B-555113B6C3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0F33711-9189-F925-CF5D-9F29AEBCE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A9055-C5AC-43F7-9102-2E055F926A73}" type="datetimeFigureOut">
              <a:rPr lang="nl-NL" smtClean="0"/>
              <a:t>26-9-2026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9857143-576D-7664-CE9F-3A5161CEE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D0E97CC5-8AC9-F661-D69F-F9D002DBE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8B259-EDD7-4212-88D4-2FEE79F3F0D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22132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373CF6-1CD7-F6CA-2DAE-5B4CD7BA8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1667B716-2B6C-EB44-59FB-8E02D2F7E2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46C2D65-F1CF-EA52-0309-72A2903A7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A9055-C5AC-43F7-9102-2E055F926A73}" type="datetimeFigureOut">
              <a:rPr lang="nl-NL" smtClean="0"/>
              <a:t>26-9-2026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E64C0D2-9F99-C6E8-2FED-7CE3B86F6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251EEE2-00DD-D634-3000-7C34823A3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8B259-EDD7-4212-88D4-2FEE79F3F0D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26899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BB1926DF-EBEE-B54D-5B89-57B4C2DD38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E4A5A983-4CEB-F94E-0BC1-6629263F76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FDC00F5-E5E5-5475-88EE-5658C64E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A9055-C5AC-43F7-9102-2E055F926A73}" type="datetimeFigureOut">
              <a:rPr lang="nl-NL" smtClean="0"/>
              <a:t>26-9-2026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74F0E66-EED2-2F3C-C8A6-29DA13C6A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5D1B4C6-BF83-A07D-3C87-7DCCF24EE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8B259-EDD7-4212-88D4-2FEE79F3F0D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1403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37A8F7AF-B8B9-8B52-5D87-B58EE4B59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528E594-5C74-FA3A-F01F-CA6F1042F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1B64A7B-CD4F-0FA8-79EC-8D77271ABC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5A9055-C5AC-43F7-9102-2E055F926A73}" type="datetimeFigureOut">
              <a:rPr lang="nl-NL" smtClean="0"/>
              <a:t>26-9-2026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07BEF6B-F6ED-6E44-C9C7-5D89BB8567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EA641AC-5D18-ADBE-5531-3DE6752817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28B259-EDD7-4212-88D4-2FEE79F3F0D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636144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8FED29-A23A-3775-63AF-C496C233A8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97429"/>
            <a:ext cx="9144000" cy="3281363"/>
          </a:xfrm>
        </p:spPr>
        <p:txBody>
          <a:bodyPr>
            <a:normAutofit fontScale="90000"/>
          </a:bodyPr>
          <a:lstStyle/>
          <a:p>
            <a:r>
              <a:rPr lang="nl-NL" dirty="0"/>
              <a:t>Matrix </a:t>
            </a:r>
            <a:r>
              <a:rPr lang="nl-NL" dirty="0" err="1"/>
              <a:t>Definitions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Terminology</a:t>
            </a:r>
            <a:br>
              <a:rPr lang="nl-NL" dirty="0"/>
            </a:br>
            <a:r>
              <a:rPr lang="nl-NL" dirty="0"/>
              <a:t>&amp;</a:t>
            </a:r>
            <a:br>
              <a:rPr lang="nl-NL" dirty="0"/>
            </a:br>
            <a:r>
              <a:rPr lang="nl-NL" dirty="0"/>
              <a:t>Special Matrices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Vectors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9BA0722-D437-387A-8747-273F409182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75666"/>
            <a:ext cx="9144000" cy="1655762"/>
          </a:xfrm>
        </p:spPr>
        <p:txBody>
          <a:bodyPr/>
          <a:lstStyle/>
          <a:p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Hurles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79281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96)">
            <a:extLst>
              <a:ext uri="{FF2B5EF4-FFF2-40B4-BE49-F238E27FC236}">
                <a16:creationId xmlns:a16="http://schemas.microsoft.com/office/drawing/2014/main" id="{B380146A-0126-21BC-BED8-7EDD6895193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5038"/>
            <a:ext cx="12192000" cy="4986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679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F585F5D6-5783-446A-8F0E-577871208D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4915"/>
            <a:ext cx="12192000" cy="5519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75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E9C13B33-F76E-500E-794C-F56F40E283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4514"/>
            <a:ext cx="12192000" cy="471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829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E844C061-15EE-79CA-AE03-D8B5825533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35372"/>
            <a:ext cx="12192000" cy="278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094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97)">
            <a:extLst>
              <a:ext uri="{FF2B5EF4-FFF2-40B4-BE49-F238E27FC236}">
                <a16:creationId xmlns:a16="http://schemas.microsoft.com/office/drawing/2014/main" id="{A823AEDB-0A86-A32A-7D07-71BE55B0FE6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6288"/>
            <a:ext cx="12192000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828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98)">
            <a:extLst>
              <a:ext uri="{FF2B5EF4-FFF2-40B4-BE49-F238E27FC236}">
                <a16:creationId xmlns:a16="http://schemas.microsoft.com/office/drawing/2014/main" id="{8B82EFE9-ECA8-FF33-395D-757BA747160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5350"/>
            <a:ext cx="12192000" cy="5065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001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199)">
            <a:extLst>
              <a:ext uri="{FF2B5EF4-FFF2-40B4-BE49-F238E27FC236}">
                <a16:creationId xmlns:a16="http://schemas.microsoft.com/office/drawing/2014/main" id="{9A6B981B-A91C-DB60-65B7-4CF1F536BF2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8525"/>
            <a:ext cx="12192000" cy="506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145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203)">
            <a:extLst>
              <a:ext uri="{FF2B5EF4-FFF2-40B4-BE49-F238E27FC236}">
                <a16:creationId xmlns:a16="http://schemas.microsoft.com/office/drawing/2014/main" id="{DE122359-C634-1A7D-7E32-913C5D4816D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0425"/>
            <a:ext cx="12192000" cy="513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432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204)">
            <a:extLst>
              <a:ext uri="{FF2B5EF4-FFF2-40B4-BE49-F238E27FC236}">
                <a16:creationId xmlns:a16="http://schemas.microsoft.com/office/drawing/2014/main" id="{41949358-FF5F-04C8-7363-ECD70C20D3E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7675"/>
            <a:ext cx="12192000" cy="5961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650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205)">
            <a:extLst>
              <a:ext uri="{FF2B5EF4-FFF2-40B4-BE49-F238E27FC236}">
                <a16:creationId xmlns:a16="http://schemas.microsoft.com/office/drawing/2014/main" id="{877CCD6A-3EA7-6664-954E-2B3EC189CFA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9138"/>
            <a:ext cx="12192000" cy="541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827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207)">
            <a:extLst>
              <a:ext uri="{FF2B5EF4-FFF2-40B4-BE49-F238E27FC236}">
                <a16:creationId xmlns:a16="http://schemas.microsoft.com/office/drawing/2014/main" id="{43904AC0-914F-5CDE-3A1B-1FAC9642CDA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450"/>
            <a:ext cx="12192000" cy="5751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952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208)">
            <a:extLst>
              <a:ext uri="{FF2B5EF4-FFF2-40B4-BE49-F238E27FC236}">
                <a16:creationId xmlns:a16="http://schemas.microsoft.com/office/drawing/2014/main" id="{AB342344-3AE5-0490-876A-BDEF89FF144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0200"/>
            <a:ext cx="12192000" cy="6196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622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209)">
            <a:extLst>
              <a:ext uri="{FF2B5EF4-FFF2-40B4-BE49-F238E27FC236}">
                <a16:creationId xmlns:a16="http://schemas.microsoft.com/office/drawing/2014/main" id="{26EBD768-A984-3EF7-97E7-4BD7E7C5185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6063"/>
            <a:ext cx="12192000" cy="6364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960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210)">
            <a:extLst>
              <a:ext uri="{FF2B5EF4-FFF2-40B4-BE49-F238E27FC236}">
                <a16:creationId xmlns:a16="http://schemas.microsoft.com/office/drawing/2014/main" id="{2D00758E-6884-438C-EB5E-64B4214E087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" y="0"/>
            <a:ext cx="121793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2524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211)">
            <a:extLst>
              <a:ext uri="{FF2B5EF4-FFF2-40B4-BE49-F238E27FC236}">
                <a16:creationId xmlns:a16="http://schemas.microsoft.com/office/drawing/2014/main" id="{68816A42-BE68-5C32-9571-2DE460A4166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3538"/>
            <a:ext cx="12192000" cy="6129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703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212)">
            <a:extLst>
              <a:ext uri="{FF2B5EF4-FFF2-40B4-BE49-F238E27FC236}">
                <a16:creationId xmlns:a16="http://schemas.microsoft.com/office/drawing/2014/main" id="{4B822E94-9447-FC73-9B75-CD402ADAC12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0838"/>
            <a:ext cx="12192000" cy="615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4043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213)">
            <a:extLst>
              <a:ext uri="{FF2B5EF4-FFF2-40B4-BE49-F238E27FC236}">
                <a16:creationId xmlns:a16="http://schemas.microsoft.com/office/drawing/2014/main" id="{87ACB1FA-1A43-29B8-AF1E-D2078C5778A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8800"/>
            <a:ext cx="12192000" cy="573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4594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215)">
            <a:extLst>
              <a:ext uri="{FF2B5EF4-FFF2-40B4-BE49-F238E27FC236}">
                <a16:creationId xmlns:a16="http://schemas.microsoft.com/office/drawing/2014/main" id="{2526C7DB-D0CF-F6EB-EE6A-EDEB40C0456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313"/>
            <a:ext cx="12192000" cy="617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8517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 descr="Schermopname (1216)">
            <a:extLst>
              <a:ext uri="{FF2B5EF4-FFF2-40B4-BE49-F238E27FC236}">
                <a16:creationId xmlns:a16="http://schemas.microsoft.com/office/drawing/2014/main" id="{62743E18-873F-253E-BEB0-57C74994FE7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4488"/>
            <a:ext cx="12192000" cy="616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8817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FE617-4F02-21A6-F599-1A0CF392E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AA9284-AC90-00DF-B16B-AFDA06B7C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114" y="223611"/>
            <a:ext cx="10515600" cy="1325563"/>
          </a:xfrm>
        </p:spPr>
        <p:txBody>
          <a:bodyPr>
            <a:normAutofit/>
          </a:bodyPr>
          <a:lstStyle/>
          <a:p>
            <a:r>
              <a:rPr lang="nl-NL" sz="5400" b="1" u="sng" dirty="0"/>
              <a:t>Special matrices </a:t>
            </a:r>
            <a:r>
              <a:rPr lang="nl-NL" sz="5400" b="1" u="sng" dirty="0" err="1"/>
              <a:t>and</a:t>
            </a:r>
            <a:r>
              <a:rPr lang="nl-NL" sz="5400" b="1" u="sng" dirty="0"/>
              <a:t> </a:t>
            </a:r>
            <a:r>
              <a:rPr lang="nl-NL" sz="5400" b="1" u="sng" dirty="0" err="1"/>
              <a:t>vectors</a:t>
            </a:r>
            <a:endParaRPr lang="nl-NL" sz="5400" b="1" u="sng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5F130B2F-E3A0-5ECB-36ED-DEAA9A8EC424}"/>
              </a:ext>
            </a:extLst>
          </p:cNvPr>
          <p:cNvSpPr txBox="1"/>
          <p:nvPr/>
        </p:nvSpPr>
        <p:spPr>
          <a:xfrm>
            <a:off x="370114" y="1549174"/>
            <a:ext cx="1019991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600" dirty="0" err="1"/>
              <a:t>Now</a:t>
            </a:r>
            <a:r>
              <a:rPr lang="nl-NL" sz="3600" dirty="0"/>
              <a:t> I </a:t>
            </a:r>
            <a:r>
              <a:rPr lang="nl-NL" sz="3600" dirty="0" err="1"/>
              <a:t>will</a:t>
            </a:r>
            <a:r>
              <a:rPr lang="nl-NL" sz="3600" dirty="0"/>
              <a:t> show </a:t>
            </a:r>
            <a:r>
              <a:rPr lang="nl-NL" sz="3600" dirty="0" err="1"/>
              <a:t>you</a:t>
            </a:r>
            <a:r>
              <a:rPr lang="nl-NL" sz="3600" dirty="0"/>
              <a:t> a few important special matrices </a:t>
            </a:r>
            <a:r>
              <a:rPr lang="nl-NL" sz="3600" dirty="0" err="1"/>
              <a:t>and</a:t>
            </a:r>
            <a:r>
              <a:rPr lang="nl-NL" sz="3600" dirty="0"/>
              <a:t> </a:t>
            </a:r>
            <a:r>
              <a:rPr lang="nl-NL" sz="3600" dirty="0" err="1"/>
              <a:t>vectors</a:t>
            </a:r>
            <a:r>
              <a:rPr lang="nl-NL" sz="3600" dirty="0"/>
              <a:t> </a:t>
            </a:r>
            <a:r>
              <a:rPr lang="nl-NL" sz="3600" dirty="0" err="1"/>
              <a:t>that</a:t>
            </a:r>
            <a:r>
              <a:rPr lang="nl-NL" sz="3600" dirty="0"/>
              <a:t> are </a:t>
            </a:r>
            <a:r>
              <a:rPr lang="nl-NL" sz="3600" dirty="0" err="1"/>
              <a:t>fairly</a:t>
            </a:r>
            <a:r>
              <a:rPr lang="nl-NL" sz="3600" dirty="0"/>
              <a:t> common in </a:t>
            </a:r>
            <a:r>
              <a:rPr lang="nl-NL" sz="3600" dirty="0" err="1"/>
              <a:t>linear</a:t>
            </a:r>
            <a:r>
              <a:rPr lang="nl-NL" sz="3600" dirty="0"/>
              <a:t> algebra </a:t>
            </a:r>
            <a:r>
              <a:rPr lang="nl-NL" sz="3600" dirty="0" err="1"/>
              <a:t>and</a:t>
            </a:r>
            <a:r>
              <a:rPr lang="nl-NL" sz="3600" dirty="0"/>
              <a:t> </a:t>
            </a:r>
            <a:r>
              <a:rPr lang="nl-NL" sz="3600" dirty="0" err="1"/>
              <a:t>its</a:t>
            </a:r>
            <a:r>
              <a:rPr lang="nl-NL" sz="3600" dirty="0"/>
              <a:t> </a:t>
            </a:r>
            <a:r>
              <a:rPr lang="nl-NL" sz="3600" dirty="0" err="1"/>
              <a:t>applications</a:t>
            </a:r>
            <a:r>
              <a:rPr lang="nl-NL" sz="3600" dirty="0"/>
              <a:t> (</a:t>
            </a:r>
            <a:r>
              <a:rPr lang="nl-NL" sz="3600" dirty="0" err="1"/>
              <a:t>some</a:t>
            </a:r>
            <a:r>
              <a:rPr lang="nl-NL" sz="3600" dirty="0"/>
              <a:t> more </a:t>
            </a:r>
            <a:r>
              <a:rPr lang="nl-NL" sz="3600" dirty="0" err="1"/>
              <a:t>than</a:t>
            </a:r>
            <a:r>
              <a:rPr lang="nl-NL" sz="3600" dirty="0"/>
              <a:t> </a:t>
            </a:r>
            <a:r>
              <a:rPr lang="nl-NL" sz="3600" dirty="0" err="1"/>
              <a:t>others</a:t>
            </a:r>
            <a:r>
              <a:rPr lang="nl-NL" sz="3600" dirty="0"/>
              <a:t>).</a:t>
            </a:r>
          </a:p>
          <a:p>
            <a:r>
              <a:rPr lang="nl-NL" sz="3600" dirty="0" err="1"/>
              <a:t>So</a:t>
            </a:r>
            <a:r>
              <a:rPr lang="nl-NL" sz="3600" dirty="0"/>
              <a:t> </a:t>
            </a:r>
            <a:r>
              <a:rPr lang="nl-NL" sz="3600" dirty="0" err="1"/>
              <a:t>give</a:t>
            </a:r>
            <a:r>
              <a:rPr lang="nl-NL" sz="3600" dirty="0"/>
              <a:t> </a:t>
            </a:r>
            <a:r>
              <a:rPr lang="nl-NL" sz="3600" dirty="0" err="1"/>
              <a:t>it</a:t>
            </a:r>
            <a:r>
              <a:rPr lang="nl-NL" sz="3600" dirty="0"/>
              <a:t> a </a:t>
            </a:r>
            <a:r>
              <a:rPr lang="nl-NL" sz="3600" dirty="0" err="1"/>
              <a:t>good</a:t>
            </a:r>
            <a:r>
              <a:rPr lang="nl-NL" sz="3600" dirty="0"/>
              <a:t> </a:t>
            </a:r>
            <a:r>
              <a:rPr lang="nl-NL" sz="3600" dirty="0" err="1"/>
              <a:t>read</a:t>
            </a:r>
            <a:r>
              <a:rPr lang="nl-NL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957495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1141)">
            <a:extLst>
              <a:ext uri="{FF2B5EF4-FFF2-40B4-BE49-F238E27FC236}">
                <a16:creationId xmlns:a16="http://schemas.microsoft.com/office/drawing/2014/main" id="{CFBA6C7B-F18E-D4E4-1652-EEDF3F3CAF6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0400"/>
            <a:ext cx="12192000" cy="553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0183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1142)">
            <a:extLst>
              <a:ext uri="{FF2B5EF4-FFF2-40B4-BE49-F238E27FC236}">
                <a16:creationId xmlns:a16="http://schemas.microsoft.com/office/drawing/2014/main" id="{31823DF6-B247-9932-5C15-5AB19644023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2313"/>
            <a:ext cx="12192000" cy="541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3833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7B5BC7-0996-3689-1645-44E4D90E4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114" y="223611"/>
            <a:ext cx="10515600" cy="1325563"/>
          </a:xfrm>
        </p:spPr>
        <p:txBody>
          <a:bodyPr>
            <a:normAutofit/>
          </a:bodyPr>
          <a:lstStyle/>
          <a:p>
            <a:r>
              <a:rPr lang="nl-NL" sz="4800" b="1" u="sng" dirty="0"/>
              <a:t>Special matrices – </a:t>
            </a:r>
            <a:r>
              <a:rPr lang="nl-NL" sz="4800" b="1" u="sng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Identity matrix</a:t>
            </a:r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60E4D524-E7E2-F944-D99D-DC57E6009E95}"/>
              </a:ext>
            </a:extLst>
          </p:cNvPr>
          <p:cNvSpPr txBox="1"/>
          <p:nvPr/>
        </p:nvSpPr>
        <p:spPr>
          <a:xfrm>
            <a:off x="370114" y="1549174"/>
            <a:ext cx="10091057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4000" dirty="0"/>
              <a:t>The </a:t>
            </a:r>
            <a:r>
              <a:rPr lang="nl-NL" sz="40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identity</a:t>
            </a:r>
            <a:r>
              <a:rPr lang="nl-NL" sz="4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matrix I </a:t>
            </a:r>
            <a:r>
              <a:rPr lang="nl-NL" sz="4000" dirty="0"/>
              <a:t>is </a:t>
            </a:r>
            <a:r>
              <a:rPr lang="nl-NL" sz="4000" dirty="0" err="1"/>
              <a:t>moreover</a:t>
            </a:r>
            <a:r>
              <a:rPr lang="nl-NL" sz="40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4000" dirty="0">
                <a:solidFill>
                  <a:srgbClr val="FF0000"/>
                </a:solidFill>
              </a:rPr>
              <a:t>Square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4000" dirty="0" err="1">
                <a:solidFill>
                  <a:schemeClr val="accent5"/>
                </a:solidFill>
              </a:rPr>
              <a:t>Diagonal</a:t>
            </a:r>
            <a:endParaRPr lang="nl-NL" sz="4000" dirty="0">
              <a:solidFill>
                <a:schemeClr val="accent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4000" dirty="0" err="1">
                <a:solidFill>
                  <a:schemeClr val="accent2"/>
                </a:solidFill>
              </a:rPr>
              <a:t>Symmetric</a:t>
            </a:r>
            <a:endParaRPr lang="nl-NL" sz="4000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4000" dirty="0">
                <a:solidFill>
                  <a:srgbClr val="C00000"/>
                </a:solidFill>
              </a:rPr>
              <a:t>Idempotent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4000" dirty="0" err="1">
                <a:solidFill>
                  <a:schemeClr val="accent6">
                    <a:lumMod val="75000"/>
                  </a:schemeClr>
                </a:solidFill>
              </a:rPr>
              <a:t>Orthogonal</a:t>
            </a:r>
            <a:endParaRPr lang="nl-NL" sz="40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131394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1139)">
            <a:extLst>
              <a:ext uri="{FF2B5EF4-FFF2-40B4-BE49-F238E27FC236}">
                <a16:creationId xmlns:a16="http://schemas.microsoft.com/office/drawing/2014/main" id="{1CB412B1-99E4-89C4-F1D4-BC8A139A431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000"/>
            <a:ext cx="12192000" cy="5588000"/>
          </a:xfrm>
          <a:prstGeom prst="rect">
            <a:avLst/>
          </a:prstGeom>
        </p:spPr>
      </p:pic>
      <p:sp>
        <p:nvSpPr>
          <p:cNvPr id="3" name="Rechthoek 2">
            <a:extLst>
              <a:ext uri="{FF2B5EF4-FFF2-40B4-BE49-F238E27FC236}">
                <a16:creationId xmlns:a16="http://schemas.microsoft.com/office/drawing/2014/main" id="{0AAFC7A7-5E95-3B93-BF6B-0AC172579351}"/>
              </a:ext>
            </a:extLst>
          </p:cNvPr>
          <p:cNvSpPr/>
          <p:nvPr/>
        </p:nvSpPr>
        <p:spPr>
          <a:xfrm>
            <a:off x="5998029" y="3516086"/>
            <a:ext cx="674914" cy="75111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5400" dirty="0">
                <a:solidFill>
                  <a:srgbClr val="FF0000"/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42923872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8C62CC72-CC1C-B502-D92F-76DBA6093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3400"/>
            <a:ext cx="12191999" cy="5823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1415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5CFB0-01F5-2433-8E67-07716F736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BF8F93-B25E-FFBB-2606-C1675F63C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114" y="223611"/>
            <a:ext cx="10515600" cy="1325563"/>
          </a:xfrm>
        </p:spPr>
        <p:txBody>
          <a:bodyPr>
            <a:normAutofit/>
          </a:bodyPr>
          <a:lstStyle/>
          <a:p>
            <a:r>
              <a:rPr lang="nl-NL" sz="4800" b="1" u="sng" dirty="0"/>
              <a:t>Special matrices – </a:t>
            </a:r>
            <a:r>
              <a:rPr lang="nl-NL" sz="4800" b="1" u="sng" dirty="0">
                <a:solidFill>
                  <a:schemeClr val="bg1">
                    <a:lumMod val="75000"/>
                    <a:lumOff val="25000"/>
                  </a:schemeClr>
                </a:solidFill>
              </a:rPr>
              <a:t>Zero/</a:t>
            </a:r>
            <a:r>
              <a:rPr lang="nl-NL" sz="4800" b="1" u="sng" dirty="0" err="1">
                <a:solidFill>
                  <a:schemeClr val="bg1">
                    <a:lumMod val="75000"/>
                    <a:lumOff val="25000"/>
                  </a:schemeClr>
                </a:solidFill>
              </a:rPr>
              <a:t>null</a:t>
            </a:r>
            <a:r>
              <a:rPr lang="nl-NL" sz="4800" b="1" u="sng" dirty="0">
                <a:solidFill>
                  <a:schemeClr val="bg1">
                    <a:lumMod val="75000"/>
                    <a:lumOff val="25000"/>
                  </a:schemeClr>
                </a:solidFill>
              </a:rPr>
              <a:t> matrix</a:t>
            </a:r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5D076F74-91C2-B827-8FF7-B739ADA7EEC8}"/>
              </a:ext>
            </a:extLst>
          </p:cNvPr>
          <p:cNvSpPr txBox="1"/>
          <p:nvPr/>
        </p:nvSpPr>
        <p:spPr>
          <a:xfrm>
            <a:off x="370114" y="1549174"/>
            <a:ext cx="1009105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4000" dirty="0"/>
              <a:t>The </a:t>
            </a:r>
            <a:r>
              <a:rPr lang="nl-NL" sz="4000" dirty="0">
                <a:solidFill>
                  <a:schemeClr val="bg1">
                    <a:lumMod val="75000"/>
                    <a:lumOff val="25000"/>
                  </a:schemeClr>
                </a:solidFill>
              </a:rPr>
              <a:t>zero/</a:t>
            </a:r>
            <a:r>
              <a:rPr lang="nl-NL" sz="4000" dirty="0" err="1">
                <a:solidFill>
                  <a:schemeClr val="bg1">
                    <a:lumMod val="75000"/>
                    <a:lumOff val="25000"/>
                  </a:schemeClr>
                </a:solidFill>
              </a:rPr>
              <a:t>null</a:t>
            </a:r>
            <a:r>
              <a:rPr lang="nl-NL" sz="4000" dirty="0">
                <a:solidFill>
                  <a:schemeClr val="bg1">
                    <a:lumMod val="75000"/>
                    <a:lumOff val="25000"/>
                  </a:schemeClr>
                </a:solidFill>
              </a:rPr>
              <a:t> matrix </a:t>
            </a:r>
            <a:r>
              <a:rPr lang="nl-NL" sz="4000" dirty="0"/>
              <a:t>is </a:t>
            </a:r>
            <a:r>
              <a:rPr lang="nl-NL" sz="4000" dirty="0" err="1"/>
              <a:t>moreover</a:t>
            </a:r>
            <a:r>
              <a:rPr lang="nl-NL" sz="4000" dirty="0"/>
              <a:t>:</a:t>
            </a:r>
            <a:endParaRPr lang="nl-NL" sz="40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4000" dirty="0" err="1">
                <a:solidFill>
                  <a:schemeClr val="accent5"/>
                </a:solidFill>
              </a:rPr>
              <a:t>Diagonal</a:t>
            </a:r>
            <a:r>
              <a:rPr lang="nl-NL" sz="4000" dirty="0"/>
              <a:t> (</a:t>
            </a:r>
            <a:r>
              <a:rPr lang="nl-NL" sz="4000" dirty="0" err="1"/>
              <a:t>if</a:t>
            </a:r>
            <a:r>
              <a:rPr lang="nl-NL" sz="4000" dirty="0"/>
              <a:t> </a:t>
            </a:r>
            <a:r>
              <a:rPr lang="nl-NL" sz="4000" dirty="0" err="1"/>
              <a:t>its</a:t>
            </a:r>
            <a:r>
              <a:rPr lang="nl-NL" sz="4000" dirty="0"/>
              <a:t> </a:t>
            </a:r>
            <a:r>
              <a:rPr lang="nl-NL" sz="4000" dirty="0" err="1"/>
              <a:t>the</a:t>
            </a:r>
            <a:r>
              <a:rPr lang="nl-NL" sz="4000" dirty="0"/>
              <a:t> square </a:t>
            </a:r>
            <a:r>
              <a:rPr lang="nl-NL" sz="4000" dirty="0" err="1"/>
              <a:t>version</a:t>
            </a:r>
            <a:r>
              <a:rPr lang="nl-NL" sz="4000" dirty="0"/>
              <a:t>)</a:t>
            </a:r>
            <a:endParaRPr lang="nl-NL" sz="4000" dirty="0">
              <a:solidFill>
                <a:schemeClr val="accent5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4000" dirty="0" err="1">
                <a:solidFill>
                  <a:schemeClr val="accent2"/>
                </a:solidFill>
              </a:rPr>
              <a:t>Symmetric</a:t>
            </a:r>
            <a:r>
              <a:rPr lang="nl-NL" sz="4000" dirty="0"/>
              <a:t> (</a:t>
            </a:r>
            <a:r>
              <a:rPr lang="nl-NL" sz="4000" dirty="0" err="1"/>
              <a:t>if</a:t>
            </a:r>
            <a:r>
              <a:rPr lang="nl-NL" sz="4000" dirty="0"/>
              <a:t> square)</a:t>
            </a:r>
            <a:endParaRPr lang="nl-NL" sz="4000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4000" dirty="0">
                <a:solidFill>
                  <a:srgbClr val="C00000"/>
                </a:solidFill>
              </a:rPr>
              <a:t>Idempotent</a:t>
            </a:r>
            <a:r>
              <a:rPr lang="nl-NL" sz="4000" dirty="0"/>
              <a:t> (</a:t>
            </a:r>
            <a:r>
              <a:rPr lang="nl-NL" sz="4000" dirty="0" err="1"/>
              <a:t>if</a:t>
            </a:r>
            <a:r>
              <a:rPr lang="nl-NL" sz="4000" dirty="0"/>
              <a:t> square)</a:t>
            </a:r>
            <a:endParaRPr lang="nl-NL" sz="4000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4000" dirty="0" err="1">
                <a:solidFill>
                  <a:schemeClr val="tx1">
                    <a:lumMod val="50000"/>
                  </a:schemeClr>
                </a:solidFill>
              </a:rPr>
              <a:t>Nilpotent</a:t>
            </a:r>
            <a:r>
              <a:rPr lang="nl-NL" sz="4000" dirty="0">
                <a:solidFill>
                  <a:schemeClr val="tx1">
                    <a:lumMod val="50000"/>
                  </a:schemeClr>
                </a:solidFill>
              </a:rPr>
              <a:t> (of </a:t>
            </a:r>
            <a:r>
              <a:rPr lang="nl-NL" sz="4000" dirty="0" err="1">
                <a:solidFill>
                  <a:schemeClr val="tx1">
                    <a:lumMod val="50000"/>
                  </a:schemeClr>
                </a:solidFill>
              </a:rPr>
              <a:t>degree</a:t>
            </a:r>
            <a:r>
              <a:rPr lang="nl-NL" sz="4000" dirty="0">
                <a:solidFill>
                  <a:schemeClr val="tx1">
                    <a:lumMod val="50000"/>
                  </a:schemeClr>
                </a:solidFill>
              </a:rPr>
              <a:t> 1)</a:t>
            </a:r>
            <a:r>
              <a:rPr lang="nl-NL" sz="4000" dirty="0"/>
              <a:t> </a:t>
            </a:r>
            <a:r>
              <a:rPr lang="nl-NL" sz="3200" dirty="0"/>
              <a:t>(</a:t>
            </a:r>
            <a:r>
              <a:rPr lang="nl-NL" sz="3200" dirty="0" err="1"/>
              <a:t>if</a:t>
            </a:r>
            <a:r>
              <a:rPr lang="nl-NL" sz="3200" dirty="0"/>
              <a:t> square </a:t>
            </a:r>
            <a:r>
              <a:rPr lang="nl-NL" sz="3200" dirty="0" err="1"/>
              <a:t>this</a:t>
            </a:r>
            <a:r>
              <a:rPr lang="nl-NL" sz="3200" dirty="0"/>
              <a:t> </a:t>
            </a:r>
            <a:r>
              <a:rPr lang="nl-NL" sz="3200" dirty="0" err="1"/>
              <a:t>holds</a:t>
            </a:r>
            <a:r>
              <a:rPr lang="nl-NL" sz="3200" dirty="0"/>
              <a:t> more </a:t>
            </a:r>
            <a:r>
              <a:rPr lang="nl-NL" sz="3200" dirty="0" err="1"/>
              <a:t>properly</a:t>
            </a:r>
            <a:r>
              <a:rPr lang="nl-NL" sz="3200" dirty="0"/>
              <a:t> as 0^k </a:t>
            </a:r>
            <a:r>
              <a:rPr lang="nl-NL" sz="3200" dirty="0" err="1"/>
              <a:t>for</a:t>
            </a:r>
            <a:r>
              <a:rPr lang="nl-NL" sz="3200" dirty="0"/>
              <a:t> k=2,3,4,.. is </a:t>
            </a:r>
            <a:r>
              <a:rPr lang="nl-NL" sz="3200" dirty="0" err="1"/>
              <a:t>only</a:t>
            </a:r>
            <a:r>
              <a:rPr lang="nl-NL" sz="3200" dirty="0"/>
              <a:t> </a:t>
            </a:r>
            <a:r>
              <a:rPr lang="nl-NL" sz="3200" dirty="0" err="1"/>
              <a:t>defined</a:t>
            </a:r>
            <a:r>
              <a:rPr lang="nl-NL" sz="3200" dirty="0"/>
              <a:t> </a:t>
            </a:r>
            <a:r>
              <a:rPr lang="nl-NL" sz="3200" dirty="0" err="1"/>
              <a:t>for</a:t>
            </a:r>
            <a:r>
              <a:rPr lang="nl-NL" sz="3200" dirty="0"/>
              <a:t> square </a:t>
            </a:r>
            <a:r>
              <a:rPr lang="nl-NL" sz="3200" dirty="0" err="1"/>
              <a:t>null</a:t>
            </a:r>
            <a:r>
              <a:rPr lang="nl-NL" sz="3200" dirty="0"/>
              <a:t> matrices)</a:t>
            </a:r>
            <a:endParaRPr lang="nl-NL" sz="40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14081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1137)">
            <a:extLst>
              <a:ext uri="{FF2B5EF4-FFF2-40B4-BE49-F238E27FC236}">
                <a16:creationId xmlns:a16="http://schemas.microsoft.com/office/drawing/2014/main" id="{772DFE32-2D03-3F9B-2A1F-8E6A999C9F5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6250"/>
            <a:ext cx="12192000" cy="590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29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1143)">
            <a:extLst>
              <a:ext uri="{FF2B5EF4-FFF2-40B4-BE49-F238E27FC236}">
                <a16:creationId xmlns:a16="http://schemas.microsoft.com/office/drawing/2014/main" id="{38088E2F-3330-F47A-036C-A4F2C608447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9463"/>
            <a:ext cx="12192000" cy="529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1175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Schermopname (1144)">
            <a:extLst>
              <a:ext uri="{FF2B5EF4-FFF2-40B4-BE49-F238E27FC236}">
                <a16:creationId xmlns:a16="http://schemas.microsoft.com/office/drawing/2014/main" id="{FB095A08-51B4-6C41-43F9-674952353F0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3750"/>
            <a:ext cx="12192000" cy="527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223685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133</Words>
  <Application>Microsoft Office PowerPoint</Application>
  <PresentationFormat>Breedbeeld</PresentationFormat>
  <Paragraphs>19</Paragraphs>
  <Slides>30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30</vt:i4>
      </vt:variant>
    </vt:vector>
  </HeadingPairs>
  <TitlesOfParts>
    <vt:vector size="34" baseType="lpstr">
      <vt:lpstr>Aptos</vt:lpstr>
      <vt:lpstr>Aptos Display</vt:lpstr>
      <vt:lpstr>Arial</vt:lpstr>
      <vt:lpstr>Kantoorthema</vt:lpstr>
      <vt:lpstr>Matrix Definitions and Terminology &amp; Special Matrices and Vectors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Special matrices and vectors</vt:lpstr>
      <vt:lpstr>PowerPoint-presentatie</vt:lpstr>
      <vt:lpstr>PowerPoint-presentatie</vt:lpstr>
      <vt:lpstr>Special matrices – Identity matrix</vt:lpstr>
      <vt:lpstr>PowerPoint-presentatie</vt:lpstr>
      <vt:lpstr>PowerPoint-presentatie</vt:lpstr>
      <vt:lpstr>Special matrices – Zero/null matrix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van Gelderen</dc:creator>
  <cp:lastModifiedBy>William van Gelderen</cp:lastModifiedBy>
  <cp:revision>9</cp:revision>
  <dcterms:created xsi:type="dcterms:W3CDTF">2026-09-18T17:09:47Z</dcterms:created>
  <dcterms:modified xsi:type="dcterms:W3CDTF">2026-09-26T16:10:49Z</dcterms:modified>
</cp:coreProperties>
</file>